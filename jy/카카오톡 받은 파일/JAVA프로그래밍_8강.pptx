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9" r:id="rId1"/>
    <p:sldMasterId id="2147484030" r:id="rId2"/>
    <p:sldMasterId id="2147484008" r:id="rId3"/>
  </p:sldMasterIdLst>
  <p:notesMasterIdLst>
    <p:notesMasterId r:id="rId18"/>
  </p:notesMasterIdLst>
  <p:sldIdLst>
    <p:sldId id="694" r:id="rId4"/>
    <p:sldId id="961" r:id="rId5"/>
    <p:sldId id="977" r:id="rId6"/>
    <p:sldId id="978" r:id="rId7"/>
    <p:sldId id="1103" r:id="rId8"/>
    <p:sldId id="1149" r:id="rId9"/>
    <p:sldId id="1173" r:id="rId10"/>
    <p:sldId id="1174" r:id="rId11"/>
    <p:sldId id="1175" r:id="rId12"/>
    <p:sldId id="1177" r:id="rId13"/>
    <p:sldId id="1178" r:id="rId14"/>
    <p:sldId id="1179" r:id="rId15"/>
    <p:sldId id="1172" r:id="rId16"/>
    <p:sldId id="984" r:id="rId17"/>
  </p:sldIdLst>
  <p:sldSz cx="9906000" cy="6858000" type="A4"/>
  <p:notesSz cx="6802438" cy="9934575"/>
  <p:defaultTextStyle>
    <a:defPPr>
      <a:defRPr lang="ko-KR"/>
    </a:defPPr>
    <a:lvl1pPr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04">
          <p15:clr>
            <a:srgbClr val="A4A3A4"/>
          </p15:clr>
        </p15:guide>
        <p15:guide id="2" orient="horz" pos="2161">
          <p15:clr>
            <a:srgbClr val="A4A3A4"/>
          </p15:clr>
        </p15:guide>
        <p15:guide id="3" orient="horz" pos="3696">
          <p15:clr>
            <a:srgbClr val="A4A3A4"/>
          </p15:clr>
        </p15:guide>
        <p15:guide id="4" orient="horz" pos="568">
          <p15:clr>
            <a:srgbClr val="A4A3A4"/>
          </p15:clr>
        </p15:guide>
        <p15:guide id="5" orient="horz" pos="1140">
          <p15:clr>
            <a:srgbClr val="A4A3A4"/>
          </p15:clr>
        </p15:guide>
        <p15:guide id="6" orient="horz" pos="766">
          <p15:clr>
            <a:srgbClr val="A4A3A4"/>
          </p15:clr>
        </p15:guide>
        <p15:guide id="7" pos="132">
          <p15:clr>
            <a:srgbClr val="A4A3A4"/>
          </p15:clr>
        </p15:guide>
        <p15:guide id="8" pos="6117">
          <p15:clr>
            <a:srgbClr val="A4A3A4"/>
          </p15:clr>
        </p15:guide>
        <p15:guide id="9" pos="1787">
          <p15:clr>
            <a:srgbClr val="A4A3A4"/>
          </p15:clr>
        </p15:guide>
        <p15:guide id="10" pos="308">
          <p15:clr>
            <a:srgbClr val="A4A3A4"/>
          </p15:clr>
        </p15:guide>
        <p15:guide id="11" pos="4461">
          <p15:clr>
            <a:srgbClr val="A4A3A4"/>
          </p15:clr>
        </p15:guide>
        <p15:guide id="12" pos="867">
          <p15:clr>
            <a:srgbClr val="A4A3A4"/>
          </p15:clr>
        </p15:guide>
        <p15:guide id="13" pos="31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3300"/>
    <a:srgbClr val="FFFF99"/>
    <a:srgbClr val="FFFF66"/>
    <a:srgbClr val="4C6C46"/>
    <a:srgbClr val="679220"/>
    <a:srgbClr val="0000FF"/>
    <a:srgbClr val="51743E"/>
    <a:srgbClr val="CFD87A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7B82D7-60F7-4F01-9658-1C032A03CC37}" v="6" dt="2025-01-02T07:10:30.118"/>
    <p1510:client id="{FE830FF2-02CB-414C-9FE2-B3A16C5A832B}" v="1" dt="2025-01-03T05:20:11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37" autoAdjust="0"/>
    <p:restoredTop sz="98487" autoAdjust="0"/>
  </p:normalViewPr>
  <p:slideViewPr>
    <p:cSldViewPr snapToGrid="0" snapToObjects="1">
      <p:cViewPr varScale="1">
        <p:scale>
          <a:sx n="87" d="100"/>
          <a:sy n="87" d="100"/>
        </p:scale>
        <p:origin x="1936" y="280"/>
      </p:cViewPr>
      <p:guideLst>
        <p:guide orient="horz" pos="904"/>
        <p:guide orient="horz" pos="2161"/>
        <p:guide orient="horz" pos="3696"/>
        <p:guide orient="horz" pos="568"/>
        <p:guide orient="horz" pos="1140"/>
        <p:guide orient="horz" pos="766"/>
        <p:guide pos="132"/>
        <p:guide pos="6117"/>
        <p:guide pos="1787"/>
        <p:guide pos="308"/>
        <p:guide pos="4461"/>
        <p:guide pos="867"/>
        <p:guide pos="31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-2196" y="-114"/>
      </p:cViewPr>
      <p:guideLst>
        <p:guide orient="horz" pos="3128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필두2 홍" userId="0a0ee9c44b803ff9" providerId="LiveId" clId="{097B82D7-60F7-4F01-9658-1C032A03CC37}"/>
    <pc:docChg chg="modSld">
      <pc:chgData name="필두2 홍" userId="0a0ee9c44b803ff9" providerId="LiveId" clId="{097B82D7-60F7-4F01-9658-1C032A03CC37}" dt="2025-01-02T07:10:30.118" v="20"/>
      <pc:docMkLst>
        <pc:docMk/>
      </pc:docMkLst>
      <pc:sldChg chg="modSp mod">
        <pc:chgData name="필두2 홍" userId="0a0ee9c44b803ff9" providerId="LiveId" clId="{097B82D7-60F7-4F01-9658-1C032A03CC37}" dt="2025-01-02T07:10:30.118" v="20"/>
        <pc:sldMkLst>
          <pc:docMk/>
          <pc:sldMk cId="0" sldId="694"/>
        </pc:sldMkLst>
        <pc:spChg chg="mod">
          <ac:chgData name="필두2 홍" userId="0a0ee9c44b803ff9" providerId="LiveId" clId="{097B82D7-60F7-4F01-9658-1C032A03CC37}" dt="2025-01-02T07:10:30.118" v="20"/>
          <ac:spMkLst>
            <pc:docMk/>
            <pc:sldMk cId="0" sldId="694"/>
            <ac:spMk id="3074" creationId="{00000000-0000-0000-0000-000000000000}"/>
          </ac:spMkLst>
        </pc:spChg>
      </pc:sldChg>
    </pc:docChg>
  </pc:docChgLst>
  <pc:docChgLst>
    <pc:chgData name="필두2 홍" userId="0a0ee9c44b803ff9" providerId="LiveId" clId="{FE830FF2-02CB-414C-9FE2-B3A16C5A832B}"/>
    <pc:docChg chg="modSld">
      <pc:chgData name="필두2 홍" userId="0a0ee9c44b803ff9" providerId="LiveId" clId="{FE830FF2-02CB-414C-9FE2-B3A16C5A832B}" dt="2025-01-03T05:20:24.975" v="97" actId="20577"/>
      <pc:docMkLst>
        <pc:docMk/>
      </pc:docMkLst>
      <pc:sldChg chg="addSp modSp mod">
        <pc:chgData name="필두2 홍" userId="0a0ee9c44b803ff9" providerId="LiveId" clId="{FE830FF2-02CB-414C-9FE2-B3A16C5A832B}" dt="2025-01-03T05:20:24.975" v="97" actId="20577"/>
        <pc:sldMkLst>
          <pc:docMk/>
          <pc:sldMk cId="0" sldId="694"/>
        </pc:sldMkLst>
        <pc:spChg chg="add mod">
          <ac:chgData name="필두2 홍" userId="0a0ee9c44b803ff9" providerId="LiveId" clId="{FE830FF2-02CB-414C-9FE2-B3A16C5A832B}" dt="2025-01-03T05:20:20.351" v="80" actId="20577"/>
          <ac:spMkLst>
            <pc:docMk/>
            <pc:sldMk cId="0" sldId="694"/>
            <ac:spMk id="3" creationId="{6709B705-DE78-45B6-5988-03597159BB44}"/>
          </ac:spMkLst>
        </pc:spChg>
        <pc:spChg chg="mod">
          <ac:chgData name="필두2 홍" userId="0a0ee9c44b803ff9" providerId="LiveId" clId="{FE830FF2-02CB-414C-9FE2-B3A16C5A832B}" dt="2025-01-03T05:20:24.975" v="97" actId="20577"/>
          <ac:spMkLst>
            <pc:docMk/>
            <pc:sldMk cId="0" sldId="694"/>
            <ac:spMk id="7" creationId="{00000000-0000-0000-0000-000000000000}"/>
          </ac:spMkLst>
        </pc:spChg>
        <pc:spChg chg="mod">
          <ac:chgData name="필두2 홍" userId="0a0ee9c44b803ff9" providerId="LiveId" clId="{FE830FF2-02CB-414C-9FE2-B3A16C5A832B}" dt="2025-01-03T00:50:22.703" v="58" actId="20577"/>
          <ac:spMkLst>
            <pc:docMk/>
            <pc:sldMk cId="0" sldId="694"/>
            <ac:spMk id="3074" creationId="{00000000-0000-0000-0000-000000000000}"/>
          </ac:spMkLst>
        </pc:spChg>
      </pc:sldChg>
    </pc:docChg>
  </pc:docChgLst>
  <pc:docChgLst>
    <pc:chgData name="홍필두" userId="a613eac9-2ee1-4936-8d5c-6f3d69f7b146" providerId="ADAL" clId="{2389C402-CAC3-4254-B4FE-B304A858911A}"/>
    <pc:docChg chg="undo custSel delSld modSld modMainMaster">
      <pc:chgData name="홍필두" userId="a613eac9-2ee1-4936-8d5c-6f3d69f7b146" providerId="ADAL" clId="{2389C402-CAC3-4254-B4FE-B304A858911A}" dt="2021-03-18T01:35:47.454" v="958" actId="20577"/>
      <pc:docMkLst>
        <pc:docMk/>
      </pc:docMkLst>
      <pc:sldChg chg="addSp delSp modSp">
        <pc:chgData name="홍필두" userId="a613eac9-2ee1-4936-8d5c-6f3d69f7b146" providerId="ADAL" clId="{2389C402-CAC3-4254-B4FE-B304A858911A}" dt="2021-03-18T01:14:10.771" v="8"/>
        <pc:sldMkLst>
          <pc:docMk/>
          <pc:sldMk cId="0" sldId="694"/>
        </pc:sldMkLst>
      </pc:sldChg>
      <pc:sldChg chg="modSp mod">
        <pc:chgData name="홍필두" userId="a613eac9-2ee1-4936-8d5c-6f3d69f7b146" providerId="ADAL" clId="{2389C402-CAC3-4254-B4FE-B304A858911A}" dt="2021-03-18T01:26:26.833" v="737" actId="20577"/>
        <pc:sldMkLst>
          <pc:docMk/>
          <pc:sldMk cId="4091224238" sldId="984"/>
        </pc:sldMkLst>
      </pc:sldChg>
      <pc:sldChg chg="modSp mod">
        <pc:chgData name="홍필두" userId="a613eac9-2ee1-4936-8d5c-6f3d69f7b146" providerId="ADAL" clId="{2389C402-CAC3-4254-B4FE-B304A858911A}" dt="2021-03-18T01:33:44.691" v="739" actId="6549"/>
        <pc:sldMkLst>
          <pc:docMk/>
          <pc:sldMk cId="161571219" sldId="1174"/>
        </pc:sldMkLst>
      </pc:sldChg>
      <pc:sldChg chg="modSp mod">
        <pc:chgData name="홍필두" userId="a613eac9-2ee1-4936-8d5c-6f3d69f7b146" providerId="ADAL" clId="{2389C402-CAC3-4254-B4FE-B304A858911A}" dt="2021-03-18T01:16:10.508" v="234"/>
        <pc:sldMkLst>
          <pc:docMk/>
          <pc:sldMk cId="3772430539" sldId="1175"/>
        </pc:sldMkLst>
      </pc:sldChg>
      <pc:sldChg chg="del">
        <pc:chgData name="홍필두" userId="a613eac9-2ee1-4936-8d5c-6f3d69f7b146" providerId="ADAL" clId="{2389C402-CAC3-4254-B4FE-B304A858911A}" dt="2021-03-18T01:26:04.688" v="715" actId="47"/>
        <pc:sldMkLst>
          <pc:docMk/>
          <pc:sldMk cId="3178100189" sldId="1176"/>
        </pc:sldMkLst>
      </pc:sldChg>
      <pc:sldChg chg="modSp mod">
        <pc:chgData name="홍필두" userId="a613eac9-2ee1-4936-8d5c-6f3d69f7b146" providerId="ADAL" clId="{2389C402-CAC3-4254-B4FE-B304A858911A}" dt="2021-03-18T01:35:47.454" v="958" actId="20577"/>
        <pc:sldMkLst>
          <pc:docMk/>
          <pc:sldMk cId="181434922" sldId="1177"/>
        </pc:sldMkLst>
      </pc:sldChg>
      <pc:sldChg chg="modSp mod">
        <pc:chgData name="홍필두" userId="a613eac9-2ee1-4936-8d5c-6f3d69f7b146" providerId="ADAL" clId="{2389C402-CAC3-4254-B4FE-B304A858911A}" dt="2021-03-18T01:35:38.169" v="954" actId="20577"/>
        <pc:sldMkLst>
          <pc:docMk/>
          <pc:sldMk cId="1414668391" sldId="1179"/>
        </pc:sldMkLst>
      </pc:sldChg>
      <pc:sldMasterChg chg="addSp delSp modSp mod">
        <pc:chgData name="홍필두" userId="a613eac9-2ee1-4936-8d5c-6f3d69f7b146" providerId="ADAL" clId="{2389C402-CAC3-4254-B4FE-B304A858911A}" dt="2021-03-18T01:13:54.279" v="6"/>
        <pc:sldMasterMkLst>
          <pc:docMk/>
          <pc:sldMasterMk cId="0" sldId="2147483659"/>
        </pc:sldMasterMkLst>
      </pc:sldMasterChg>
      <pc:sldMasterChg chg="addSp delSp modSp mod">
        <pc:chgData name="홍필두" userId="a613eac9-2ee1-4936-8d5c-6f3d69f7b146" providerId="ADAL" clId="{2389C402-CAC3-4254-B4FE-B304A858911A}" dt="2021-03-18T01:13:35.057" v="3"/>
        <pc:sldMasterMkLst>
          <pc:docMk/>
          <pc:sldMasterMk cId="0" sldId="2147484008"/>
        </pc:sldMasterMkLst>
      </pc:sldMasterChg>
    </pc:docChg>
  </pc:docChgLst>
  <pc:docChgLst>
    <pc:chgData name="필두2 홍" userId="0a0ee9c44b803ff9" providerId="LiveId" clId="{1E3375DF-96F0-411B-B9FA-D64D5F4B7361}"/>
    <pc:docChg chg="modSld">
      <pc:chgData name="필두2 홍" userId="0a0ee9c44b803ff9" providerId="LiveId" clId="{1E3375DF-96F0-411B-B9FA-D64D5F4B7361}" dt="2024-03-12T04:12:34.049" v="50" actId="6549"/>
      <pc:docMkLst>
        <pc:docMk/>
      </pc:docMkLst>
      <pc:sldChg chg="modSp mod">
        <pc:chgData name="필두2 홍" userId="0a0ee9c44b803ff9" providerId="LiveId" clId="{1E3375DF-96F0-411B-B9FA-D64D5F4B7361}" dt="2024-03-12T04:12:34.049" v="50" actId="6549"/>
        <pc:sldMkLst>
          <pc:docMk/>
          <pc:sldMk cId="0" sldId="694"/>
        </pc:sldMkLst>
      </pc:sldChg>
      <pc:sldChg chg="modSp mod">
        <pc:chgData name="필두2 홍" userId="0a0ee9c44b803ff9" providerId="LiveId" clId="{1E3375DF-96F0-411B-B9FA-D64D5F4B7361}" dt="2024-03-12T04:12:17.148" v="49" actId="6549"/>
        <pc:sldMkLst>
          <pc:docMk/>
          <pc:sldMk cId="181434922" sldId="11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8464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386" y="0"/>
            <a:ext cx="2948464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81625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927" y="4718645"/>
            <a:ext cx="5442586" cy="4470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5702"/>
            <a:ext cx="2948464" cy="49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386" y="9435702"/>
            <a:ext cx="2948464" cy="49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fld id="{092A356E-06FB-49E6-B7CB-7B5A1897A3F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11459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944931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683804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631527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889751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206328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051796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566284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11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827503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6DCEF-CD00-45CA-80CA-82C38D745CA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D7D3E5-87F0-4179-8238-A184AD8827A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28625" y="908050"/>
            <a:ext cx="4448175" cy="5329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08050"/>
            <a:ext cx="4448175" cy="5329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872895-9F2E-4AD0-A004-83002AF3C7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E5587-D26A-41A2-8E79-FE291062F9D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7FCC1-127D-4443-A581-CA9306BF3C8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41A9C-AAE6-48B1-8522-60BAC0F339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2D690-2CE0-4611-941C-56F6D432EED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4249-9846-41BB-B0B9-138A4920A66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F6C41-6312-48BD-8505-9CA88283B16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402513" y="260350"/>
            <a:ext cx="2374900" cy="59769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73050" y="260350"/>
            <a:ext cx="6977063" cy="59769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B3B12-BED2-477A-B509-237AA89F2E8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81A58D-1F3D-4A9A-8A2F-2E64A071E552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4885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19AC9A-A87D-4C3D-B543-30D7915A500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40382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-330143" y="6434704"/>
            <a:ext cx="10482030" cy="386083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 kumimoji="0" sz="1172">
                <a:solidFill>
                  <a:srgbClr val="0D0D0D"/>
                </a:solidFill>
              </a:defRPr>
            </a:lvl1pPr>
          </a:lstStyle>
          <a:p>
            <a:pPr>
              <a:defRPr/>
            </a:pPr>
            <a:fld id="{E5BAFC79-0F65-42E5-B4CA-03BB1228951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142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341438"/>
            <a:ext cx="2228850" cy="47847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341438"/>
            <a:ext cx="6534150" cy="4784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100" b="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</a:lstStyle>
          <a:p>
            <a:pPr>
              <a:defRPr/>
            </a:pPr>
            <a:fld id="{7C81A58D-1F3D-4A9A-8A2F-2E64A071E5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3050" y="0"/>
            <a:ext cx="9504363" cy="64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제목을 입력하세요</a:t>
            </a:r>
          </a:p>
        </p:txBody>
      </p:sp>
      <p:sp>
        <p:nvSpPr>
          <p:cNvPr id="349195" name="Line 11"/>
          <p:cNvSpPr>
            <a:spLocks noChangeShapeType="1"/>
          </p:cNvSpPr>
          <p:nvPr/>
        </p:nvSpPr>
        <p:spPr bwMode="ltGray">
          <a:xfrm flipV="1">
            <a:off x="1588" y="6529388"/>
            <a:ext cx="9906000" cy="0"/>
          </a:xfrm>
          <a:prstGeom prst="line">
            <a:avLst/>
          </a:prstGeom>
          <a:noFill/>
          <a:ln w="12700">
            <a:solidFill>
              <a:srgbClr val="221F1F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buClr>
                <a:schemeClr val="bg2"/>
              </a:buClr>
              <a:buSzPct val="100000"/>
              <a:buFontTx/>
              <a:buChar char="•"/>
              <a:defRPr/>
            </a:pPr>
            <a:endParaRPr lang="ko-KR" altLang="en-US" sz="1000" b="0">
              <a:solidFill>
                <a:schemeClr val="tx1"/>
              </a:solidFill>
              <a:latin typeface="Arial" charset="0"/>
              <a:ea typeface="가는각진제목체" pitchFamily="18" charset="-127"/>
            </a:endParaRPr>
          </a:p>
        </p:txBody>
      </p:sp>
      <p:grpSp>
        <p:nvGrpSpPr>
          <p:cNvPr id="7" name="Group 13"/>
          <p:cNvGrpSpPr>
            <a:grpSpLocks/>
          </p:cNvGrpSpPr>
          <p:nvPr userDrawn="1"/>
        </p:nvGrpSpPr>
        <p:grpSpPr bwMode="auto">
          <a:xfrm>
            <a:off x="252413" y="85725"/>
            <a:ext cx="8496300" cy="471488"/>
            <a:chOff x="1056" y="1039"/>
            <a:chExt cx="3024" cy="209"/>
          </a:xfrm>
        </p:grpSpPr>
        <p:sp>
          <p:nvSpPr>
            <p:cNvPr id="8" name="Text Box 14"/>
            <p:cNvSpPr txBox="1">
              <a:spLocks noChangeArrowheads="1"/>
            </p:cNvSpPr>
            <p:nvPr/>
          </p:nvSpPr>
          <p:spPr bwMode="auto">
            <a:xfrm>
              <a:off x="1056" y="1039"/>
              <a:ext cx="219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27" tIns="45714" rIns="91427" bIns="45714">
              <a:spAutoFit/>
            </a:bodyPr>
            <a:lstStyle>
              <a:lvl1pPr marL="342900" indent="-3429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latinLnBrk="1" hangingPunct="1">
                <a:buFont typeface="Wingdings" panose="05000000000000000000" pitchFamily="2" charset="2"/>
                <a:buChar char="l"/>
              </a:pPr>
              <a:r>
                <a:rPr lang="en-US" altLang="ko-KR" b="1" dirty="0">
                  <a:solidFill>
                    <a:srgbClr val="724FB7"/>
                  </a:solidFill>
                </a:rPr>
                <a:t> </a:t>
              </a:r>
              <a:endParaRPr lang="ko-KR" altLang="en-US" b="1" dirty="0">
                <a:solidFill>
                  <a:srgbClr val="724FB7"/>
                </a:solidFill>
              </a:endParaRPr>
            </a:p>
          </p:txBody>
        </p:sp>
        <p:sp>
          <p:nvSpPr>
            <p:cNvPr id="9" name="Line 15"/>
            <p:cNvSpPr>
              <a:spLocks noChangeShapeType="1"/>
            </p:cNvSpPr>
            <p:nvPr/>
          </p:nvSpPr>
          <p:spPr bwMode="auto">
            <a:xfrm>
              <a:off x="1104" y="1248"/>
              <a:ext cx="2976" cy="0"/>
            </a:xfrm>
            <a:prstGeom prst="line">
              <a:avLst/>
            </a:prstGeom>
            <a:noFill/>
            <a:ln w="28575">
              <a:solidFill>
                <a:srgbClr val="724FB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F0E2B6AB-4E91-4F64-B660-D2A07B456B0B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998137" y="6538913"/>
            <a:ext cx="779276" cy="3185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2873E6-ACCE-4051-934B-AD66AC1000B5}"/>
              </a:ext>
            </a:extLst>
          </p:cNvPr>
          <p:cNvSpPr txBox="1"/>
          <p:nvPr userDrawn="1"/>
        </p:nvSpPr>
        <p:spPr>
          <a:xfrm>
            <a:off x="273050" y="6544059"/>
            <a:ext cx="2199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iamhpd@kopo.ac.kr</a:t>
            </a:r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7" r:id="rId2"/>
    <p:sldLayoutId id="2147484016" r:id="rId3"/>
    <p:sldLayoutId id="2147484015" r:id="rId4"/>
    <p:sldLayoutId id="2147484014" r:id="rId5"/>
    <p:sldLayoutId id="2147484013" r:id="rId6"/>
    <p:sldLayoutId id="2147484012" r:id="rId7"/>
    <p:sldLayoutId id="2147484011" r:id="rId8"/>
    <p:sldLayoutId id="2147484010" r:id="rId9"/>
    <p:sldLayoutId id="2147484009" r:id="rId10"/>
    <p:sldLayoutId id="2147484034" r:id="rId11"/>
    <p:sldLayoutId id="2147484035" r:id="rId12"/>
  </p:sldLayoutIdLst>
  <p:hf hdr="0" ftr="0" dt="0"/>
  <p:txStyles>
    <p:titleStyle>
      <a:lvl1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  <a:cs typeface="+mj-cs"/>
        </a:defRPr>
      </a:lvl1pPr>
      <a:lvl2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2pPr>
      <a:lvl3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3pPr>
      <a:lvl4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4pPr>
      <a:lvl5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600" b="1">
          <a:solidFill>
            <a:srgbClr val="221F1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27088" indent="-28575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2pPr>
      <a:lvl3pPr marL="1235075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3pPr>
      <a:lvl4pPr marL="1643063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"/>
          <p:cNvSpPr>
            <a:spLocks noGrp="1"/>
          </p:cNvSpPr>
          <p:nvPr/>
        </p:nvSpPr>
        <p:spPr bwMode="auto">
          <a:xfrm>
            <a:off x="194303" y="1018700"/>
            <a:ext cx="9434858" cy="536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82" tIns="47741" rIns="95482" bIns="47741"/>
          <a:lstStyle>
            <a:lvl1pPr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latinLnBrk="1">
              <a:defRPr/>
            </a:pPr>
            <a:endParaRPr lang="ko-KR" altLang="en-US" sz="1953" dirty="0">
              <a:solidFill>
                <a:srgbClr val="0D0D0D"/>
              </a:solidFill>
            </a:endParaRPr>
          </a:p>
        </p:txBody>
      </p:sp>
      <p:sp>
        <p:nvSpPr>
          <p:cNvPr id="1028" name="텍스트 개체 틀 2"/>
          <p:cNvSpPr>
            <a:spLocks noGrp="1"/>
          </p:cNvSpPr>
          <p:nvPr/>
        </p:nvSpPr>
        <p:spPr bwMode="auto">
          <a:xfrm>
            <a:off x="194303" y="1018700"/>
            <a:ext cx="9434858" cy="536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82" tIns="47741" rIns="95482" bIns="47741"/>
          <a:lstStyle>
            <a:lvl1pPr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latinLnBrk="1">
              <a:defRPr/>
            </a:pPr>
            <a:endParaRPr lang="ko-KR" altLang="en-US" sz="1953" dirty="0">
              <a:solidFill>
                <a:srgbClr val="0D0D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67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+mj-lt"/>
          <a:ea typeface="+mj-ea"/>
          <a:cs typeface="+mj-cs"/>
        </a:defRPr>
      </a:lvl1pPr>
      <a:lvl2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2pPr>
      <a:lvl3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3pPr>
      <a:lvl4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4pPr>
      <a:lvl5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5pPr>
      <a:lvl6pPr marL="631597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6pPr>
      <a:lvl7pPr marL="1263192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7pPr>
      <a:lvl8pPr marL="1894789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8pPr>
      <a:lvl9pPr marL="2526386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9pPr>
    </p:titleStyle>
    <p:bodyStyle>
      <a:lvl1pPr marL="265138" indent="-265138" algn="l" defTabSz="900848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953">
          <a:solidFill>
            <a:schemeClr val="tx1"/>
          </a:solidFill>
          <a:latin typeface="+mn-lt"/>
          <a:ea typeface="+mn-ea"/>
          <a:cs typeface="+mn-cs"/>
        </a:defRPr>
      </a:lvl1pPr>
      <a:lvl2pPr marL="784559" indent="-255835" algn="l" defTabSz="900848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60">
          <a:solidFill>
            <a:schemeClr val="tx1"/>
          </a:solidFill>
          <a:latin typeface="+mn-lt"/>
          <a:ea typeface="+mn-ea"/>
        </a:defRPr>
      </a:lvl2pPr>
      <a:lvl3pPr marL="1424920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344">
          <a:solidFill>
            <a:schemeClr val="tx1"/>
          </a:solidFill>
          <a:latin typeface="+mn-lt"/>
          <a:ea typeface="+mn-ea"/>
        </a:defRPr>
      </a:lvl3pPr>
      <a:lvl4pPr marL="1913331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953">
          <a:solidFill>
            <a:schemeClr val="tx1"/>
          </a:solidFill>
          <a:latin typeface="+mn-lt"/>
          <a:ea typeface="+mn-ea"/>
        </a:defRPr>
      </a:lvl4pPr>
      <a:lvl5pPr marL="2403292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5pPr>
      <a:lvl6pPr marL="3035171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6pPr>
      <a:lvl7pPr marL="3666768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7pPr>
      <a:lvl8pPr marL="4298365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8pPr>
      <a:lvl9pPr marL="4929961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1pPr>
      <a:lvl2pPr marL="631597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2pPr>
      <a:lvl3pPr marL="1263192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3pPr>
      <a:lvl4pPr marL="1894789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4pPr>
      <a:lvl5pPr marL="2526386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5pPr>
      <a:lvl6pPr marL="3157982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6pPr>
      <a:lvl7pPr marL="3789578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7pPr>
      <a:lvl8pPr marL="4421175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8pPr>
      <a:lvl9pPr marL="5052771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4" descr="title_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66725" y="44450"/>
            <a:ext cx="8972550" cy="642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136650" y="1341438"/>
            <a:ext cx="8047038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제목을 입력하세요</a:t>
            </a: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345B3C9-0B9B-482E-A48D-A7D90E2E6CE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346731" y="5881357"/>
            <a:ext cx="1624308" cy="6640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28" r:id="rId2"/>
    <p:sldLayoutId id="2147484027" r:id="rId3"/>
    <p:sldLayoutId id="2147484026" r:id="rId4"/>
    <p:sldLayoutId id="2147484025" r:id="rId5"/>
    <p:sldLayoutId id="2147484024" r:id="rId6"/>
    <p:sldLayoutId id="2147484023" r:id="rId7"/>
    <p:sldLayoutId id="2147484022" r:id="rId8"/>
    <p:sldLayoutId id="2147484021" r:id="rId9"/>
    <p:sldLayoutId id="2147484020" r:id="rId10"/>
    <p:sldLayoutId id="2147484019" r:id="rId11"/>
  </p:sldLayoutIdLst>
  <p:hf hdr="0" ftr="0" dt="0"/>
  <p:txStyles>
    <p:titleStyle>
      <a:lvl1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8191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12763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7335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21907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600" b="1">
          <a:solidFill>
            <a:srgbClr val="221F1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27088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2pPr>
      <a:lvl3pPr marL="1235075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3pPr>
      <a:lvl4pPr marL="1643063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youtube.com/@survcode" TargetMode="External"/><Relationship Id="rId2" Type="http://schemas.openxmlformats.org/officeDocument/2006/relationships/hyperlink" Target="https://youtu.be/C53H-eqHGh8" TargetMode="Externa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caldata.go.kr/lif/lifeCtacDataView.do?opnEtcSvcId=12_04_07_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marL="0" indent="0" eaLnBrk="1" hangingPunct="1"/>
            <a:r>
              <a:rPr lang="en-US" altLang="ko-KR" sz="2400" dirty="0"/>
              <a:t>8. DB</a:t>
            </a:r>
            <a:r>
              <a:rPr lang="ko-KR" altLang="en-US" sz="2400" dirty="0"/>
              <a:t> 다루기 전에 </a:t>
            </a:r>
            <a:r>
              <a:rPr lang="en-US" altLang="ko-KR" sz="2400" dirty="0"/>
              <a:t>File</a:t>
            </a:r>
            <a:r>
              <a:rPr lang="ko-KR" altLang="en-US" sz="2400" dirty="0"/>
              <a:t>을 다루어 보자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3315660" y="3259723"/>
            <a:ext cx="334681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>
                <a:hlinkClick r:id="rId2"/>
              </a:rPr>
              <a:t>https://youtu.be/C53H-eqHGh8</a:t>
            </a:r>
            <a:r>
              <a:rPr lang="ko-KR" altLang="en-US"/>
              <a:t> </a:t>
            </a:r>
          </a:p>
        </p:txBody>
      </p:sp>
      <p:sp>
        <p:nvSpPr>
          <p:cNvPr id="7" name="Text Box 89"/>
          <p:cNvSpPr txBox="1">
            <a:spLocks noChangeArrowheads="1"/>
          </p:cNvSpPr>
          <p:nvPr/>
        </p:nvSpPr>
        <p:spPr bwMode="auto">
          <a:xfrm>
            <a:off x="5126831" y="5021206"/>
            <a:ext cx="419783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ko-KR" altLang="en-US" dirty="0" err="1">
                <a:solidFill>
                  <a:schemeClr val="tx1"/>
                </a:solidFill>
              </a:rPr>
              <a:t>홍필두</a:t>
            </a:r>
            <a:r>
              <a:rPr kumimoji="1" lang="ko-KR" altLang="en-US" dirty="0">
                <a:solidFill>
                  <a:schemeClr val="tx1"/>
                </a:solidFill>
              </a:rPr>
              <a:t> 교수 </a:t>
            </a:r>
            <a:endParaRPr kumimoji="1" lang="en-US" altLang="ko-KR" dirty="0">
              <a:solidFill>
                <a:schemeClr val="tx1"/>
              </a:solidFill>
            </a:endParaRPr>
          </a:p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  <a:hlinkClick r:id="rId3"/>
              </a:rPr>
              <a:t>http://youtube.com/@survcode</a:t>
            </a:r>
            <a:r>
              <a:rPr kumimoji="1" lang="en-US" altLang="ko-KR" dirty="0">
                <a:solidFill>
                  <a:schemeClr val="tx1"/>
                </a:solidFill>
              </a:rPr>
              <a:t> </a:t>
            </a:r>
          </a:p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</a:rPr>
              <a:t>(</a:t>
            </a:r>
            <a:r>
              <a:rPr kumimoji="1" lang="ko-KR" altLang="en-US" dirty="0">
                <a:solidFill>
                  <a:schemeClr val="tx1"/>
                </a:solidFill>
              </a:rPr>
              <a:t>자바 프로그래밍</a:t>
            </a:r>
            <a:r>
              <a:rPr kumimoji="1" lang="en-US" altLang="ko-KR" dirty="0">
                <a:solidFill>
                  <a:schemeClr val="tx1"/>
                </a:solidFill>
              </a:rPr>
              <a:t>)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831" y="5038816"/>
            <a:ext cx="817519" cy="7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6709B705-DE78-45B6-5988-03597159BB44}"/>
              </a:ext>
            </a:extLst>
          </p:cNvPr>
          <p:cNvSpPr txBox="1"/>
          <p:nvPr/>
        </p:nvSpPr>
        <p:spPr>
          <a:xfrm>
            <a:off x="2650892" y="3979992"/>
            <a:ext cx="49518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</a:rPr>
              <a:t>2025-&gt; </a:t>
            </a:r>
            <a:r>
              <a:rPr kumimoji="1" lang="ko-KR" altLang="en-US" dirty="0" err="1">
                <a:solidFill>
                  <a:schemeClr val="tx1"/>
                </a:solidFill>
              </a:rPr>
              <a:t>변경없음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r>
              <a:rPr lang="en-US" altLang="ko-KR" sz="1800" dirty="0">
                <a:solidFill>
                  <a:schemeClr val="bg1"/>
                </a:solidFill>
              </a:rPr>
              <a:t>  </a:t>
            </a: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893879" y="864447"/>
            <a:ext cx="7734111" cy="5607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2000" dirty="0"/>
              <a:t>8.File</a:t>
            </a:r>
          </a:p>
          <a:p>
            <a:pPr>
              <a:spcBef>
                <a:spcPct val="0"/>
              </a:spcBef>
            </a:pPr>
            <a:endParaRPr lang="en-US" altLang="ko-KR" sz="1200" dirty="0"/>
          </a:p>
          <a:p>
            <a:pPr marL="228600" indent="-228600">
              <a:spcBef>
                <a:spcPct val="0"/>
              </a:spcBef>
              <a:buFontTx/>
              <a:buAutoNum type="arabicParenR"/>
            </a:pPr>
            <a:r>
              <a:rPr lang="ko-KR" altLang="en-US" sz="1200" dirty="0"/>
              <a:t>무식하게 읽고 쓰기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FontTx/>
              <a:buAutoNum type="arabicParenR"/>
            </a:pPr>
            <a:r>
              <a:rPr lang="en-US" altLang="ko-KR" sz="1200" dirty="0"/>
              <a:t>Buffered</a:t>
            </a:r>
            <a:r>
              <a:rPr lang="ko-KR" altLang="en-US" sz="1200" dirty="0"/>
              <a:t> 읽고 쓰기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FontTx/>
              <a:buAutoNum type="arabicParenR"/>
            </a:pPr>
            <a:r>
              <a:rPr lang="ko-KR" altLang="en-US" sz="1200" dirty="0"/>
              <a:t>실제 파일에 응용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/>
              <a:t>거리계산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FontTx/>
              <a:buAutoNum type="arabicParenR"/>
            </a:pPr>
            <a:r>
              <a:rPr lang="ko-KR" altLang="en-US" sz="1200" dirty="0"/>
              <a:t>파일 분리</a:t>
            </a:r>
            <a:r>
              <a:rPr lang="en-US" altLang="ko-KR" sz="1200" dirty="0"/>
              <a:t>,</a:t>
            </a:r>
            <a:r>
              <a:rPr lang="ko-KR" altLang="en-US" sz="1200" dirty="0"/>
              <a:t>데이터 보정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FontTx/>
              <a:buAutoNum type="arabicParenR"/>
            </a:pPr>
            <a:r>
              <a:rPr lang="ko-KR" altLang="en-US" sz="1200" dirty="0"/>
              <a:t>파일 </a:t>
            </a:r>
            <a:r>
              <a:rPr lang="ko-KR" altLang="en-US" sz="1200" dirty="0" err="1"/>
              <a:t>훝어보고</a:t>
            </a:r>
            <a:r>
              <a:rPr lang="ko-KR" altLang="en-US" sz="1200" dirty="0"/>
              <a:t> </a:t>
            </a:r>
            <a:r>
              <a:rPr lang="ko-KR" altLang="en-US" sz="1200" dirty="0" err="1"/>
              <a:t>감잡기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FontTx/>
              <a:buAutoNum type="arabicParenR"/>
            </a:pPr>
            <a:r>
              <a:rPr lang="ko-KR" altLang="en-US" sz="1200" dirty="0"/>
              <a:t>감 잡은 내용으로 파일정제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FontTx/>
              <a:buAutoNum type="arabicParenR"/>
            </a:pPr>
            <a:r>
              <a:rPr lang="ko-KR" altLang="en-US" sz="1200" dirty="0"/>
              <a:t>스스로 실습</a:t>
            </a:r>
            <a:endParaRPr lang="en-US" altLang="ko-KR" sz="1200" dirty="0"/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</a:t>
            </a:fld>
            <a:endParaRPr lang="en-US" altLang="ko-KR" sz="1100" b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3018903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ko-KR" altLang="en-US" sz="1800" dirty="0"/>
              <a:t>주요내용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3659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1. </a:t>
            </a:r>
            <a:r>
              <a:rPr lang="ko-KR" altLang="en-US" sz="1800" dirty="0"/>
              <a:t>강의 들어가기</a:t>
            </a:r>
            <a:endParaRPr lang="en-US" altLang="ko-KR" sz="1800" dirty="0"/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868726" y="841831"/>
            <a:ext cx="7450138" cy="35063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학습목표 제시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FILE</a:t>
            </a:r>
            <a:r>
              <a:rPr lang="ko-KR" altLang="en-US" sz="1200" dirty="0"/>
              <a:t>을 잘 이해하여 데이터를 잘 추출할 수 있다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FF0000"/>
                </a:solidFill>
              </a:rPr>
              <a:t>그것만 본 장에서 배운다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기타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 err="1">
                <a:solidFill>
                  <a:srgbClr val="FF0000"/>
                </a:solidFill>
              </a:rPr>
              <a:t>파일찾기</a:t>
            </a:r>
            <a:r>
              <a:rPr lang="en-US" altLang="ko-KR" sz="1200" dirty="0">
                <a:solidFill>
                  <a:srgbClr val="FF0000"/>
                </a:solidFill>
              </a:rPr>
              <a:t>,</a:t>
            </a:r>
            <a:r>
              <a:rPr lang="ko-KR" altLang="en-US" sz="1200" dirty="0">
                <a:solidFill>
                  <a:srgbClr val="FF0000"/>
                </a:solidFill>
              </a:rPr>
              <a:t>복사</a:t>
            </a:r>
            <a:r>
              <a:rPr lang="en-US" altLang="ko-KR" sz="1200" dirty="0">
                <a:solidFill>
                  <a:srgbClr val="FF0000"/>
                </a:solidFill>
              </a:rPr>
              <a:t>,</a:t>
            </a:r>
            <a:r>
              <a:rPr lang="ko-KR" altLang="en-US" sz="1200" dirty="0" err="1">
                <a:solidFill>
                  <a:srgbClr val="FF0000"/>
                </a:solidFill>
              </a:rPr>
              <a:t>디렉토리</a:t>
            </a:r>
            <a:r>
              <a:rPr lang="ko-KR" altLang="en-US" sz="1200" dirty="0">
                <a:solidFill>
                  <a:srgbClr val="FF0000"/>
                </a:solidFill>
              </a:rPr>
              <a:t> 등등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r>
              <a:rPr lang="ko-KR" altLang="en-US" sz="1200" dirty="0">
                <a:solidFill>
                  <a:srgbClr val="FF0000"/>
                </a:solidFill>
              </a:rPr>
              <a:t>는 필요할 때 잘 대처하셔요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en-US" altLang="ko-KR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86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2. </a:t>
            </a:r>
            <a:r>
              <a:rPr lang="ko-KR" altLang="en-US" sz="1800" dirty="0"/>
              <a:t>생각해볼 문제 및 용어</a:t>
            </a:r>
            <a:endParaRPr lang="en-US" altLang="ko-KR" dirty="0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33166" y="768187"/>
            <a:ext cx="8073938" cy="257063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학습 전 생각해볼 문제</a:t>
            </a:r>
            <a:endParaRPr lang="en-US" altLang="ko-KR" sz="1600" dirty="0"/>
          </a:p>
          <a:p>
            <a:pPr marL="228600" indent="-228600">
              <a:spcBef>
                <a:spcPct val="0"/>
              </a:spcBef>
              <a:buAutoNum type="arabicParenR"/>
            </a:pP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Linux</a:t>
            </a:r>
            <a:r>
              <a:rPr lang="ko-KR" altLang="en-US" sz="1200" dirty="0"/>
              <a:t>에서 </a:t>
            </a:r>
            <a:r>
              <a:rPr lang="en-US" altLang="ko-KR" sz="1200" dirty="0"/>
              <a:t>File   (&gt; &gt;&gt; )</a:t>
            </a:r>
            <a:r>
              <a:rPr lang="ko-KR" altLang="en-US" sz="1200" dirty="0" err="1"/>
              <a:t>리다이렉션으로</a:t>
            </a:r>
            <a:r>
              <a:rPr lang="ko-KR" altLang="en-US" sz="1200" dirty="0"/>
              <a:t> 파일 다루기</a:t>
            </a:r>
            <a:r>
              <a:rPr lang="en-US" altLang="ko-KR" sz="1200" dirty="0"/>
              <a:t>. </a:t>
            </a:r>
            <a:r>
              <a:rPr lang="ko-KR" altLang="en-US" sz="1200" dirty="0"/>
              <a:t>각종 </a:t>
            </a:r>
            <a:r>
              <a:rPr lang="en-US" altLang="ko-KR" sz="1200" dirty="0"/>
              <a:t>grep</a:t>
            </a:r>
            <a:r>
              <a:rPr lang="ko-KR" altLang="en-US" sz="1200" dirty="0"/>
              <a:t>명령으로 끊어 쓰기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C</a:t>
            </a:r>
            <a:r>
              <a:rPr lang="ko-KR" altLang="en-US" sz="1200" dirty="0"/>
              <a:t>에서 </a:t>
            </a:r>
            <a:r>
              <a:rPr lang="en-US" altLang="ko-KR" sz="1200" dirty="0"/>
              <a:t>file</a:t>
            </a:r>
            <a:r>
              <a:rPr lang="ko-KR" altLang="en-US" sz="1200" dirty="0"/>
              <a:t>처리 </a:t>
            </a:r>
            <a:r>
              <a:rPr lang="en-US" altLang="ko-KR" sz="1200" dirty="0"/>
              <a:t>open -&gt; read/write -&gt; close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Buffering </a:t>
            </a:r>
          </a:p>
        </p:txBody>
      </p:sp>
    </p:spTree>
    <p:extLst>
      <p:ext uri="{BB962C8B-B14F-4D97-AF65-F5344CB8AC3E}">
        <p14:creationId xmlns:p14="http://schemas.microsoft.com/office/powerpoint/2010/main" val="147614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632019" y="806128"/>
            <a:ext cx="9047229" cy="526457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File </a:t>
            </a:r>
            <a:r>
              <a:rPr lang="ko-KR" altLang="en-US" sz="1600" dirty="0"/>
              <a:t>다루기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파일명을 바꾼다</a:t>
            </a:r>
            <a:r>
              <a:rPr lang="en-US" altLang="ko-KR" sz="1200" dirty="0"/>
              <a:t>. </a:t>
            </a:r>
            <a:r>
              <a:rPr lang="ko-KR" altLang="en-US" sz="1200" dirty="0" err="1"/>
              <a:t>디렉토리에서</a:t>
            </a:r>
            <a:r>
              <a:rPr lang="ko-KR" altLang="en-US" sz="1200" dirty="0"/>
              <a:t> 파일명을 긁어온다</a:t>
            </a:r>
            <a:r>
              <a:rPr lang="en-US" altLang="ko-KR" sz="1200" dirty="0"/>
              <a:t>. </a:t>
            </a:r>
            <a:r>
              <a:rPr lang="ko-KR" altLang="en-US" sz="1200" dirty="0"/>
              <a:t>파일을 복사한다</a:t>
            </a:r>
            <a:r>
              <a:rPr lang="en-US" altLang="ko-KR" sz="1200" dirty="0"/>
              <a:t>.. </a:t>
            </a:r>
            <a:r>
              <a:rPr lang="ko-KR" altLang="en-US" sz="1200" dirty="0"/>
              <a:t>이것도 중요하지만 </a:t>
            </a:r>
            <a:r>
              <a:rPr lang="en-US" altLang="ko-KR" sz="1200" dirty="0"/>
              <a:t>..</a:t>
            </a:r>
            <a:r>
              <a:rPr lang="ko-KR" altLang="en-US" sz="1200" dirty="0"/>
              <a:t>찾아서 </a:t>
            </a:r>
            <a:r>
              <a:rPr lang="ko-KR" altLang="en-US" sz="1200" dirty="0" err="1"/>
              <a:t>셀프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스터디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이번장에서는</a:t>
            </a:r>
            <a:r>
              <a:rPr lang="ko-KR" altLang="en-US" sz="1200" dirty="0"/>
              <a:t> 파일을 읽고 쓰는 법을 실습을 통하여 배움</a:t>
            </a:r>
            <a:r>
              <a:rPr lang="en-US" altLang="ko-KR" sz="1200" dirty="0"/>
              <a:t>.</a:t>
            </a:r>
          </a:p>
        </p:txBody>
      </p:sp>
      <p:sp>
        <p:nvSpPr>
          <p:cNvPr id="2" name="직사각형 1"/>
          <p:cNvSpPr/>
          <p:nvPr/>
        </p:nvSpPr>
        <p:spPr bwMode="auto">
          <a:xfrm>
            <a:off x="1343144" y="2667316"/>
            <a:ext cx="6005468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ko-KR" altLang="en-US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파일을 연다</a:t>
            </a:r>
            <a:r>
              <a:rPr kumimoji="0" lang="en-US" altLang="ko-KR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(Open) -&gt; </a:t>
            </a:r>
            <a:r>
              <a:rPr kumimoji="0" lang="ko-KR" altLang="en-US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옵션 </a:t>
            </a:r>
            <a:r>
              <a:rPr kumimoji="0" lang="en-US" altLang="ko-KR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kumimoji="0" lang="ko-KR" altLang="en-US" sz="1000" b="0" i="0" u="none" strike="noStrike" cap="none" normalizeH="0" baseline="0" dirty="0" err="1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새로생성</a:t>
            </a:r>
            <a:r>
              <a:rPr kumimoji="0" lang="en-US" altLang="ko-KR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,</a:t>
            </a:r>
            <a:r>
              <a:rPr kumimoji="0" lang="ko-KR" altLang="en-US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있으면 </a:t>
            </a:r>
            <a:r>
              <a:rPr kumimoji="0" lang="ko-KR" altLang="en-US" sz="1000" b="0" i="0" u="none" strike="noStrike" cap="none" normalizeH="0" baseline="0" dirty="0" err="1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안열기</a:t>
            </a:r>
            <a:r>
              <a:rPr kumimoji="0" lang="en-US" altLang="ko-KR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, append</a:t>
            </a:r>
            <a:r>
              <a:rPr kumimoji="0" lang="en-US" altLang="ko-KR" sz="1000" b="0" i="0" u="none" strike="noStrike" cap="none" normalizeH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,</a:t>
            </a:r>
            <a:r>
              <a:rPr kumimoji="0" lang="ko-KR" altLang="en-US" sz="1000" b="0" i="0" u="none" strike="noStrike" cap="none" normalizeH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읽기 권한으로만</a:t>
            </a:r>
            <a:r>
              <a:rPr kumimoji="0" lang="en-US" altLang="ko-KR" sz="1000" b="0" i="0" u="none" strike="noStrike" cap="none" normalizeH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kumimoji="0" lang="ko-KR" altLang="en-US" sz="1000" b="0" i="0" u="none" strike="noStrike" cap="none" normalizeH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읽기쓰기 권한으로</a:t>
            </a:r>
            <a:endParaRPr kumimoji="0" lang="ko-KR" altLang="en-US" sz="1000" b="0" i="0" u="none" strike="noStrike" cap="none" normalizeH="0" baseline="0" dirty="0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 bwMode="auto">
          <a:xfrm>
            <a:off x="1343144" y="4443632"/>
            <a:ext cx="6138517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ko-KR" altLang="en-US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파일을 닫는다</a:t>
            </a:r>
            <a:r>
              <a:rPr kumimoji="0" lang="en-US" altLang="ko-KR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(Close) -&gt; </a:t>
            </a:r>
            <a:r>
              <a:rPr kumimoji="0" lang="ko-KR" altLang="en-US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더 이상 할 작업이 없다</a:t>
            </a:r>
            <a:r>
              <a:rPr kumimoji="0" lang="en-US" altLang="ko-KR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.. </a:t>
            </a:r>
            <a:r>
              <a:rPr kumimoji="0" lang="ko-KR" altLang="en-US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열어두면 다른 프로그램</a:t>
            </a:r>
            <a:r>
              <a:rPr kumimoji="0" lang="en-US" altLang="ko-KR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kumimoji="0" lang="ko-KR" altLang="en-US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프로세서</a:t>
            </a:r>
            <a:r>
              <a:rPr kumimoji="0" lang="en-US" altLang="ko-KR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r>
              <a:rPr kumimoji="0" lang="ko-KR" altLang="en-US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가 작업할 수 없다</a:t>
            </a:r>
          </a:p>
        </p:txBody>
      </p:sp>
      <p:sp>
        <p:nvSpPr>
          <p:cNvPr id="6" name="직사각형 5"/>
          <p:cNvSpPr/>
          <p:nvPr/>
        </p:nvSpPr>
        <p:spPr bwMode="auto">
          <a:xfrm>
            <a:off x="1370338" y="3189229"/>
            <a:ext cx="6080809" cy="802400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ko-KR" altLang="en-US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파일을 </a:t>
            </a:r>
            <a:r>
              <a:rPr lang="ko-KR" altLang="en-US" sz="1000" b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읽</a:t>
            </a:r>
            <a:r>
              <a:rPr kumimoji="0" lang="ko-KR" altLang="en-US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는다</a:t>
            </a:r>
            <a:r>
              <a:rPr kumimoji="0" lang="en-US" altLang="ko-KR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/</a:t>
            </a:r>
            <a:r>
              <a:rPr kumimoji="0" lang="ko-KR" altLang="en-US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쓴다 </a:t>
            </a:r>
            <a:r>
              <a:rPr kumimoji="0" lang="en-US" altLang="ko-KR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(Read/write)</a:t>
            </a:r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-"/>
              <a:tabLst/>
            </a:pPr>
            <a:r>
              <a:rPr lang="en-US" altLang="ko-KR" sz="1000" b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 sz="1000" b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개씩 </a:t>
            </a:r>
            <a:r>
              <a:rPr lang="en-US" altLang="ko-KR" sz="1000" b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(char a) </a:t>
            </a:r>
            <a:r>
              <a:rPr lang="ko-KR" altLang="en-US" sz="1000" b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읽는다 </a:t>
            </a:r>
            <a:r>
              <a:rPr lang="en-US" altLang="ko-KR" sz="1000" b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-&gt; </a:t>
            </a:r>
            <a:r>
              <a:rPr lang="ko-KR" altLang="en-US" sz="1000" b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그리고 붙여서 작업</a:t>
            </a:r>
            <a:endParaRPr lang="en-US" altLang="ko-KR" sz="1000" b="0" dirty="0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-"/>
              <a:tabLst/>
            </a:pPr>
            <a:r>
              <a:rPr kumimoji="0" lang="en-US" altLang="ko-KR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char</a:t>
            </a:r>
            <a:r>
              <a:rPr kumimoji="0" lang="en-US" altLang="ko-KR" sz="1000" b="0" i="0" u="none" strike="noStrike" cap="none" normalizeH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a[MAX_READ] -&gt; </a:t>
            </a:r>
            <a:r>
              <a:rPr kumimoji="0" lang="ko-KR" altLang="en-US" sz="1000" b="0" i="0" u="none" strike="noStrike" cap="none" normalizeH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일정크기만큼 읽는다 </a:t>
            </a:r>
            <a:r>
              <a:rPr lang="en-US" altLang="ko-KR" sz="1000" b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-&gt; a</a:t>
            </a:r>
            <a:r>
              <a:rPr lang="ko-KR" altLang="en-US" sz="1000" b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의 크기에 꽉 채우든지</a:t>
            </a:r>
            <a:r>
              <a:rPr lang="en-US" altLang="ko-KR" sz="1000" b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000" b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일부만 채우든지</a:t>
            </a:r>
            <a:r>
              <a:rPr lang="en-US" altLang="ko-KR" sz="1000" b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000" b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없든지</a:t>
            </a:r>
            <a:endParaRPr lang="en-US" altLang="ko-KR" sz="1000" b="0" dirty="0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-"/>
              <a:tabLst/>
            </a:pPr>
            <a:r>
              <a:rPr kumimoji="0" lang="en-US" altLang="ko-KR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Buffer</a:t>
            </a:r>
            <a:r>
              <a:rPr kumimoji="0" lang="ko-KR" altLang="en-US" sz="10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종류 클래스로 나는 그건 신경</a:t>
            </a:r>
            <a:r>
              <a:rPr kumimoji="0" lang="ko-KR" altLang="en-US" sz="1000" b="0" i="0" u="none" strike="noStrike" cap="none" normalizeH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안 쓰고 읽겠다</a:t>
            </a:r>
            <a:r>
              <a:rPr kumimoji="0" lang="en-US" altLang="ko-KR" sz="1000" b="0" i="0" u="none" strike="noStrike" cap="none" normalizeH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kumimoji="0" lang="ko-KR" altLang="en-US" sz="1000" b="0" i="0" u="none" strike="noStrike" cap="none" normalizeH="0" baseline="0" dirty="0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아래쪽 화살표 2"/>
          <p:cNvSpPr/>
          <p:nvPr/>
        </p:nvSpPr>
        <p:spPr bwMode="auto">
          <a:xfrm>
            <a:off x="3760043" y="2928272"/>
            <a:ext cx="349066" cy="228495"/>
          </a:xfrm>
          <a:prstGeom prst="downArrow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8" name="아래쪽 화살표 7"/>
          <p:cNvSpPr/>
          <p:nvPr/>
        </p:nvSpPr>
        <p:spPr bwMode="auto">
          <a:xfrm>
            <a:off x="3760043" y="4118127"/>
            <a:ext cx="349066" cy="228495"/>
          </a:xfrm>
          <a:prstGeom prst="downArrow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575734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2" y="648572"/>
            <a:ext cx="2944291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무식하게 읽고 쓰기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버퍼없이</a:t>
            </a:r>
            <a:r>
              <a:rPr lang="ko-KR" altLang="en-US" sz="1200" dirty="0"/>
              <a:t> </a:t>
            </a:r>
            <a:r>
              <a:rPr lang="en-US" altLang="ko-KR" sz="1200" dirty="0"/>
              <a:t>char[N]</a:t>
            </a:r>
            <a:r>
              <a:rPr lang="ko-KR" altLang="en-US" sz="1200" dirty="0"/>
              <a:t>개의 배열을 잡아 읽기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자바의 </a:t>
            </a:r>
            <a:r>
              <a:rPr lang="en-US" altLang="ko-KR" sz="1200" dirty="0"/>
              <a:t>exception</a:t>
            </a:r>
            <a:r>
              <a:rPr lang="ko-KR" altLang="en-US" sz="1200" dirty="0"/>
              <a:t>처리 </a:t>
            </a:r>
            <a:r>
              <a:rPr lang="en-US" altLang="ko-KR" sz="1200" dirty="0"/>
              <a:t>(try {}catch(e){} </a:t>
            </a:r>
            <a:r>
              <a:rPr lang="ko-KR" altLang="en-US" sz="1200" dirty="0"/>
              <a:t>구문 </a:t>
            </a:r>
            <a:r>
              <a:rPr lang="en-US" altLang="ko-KR" sz="1200" dirty="0"/>
              <a:t>)</a:t>
            </a:r>
          </a:p>
          <a:p>
            <a:pPr marL="171450" indent="-1714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Tx/>
              <a:buChar char="-"/>
            </a:pPr>
            <a:r>
              <a:rPr lang="ko-KR" altLang="en-US" sz="1200" dirty="0"/>
              <a:t>파일이</a:t>
            </a:r>
            <a:r>
              <a:rPr lang="en-US" altLang="ko-KR" sz="1200" dirty="0"/>
              <a:t> </a:t>
            </a:r>
            <a:r>
              <a:rPr lang="ko-KR" altLang="en-US" sz="1200" dirty="0"/>
              <a:t>없다든지</a:t>
            </a:r>
            <a:r>
              <a:rPr lang="en-US" altLang="ko-KR" sz="1200" dirty="0"/>
              <a:t>, </a:t>
            </a:r>
            <a:r>
              <a:rPr lang="ko-KR" altLang="en-US" sz="1200" dirty="0"/>
              <a:t>하드디스크 쓰기권한이 없다든지</a:t>
            </a:r>
            <a:endParaRPr lang="en-US" altLang="ko-KR" sz="1200" dirty="0"/>
          </a:p>
          <a:p>
            <a:pPr marL="171450" indent="-1714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Tx/>
              <a:buChar char="-"/>
            </a:pPr>
            <a:r>
              <a:rPr lang="ko-KR" altLang="en-US" sz="1200" dirty="0" err="1"/>
              <a:t>디렉토리를</a:t>
            </a:r>
            <a:r>
              <a:rPr lang="ko-KR" altLang="en-US" sz="1200" dirty="0"/>
              <a:t> </a:t>
            </a:r>
            <a:r>
              <a:rPr lang="en-US" altLang="ko-KR" sz="1200" dirty="0"/>
              <a:t>C:\</a:t>
            </a:r>
            <a:r>
              <a:rPr lang="ko-KR" altLang="en-US" sz="1200" dirty="0"/>
              <a:t>로</a:t>
            </a:r>
            <a:r>
              <a:rPr lang="en-US" altLang="ko-KR" sz="1200" dirty="0"/>
              <a:t> </a:t>
            </a:r>
            <a:r>
              <a:rPr lang="ko-KR" altLang="en-US" sz="1200" dirty="0"/>
              <a:t>지정하고 실습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 err="1"/>
              <a:t>HanCount</a:t>
            </a:r>
            <a:r>
              <a:rPr lang="ko-KR" altLang="en-US" sz="1200" dirty="0"/>
              <a:t>는 주어진 문자열의 </a:t>
            </a:r>
            <a:r>
              <a:rPr lang="ko-KR" altLang="en-US" sz="1200" dirty="0" err="1"/>
              <a:t>한글수를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리턴함</a:t>
            </a:r>
            <a:endParaRPr lang="en-US" altLang="ko-KR" sz="1200" dirty="0"/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ko-KR" altLang="en-US" sz="1200" dirty="0"/>
              <a:t>실습</a:t>
            </a:r>
            <a:r>
              <a:rPr lang="en-US" altLang="ko-KR" sz="1200" dirty="0"/>
              <a:t>) </a:t>
            </a:r>
            <a:r>
              <a:rPr lang="ko-KR" altLang="en-US" sz="1200" dirty="0"/>
              <a:t>교수님이 설명을 한 것을 잘 듣고 옆 소스를 코딩 및 주석을 달 것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 실습 별 둘</a:t>
            </a:r>
            <a:r>
              <a:rPr lang="en-US" altLang="ko-KR" sz="1200" dirty="0"/>
              <a:t>(</a:t>
            </a:r>
            <a:r>
              <a:rPr lang="ko-KR" altLang="en-US" sz="1200" dirty="0"/>
              <a:t>★ ★</a:t>
            </a:r>
            <a:r>
              <a:rPr lang="en-US" altLang="ko-KR" sz="1200" dirty="0"/>
              <a:t>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812" y="763235"/>
            <a:ext cx="4539880" cy="510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21383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2" y="648572"/>
            <a:ext cx="2944291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Buffered</a:t>
            </a:r>
            <a:r>
              <a:rPr lang="ko-KR" altLang="en-US" sz="1600" dirty="0"/>
              <a:t> 읽고 쓰기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버퍼를 가지고 읽음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뭐 몇 바이트 버퍼를 하든지 무지 큰 파일을 어떻게 읽든지는 클래스가 알아서</a:t>
            </a:r>
            <a:r>
              <a:rPr lang="en-US" altLang="ko-KR" sz="1200" dirty="0"/>
              <a:t>..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 err="1"/>
              <a:t>readLine</a:t>
            </a:r>
            <a:r>
              <a:rPr lang="en-US" altLang="ko-KR" sz="1200" dirty="0"/>
              <a:t>()  </a:t>
            </a:r>
            <a:r>
              <a:rPr lang="ko-KR" altLang="en-US" sz="1200" dirty="0"/>
              <a:t>같은</a:t>
            </a:r>
            <a:r>
              <a:rPr lang="en-US" altLang="ko-KR" sz="1200" dirty="0"/>
              <a:t> </a:t>
            </a:r>
            <a:r>
              <a:rPr lang="ko-KR" altLang="en-US" sz="1200" dirty="0"/>
              <a:t>함수를 사용하여 </a:t>
            </a:r>
            <a:r>
              <a:rPr lang="ko-KR" altLang="en-US" sz="1200" dirty="0" err="1"/>
              <a:t>한줄</a:t>
            </a:r>
            <a:r>
              <a:rPr lang="en-US" altLang="ko-KR" sz="1200" dirty="0"/>
              <a:t>(\n)</a:t>
            </a:r>
            <a:r>
              <a:rPr lang="ko-KR" altLang="en-US" sz="1200" dirty="0"/>
              <a:t>단위로 읽는다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 err="1"/>
              <a:t>IOException</a:t>
            </a:r>
            <a:r>
              <a:rPr lang="ko-KR" altLang="en-US" sz="1200" dirty="0"/>
              <a:t>을 클래스 위로 던져서 시스템 메시지로 </a:t>
            </a:r>
            <a:r>
              <a:rPr lang="ko-KR" altLang="en-US" sz="1200" dirty="0" err="1"/>
              <a:t>받는예</a:t>
            </a:r>
            <a:r>
              <a:rPr lang="en-US" altLang="ko-KR" sz="1200" dirty="0"/>
              <a:t>..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Close</a:t>
            </a:r>
            <a:r>
              <a:rPr lang="ko-KR" altLang="en-US" sz="1200" dirty="0"/>
              <a:t>를 </a:t>
            </a:r>
            <a:r>
              <a:rPr lang="ko-KR" altLang="en-US" sz="1200" dirty="0" err="1"/>
              <a:t>안하면</a:t>
            </a:r>
            <a:r>
              <a:rPr lang="ko-KR" altLang="en-US" sz="1200" dirty="0"/>
              <a:t> 계속 파일이 열려있어서 제어할 수 가 없다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 </a:t>
            </a:r>
            <a:r>
              <a:rPr lang="ko-KR" altLang="en-US" sz="1200" dirty="0"/>
              <a:t>실습</a:t>
            </a:r>
            <a:r>
              <a:rPr lang="en-US" altLang="ko-KR" sz="1200" dirty="0"/>
              <a:t>) </a:t>
            </a:r>
            <a:r>
              <a:rPr lang="ko-KR" altLang="en-US" sz="1200" dirty="0"/>
              <a:t>교수님이 설명을 한 것을 잘 듣고 옆 소스를 코딩 및 주석을 달 것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 실습 별 둘</a:t>
            </a:r>
            <a:r>
              <a:rPr lang="en-US" altLang="ko-KR" sz="1200" dirty="0"/>
              <a:t>(</a:t>
            </a:r>
            <a:r>
              <a:rPr lang="ko-KR" altLang="en-US" sz="1200" dirty="0"/>
              <a:t>★ ★</a:t>
            </a:r>
            <a:r>
              <a:rPr lang="en-US" altLang="ko-KR" sz="1200" dirty="0"/>
              <a:t>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336" y="717102"/>
            <a:ext cx="5414627" cy="544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2951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2" y="648572"/>
            <a:ext cx="2944291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실제 파일에 응용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전국무료와이파이</a:t>
            </a:r>
            <a:r>
              <a:rPr lang="ko-KR" altLang="en-US" sz="1200" dirty="0"/>
              <a:t> 표준데이터</a:t>
            </a:r>
            <a:r>
              <a:rPr lang="en-US" altLang="ko-KR" sz="1200" dirty="0"/>
              <a:t>.csv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앞에서</a:t>
            </a:r>
            <a:r>
              <a:rPr lang="en-US" altLang="ko-KR" sz="1200" dirty="0"/>
              <a:t> </a:t>
            </a:r>
            <a:r>
              <a:rPr lang="ko-KR" altLang="en-US" sz="1200" dirty="0" err="1"/>
              <a:t>필드별</a:t>
            </a:r>
            <a:r>
              <a:rPr lang="ko-KR" altLang="en-US" sz="1200" dirty="0"/>
              <a:t> 데이터 </a:t>
            </a:r>
            <a:r>
              <a:rPr lang="ko-KR" altLang="en-US" sz="1200" dirty="0" err="1"/>
              <a:t>나누는것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 </a:t>
            </a:r>
            <a:r>
              <a:rPr lang="ko-KR" altLang="en-US" sz="1200" dirty="0"/>
              <a:t>실습</a:t>
            </a:r>
            <a:r>
              <a:rPr lang="en-US" altLang="ko-KR" sz="1200" dirty="0"/>
              <a:t>) </a:t>
            </a:r>
            <a:r>
              <a:rPr lang="ko-KR" altLang="en-US" sz="1200" dirty="0"/>
              <a:t>교수님이 설명을 한 것을 잘 듣고 옆 소스를 코딩 및 주석을 달 것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 실습 별 둘</a:t>
            </a:r>
            <a:r>
              <a:rPr lang="en-US" altLang="ko-KR" sz="1200" dirty="0"/>
              <a:t>(</a:t>
            </a:r>
            <a:r>
              <a:rPr lang="ko-KR" altLang="en-US" sz="1200" dirty="0"/>
              <a:t>★ ★</a:t>
            </a:r>
            <a:r>
              <a:rPr lang="en-US" altLang="ko-KR" sz="12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FF0000"/>
                </a:solidFill>
              </a:rPr>
              <a:t>다행이 </a:t>
            </a:r>
            <a:r>
              <a:rPr lang="en-US" altLang="ko-KR" sz="1200" dirty="0">
                <a:solidFill>
                  <a:srgbClr val="FF0000"/>
                </a:solidFill>
              </a:rPr>
              <a:t>2017</a:t>
            </a:r>
            <a:r>
              <a:rPr lang="ko-KR" altLang="en-US" sz="1200" dirty="0">
                <a:solidFill>
                  <a:srgbClr val="FF0000"/>
                </a:solidFill>
              </a:rPr>
              <a:t>년 이후 무료 와이파이 데이터가 제공 안되었는데</a:t>
            </a:r>
            <a:r>
              <a:rPr lang="en-US" altLang="ko-KR" sz="1200" dirty="0">
                <a:solidFill>
                  <a:srgbClr val="FF0000"/>
                </a:solidFill>
              </a:rPr>
              <a:t>.. </a:t>
            </a:r>
            <a:r>
              <a:rPr lang="ko-KR" altLang="en-US" sz="1200" dirty="0">
                <a:solidFill>
                  <a:srgbClr val="FF0000"/>
                </a:solidFill>
              </a:rPr>
              <a:t>지금 가보니 새로 나왔다 새로 나온 파일로 하자 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i="0" u="sng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https://www.localdata.go.kr/lif/lifeCtacDataView.do?opnEtcSvcId=12_04_07_E</a:t>
            </a:r>
            <a:r>
              <a:rPr lang="en-US" altLang="ko-KR" sz="1050" i="0" u="sng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FF0000"/>
                </a:solidFill>
              </a:rPr>
              <a:t>엑셀 파일 다운 받은 후 </a:t>
            </a:r>
            <a:r>
              <a:rPr lang="en-US" altLang="ko-KR" sz="1200" dirty="0">
                <a:solidFill>
                  <a:srgbClr val="FF0000"/>
                </a:solidFill>
              </a:rPr>
              <a:t>csv</a:t>
            </a:r>
            <a:r>
              <a:rPr lang="ko-KR" altLang="en-US" sz="1200" dirty="0">
                <a:solidFill>
                  <a:srgbClr val="FF0000"/>
                </a:solidFill>
              </a:rPr>
              <a:t>파일로 바꿔서 사용합시다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0072" y="967519"/>
            <a:ext cx="6030017" cy="520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7121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5"/>
              <p:cNvSpPr txBox="1">
                <a:spLocks noChangeArrowheads="1"/>
              </p:cNvSpPr>
              <p:nvPr/>
            </p:nvSpPr>
            <p:spPr bwMode="auto">
              <a:xfrm>
                <a:off x="139872" y="648572"/>
                <a:ext cx="2944291" cy="5767725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9333" tIns="64666" rIns="129333" bIns="64666">
                <a:noAutofit/>
              </a:bodyPr>
              <a:lstStyle>
                <a:lvl1pPr marL="180975" indent="-180975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9pPr>
              </a:lstStyle>
              <a:p>
                <a:pPr marL="285750" indent="-285750" eaLnBrk="1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거리계산</a:t>
                </a:r>
                <a:endParaRPr lang="en-US" altLang="ko-KR" sz="1600" dirty="0"/>
              </a:p>
              <a:p>
                <a:pPr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§"/>
                </a:pPr>
                <a:r>
                  <a:rPr lang="ko-KR" altLang="en-US" sz="1200" dirty="0" err="1"/>
                  <a:t>전국무료와이파이</a:t>
                </a:r>
                <a:r>
                  <a:rPr lang="ko-KR" altLang="en-US" sz="1200" dirty="0"/>
                  <a:t> 표준데이터</a:t>
                </a:r>
                <a:r>
                  <a:rPr lang="en-US" altLang="ko-KR" sz="1200" dirty="0"/>
                  <a:t>.csv</a:t>
                </a:r>
                <a:r>
                  <a:rPr lang="ko-KR" altLang="en-US" sz="1200" dirty="0"/>
                  <a:t>가 데이터가 지랄이라 엑셀에서 </a:t>
                </a:r>
                <a:r>
                  <a:rPr lang="ko-KR" altLang="en-US" sz="1200" dirty="0" err="1"/>
                  <a:t>텝으로</a:t>
                </a:r>
                <a:r>
                  <a:rPr lang="ko-KR" altLang="en-US" sz="1200" dirty="0"/>
                  <a:t> 분리되는 </a:t>
                </a:r>
                <a:r>
                  <a:rPr lang="en-US" altLang="ko-KR" sz="1200" dirty="0"/>
                  <a:t>txt</a:t>
                </a:r>
                <a:r>
                  <a:rPr lang="ko-KR" altLang="en-US" sz="1200" dirty="0"/>
                  <a:t>파일로 저장</a:t>
                </a:r>
                <a:r>
                  <a:rPr lang="en-US" altLang="ko-KR" sz="1200" dirty="0"/>
                  <a:t>.</a:t>
                </a:r>
              </a:p>
              <a:p>
                <a:pPr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§"/>
                </a:pPr>
                <a:r>
                  <a:rPr lang="ko-KR" altLang="en-US" sz="1200" dirty="0"/>
                  <a:t>앞에서</a:t>
                </a:r>
                <a:r>
                  <a:rPr lang="en-US" altLang="ko-KR" sz="1200" dirty="0"/>
                  <a:t> </a:t>
                </a:r>
                <a:r>
                  <a:rPr lang="ko-KR" altLang="en-US" sz="1200" dirty="0" err="1"/>
                  <a:t>필드별</a:t>
                </a:r>
                <a:r>
                  <a:rPr lang="ko-KR" altLang="en-US" sz="1200" dirty="0"/>
                  <a:t> 데이터 </a:t>
                </a:r>
                <a:r>
                  <a:rPr lang="ko-KR" altLang="en-US" sz="1200" dirty="0" err="1"/>
                  <a:t>나누는것</a:t>
                </a:r>
                <a:r>
                  <a:rPr lang="ko-KR" altLang="en-US" sz="1200" dirty="0"/>
                  <a:t> </a:t>
                </a:r>
                <a:endParaRPr lang="en-US" altLang="ko-KR" sz="1200" dirty="0"/>
              </a:p>
              <a:p>
                <a:pPr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§"/>
                </a:pPr>
                <a:r>
                  <a:rPr lang="en-US" altLang="ko-KR" sz="1200" dirty="0"/>
                  <a:t> </a:t>
                </a:r>
                <a:r>
                  <a:rPr lang="ko-KR" altLang="en-US" sz="1200" dirty="0"/>
                  <a:t>점</a:t>
                </a:r>
                <a:r>
                  <a:rPr lang="en-US" altLang="ko-KR" sz="1200" dirty="0"/>
                  <a:t>(</a:t>
                </a:r>
                <a:r>
                  <a:rPr lang="en-US" altLang="ko-KR" sz="1200" dirty="0" err="1"/>
                  <a:t>a,b</a:t>
                </a:r>
                <a:r>
                  <a:rPr lang="en-US" altLang="ko-KR" sz="1200" dirty="0"/>
                  <a:t>) </a:t>
                </a:r>
                <a:r>
                  <a:rPr lang="ko-KR" altLang="en-US" sz="1200" dirty="0"/>
                  <a:t>점</a:t>
                </a:r>
                <a:r>
                  <a:rPr lang="en-US" altLang="ko-KR" sz="1200" dirty="0"/>
                  <a:t>(</a:t>
                </a:r>
                <a:r>
                  <a:rPr lang="en-US" altLang="ko-KR" sz="1200" dirty="0" err="1"/>
                  <a:t>c,d</a:t>
                </a:r>
                <a:r>
                  <a:rPr lang="en-US" altLang="ko-KR" sz="1200" dirty="0"/>
                  <a:t>)</a:t>
                </a:r>
                <a:r>
                  <a:rPr lang="ko-KR" altLang="en-US" sz="1200" dirty="0"/>
                  <a:t>간의 거리는</a:t>
                </a:r>
                <a:endParaRPr lang="en-US" altLang="ko-KR" sz="1200" dirty="0"/>
              </a:p>
              <a:p>
                <a:pPr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§"/>
                </a:pPr>
                <a:r>
                  <a:rPr lang="ko-KR" altLang="en-US" sz="1200" dirty="0"/>
                  <a:t>피타고라스 정리 </a:t>
                </a:r>
                <a:r>
                  <a:rPr lang="en-US" altLang="ko-KR" sz="1200" dirty="0"/>
                  <a:t>: </a:t>
                </a:r>
                <a:r>
                  <a:rPr lang="ko-KR" altLang="en-US" sz="1200" dirty="0"/>
                  <a:t>거리 </a:t>
                </a:r>
                <a:r>
                  <a:rPr lang="en-US" altLang="ko-KR" sz="1200" dirty="0"/>
                  <a:t>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+(</m:t>
                            </m:r>
                            <m:r>
                              <a:rPr lang="en-US" altLang="ko-KR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altLang="ko-KR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  <m:r>
                              <a:rPr lang="en-US" altLang="ko-KR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ko-KR" sz="1200" dirty="0"/>
                  <a:t> </a:t>
                </a:r>
              </a:p>
              <a:p>
                <a:pPr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§"/>
                </a:pPr>
                <a:r>
                  <a:rPr lang="ko-KR" altLang="en-US" sz="1200" dirty="0" err="1"/>
                  <a:t>융기원과</a:t>
                </a:r>
                <a:r>
                  <a:rPr lang="ko-KR" altLang="en-US" sz="1200" dirty="0"/>
                  <a:t> </a:t>
                </a:r>
                <a:r>
                  <a:rPr lang="ko-KR" altLang="en-US" sz="1200" dirty="0" err="1"/>
                  <a:t>와이파이와</a:t>
                </a:r>
                <a:r>
                  <a:rPr lang="ko-KR" altLang="en-US" sz="1200" dirty="0"/>
                  <a:t> 떨어진 거리계산</a:t>
                </a:r>
                <a:endParaRPr lang="en-US" altLang="ko-KR" sz="1200" dirty="0"/>
              </a:p>
              <a:p>
                <a:pPr marL="0" indent="0" eaLnBrk="1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</a:pPr>
                <a:r>
                  <a:rPr lang="ko-KR" altLang="en-US" sz="1200" dirty="0"/>
                  <a:t>실습</a:t>
                </a:r>
                <a:r>
                  <a:rPr lang="en-US" altLang="ko-KR" sz="1200" dirty="0"/>
                  <a:t>1) </a:t>
                </a:r>
                <a:r>
                  <a:rPr lang="ko-KR" altLang="en-US" sz="1200" dirty="0"/>
                  <a:t>설명을 붙여서 그대로 코딩 </a:t>
                </a:r>
                <a:r>
                  <a:rPr lang="en-US" altLang="ko-KR" sz="1200" dirty="0"/>
                  <a:t>: </a:t>
                </a:r>
                <a:r>
                  <a:rPr lang="ko-KR" altLang="en-US" sz="1200" dirty="0"/>
                  <a:t>실습 별 둘</a:t>
                </a:r>
                <a:r>
                  <a:rPr lang="en-US" altLang="ko-KR" sz="1200" dirty="0"/>
                  <a:t>(</a:t>
                </a:r>
                <a:r>
                  <a:rPr lang="ko-KR" altLang="en-US" sz="1200" dirty="0"/>
                  <a:t>★ ★</a:t>
                </a:r>
                <a:r>
                  <a:rPr lang="en-US" altLang="ko-KR" sz="1200" dirty="0"/>
                  <a:t>)</a:t>
                </a:r>
              </a:p>
              <a:p>
                <a:pPr marL="0" indent="0"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</a:pPr>
                <a:endParaRPr lang="en-US" altLang="ko-KR" sz="1200" dirty="0"/>
              </a:p>
              <a:p>
                <a:pPr marL="0" indent="0" eaLnBrk="1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</a:pPr>
                <a:r>
                  <a:rPr lang="ko-KR" altLang="en-US" sz="1200" dirty="0"/>
                  <a:t>실습</a:t>
                </a:r>
                <a:r>
                  <a:rPr lang="en-US" altLang="ko-KR" sz="1200" dirty="0"/>
                  <a:t>2) </a:t>
                </a:r>
                <a:r>
                  <a:rPr lang="ko-KR" altLang="en-US" sz="1200" dirty="0" err="1"/>
                  <a:t>분당융기원과</a:t>
                </a:r>
                <a:r>
                  <a:rPr lang="ko-KR" altLang="en-US" sz="1200" dirty="0"/>
                  <a:t> 가장 가까운 곳과</a:t>
                </a:r>
                <a:r>
                  <a:rPr lang="en-US" altLang="ko-KR" sz="1200" dirty="0"/>
                  <a:t>, </a:t>
                </a:r>
                <a:r>
                  <a:rPr lang="ko-KR" altLang="en-US" sz="1200" dirty="0" err="1"/>
                  <a:t>먼곳을</a:t>
                </a:r>
                <a:r>
                  <a:rPr lang="ko-KR" altLang="en-US" sz="1200" dirty="0"/>
                  <a:t> 찾아 인쇄 실습 별 하나</a:t>
                </a:r>
                <a:r>
                  <a:rPr lang="en-US" altLang="ko-KR" sz="1200" dirty="0"/>
                  <a:t>(</a:t>
                </a:r>
                <a:r>
                  <a:rPr lang="ko-KR" altLang="en-US" sz="1200" dirty="0"/>
                  <a:t>★</a:t>
                </a:r>
                <a:r>
                  <a:rPr lang="en-US" altLang="ko-KR" sz="1200" dirty="0"/>
                  <a:t>)</a:t>
                </a:r>
              </a:p>
              <a:p>
                <a:pPr marL="0" indent="0" eaLnBrk="1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</a:pPr>
                <a:r>
                  <a:rPr lang="ko-KR" altLang="en-US" sz="1200" dirty="0"/>
                  <a:t>실습</a:t>
                </a:r>
                <a:r>
                  <a:rPr lang="en-US" altLang="ko-KR" sz="1200" dirty="0"/>
                  <a:t>3) data.go.kr</a:t>
                </a:r>
                <a:r>
                  <a:rPr lang="ko-KR" altLang="en-US" sz="1200" dirty="0"/>
                  <a:t>에서 전국 주차장 정보</a:t>
                </a:r>
                <a:r>
                  <a:rPr lang="en-US" altLang="ko-KR" sz="1200" dirty="0"/>
                  <a:t>(</a:t>
                </a:r>
                <a:r>
                  <a:rPr lang="ko-KR" altLang="en-US" sz="1200" dirty="0"/>
                  <a:t>또는 기타 위치정보</a:t>
                </a:r>
                <a:r>
                  <a:rPr lang="en-US" altLang="ko-KR" sz="1200" dirty="0"/>
                  <a:t>)</a:t>
                </a:r>
                <a:r>
                  <a:rPr lang="ko-KR" altLang="en-US" sz="1200" dirty="0"/>
                  <a:t>파일을 찾아 특정지점과 가장 가까운 곳과 </a:t>
                </a:r>
                <a:r>
                  <a:rPr lang="ko-KR" altLang="en-US" sz="1200" dirty="0" err="1"/>
                  <a:t>먼곳을</a:t>
                </a:r>
                <a:r>
                  <a:rPr lang="ko-KR" altLang="en-US" sz="1200" dirty="0"/>
                  <a:t> 찾아 인쇄하는 </a:t>
                </a:r>
                <a:r>
                  <a:rPr lang="en-US" altLang="ko-KR" sz="1200" dirty="0"/>
                  <a:t>PGM </a:t>
                </a:r>
                <a:r>
                  <a:rPr lang="ko-KR" altLang="en-US" sz="1200" dirty="0"/>
                  <a:t>실습  별 하나</a:t>
                </a:r>
                <a:r>
                  <a:rPr lang="en-US" altLang="ko-KR" sz="1200" dirty="0"/>
                  <a:t>(</a:t>
                </a:r>
                <a:r>
                  <a:rPr lang="ko-KR" altLang="en-US" sz="1200" dirty="0"/>
                  <a:t>★</a:t>
                </a:r>
                <a:r>
                  <a:rPr lang="en-US" altLang="ko-KR" sz="1200" dirty="0"/>
                  <a:t>)</a:t>
                </a:r>
              </a:p>
              <a:p>
                <a:pPr marL="0" indent="0" eaLnBrk="1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</a:pPr>
                <a:endParaRPr lang="en-US" altLang="ko-KR" sz="1200" dirty="0"/>
              </a:p>
            </p:txBody>
          </p:sp>
        </mc:Choice>
        <mc:Fallback xmlns="">
          <p:sp>
            <p:nvSpPr>
              <p:cNvPr id="14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872" y="648572"/>
                <a:ext cx="2944291" cy="57677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6048" y="665941"/>
            <a:ext cx="6136664" cy="575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3053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2" y="648572"/>
            <a:ext cx="2944291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파일 </a:t>
            </a:r>
            <a:r>
              <a:rPr lang="ko-KR" altLang="en-US" sz="1600" dirty="0" err="1"/>
              <a:t>훝어보고</a:t>
            </a:r>
            <a:r>
              <a:rPr lang="ko-KR" altLang="en-US" sz="1600" dirty="0"/>
              <a:t> </a:t>
            </a:r>
            <a:r>
              <a:rPr lang="ko-KR" altLang="en-US" sz="1600" dirty="0" err="1"/>
              <a:t>감잡기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20~30</a:t>
            </a:r>
            <a:r>
              <a:rPr lang="ko-KR" altLang="en-US" sz="1200" dirty="0"/>
              <a:t>년치 전 종목 주가데이터를 받아왔다</a:t>
            </a:r>
            <a:r>
              <a:rPr lang="en-US" altLang="ko-KR" sz="1200" dirty="0"/>
              <a:t>. </a:t>
            </a:r>
            <a:r>
              <a:rPr lang="ko-KR" altLang="en-US" sz="1200" dirty="0"/>
              <a:t>이 파일은 데이터베이스를 </a:t>
            </a:r>
            <a:r>
              <a:rPr lang="ko-KR" altLang="en-US" sz="1200" dirty="0" err="1"/>
              <a:t>덤프받은</a:t>
            </a:r>
            <a:r>
              <a:rPr lang="ko-KR" altLang="en-US" sz="1200" dirty="0"/>
              <a:t> 파일이다</a:t>
            </a:r>
            <a:r>
              <a:rPr lang="en-US" altLang="ko-KR" sz="1200" dirty="0"/>
              <a:t>. </a:t>
            </a:r>
            <a:r>
              <a:rPr lang="ko-KR" altLang="en-US" sz="1200" dirty="0"/>
              <a:t>데이터베이스 구조파일도 받아서 대충 구조도 </a:t>
            </a:r>
            <a:r>
              <a:rPr lang="ko-KR" altLang="en-US" sz="1200" dirty="0" err="1"/>
              <a:t>알듯하다</a:t>
            </a:r>
            <a:endParaRPr lang="en-US" altLang="ko-KR" sz="12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u="sng" dirty="0">
                <a:solidFill>
                  <a:srgbClr val="FF0000"/>
                </a:solidFill>
              </a:rPr>
              <a:t>(</a:t>
            </a:r>
            <a:r>
              <a:rPr lang="ko-KR" altLang="en-US" sz="1200" u="sng" dirty="0">
                <a:solidFill>
                  <a:srgbClr val="FF0000"/>
                </a:solidFill>
              </a:rPr>
              <a:t>애석하게 주가데이터는 </a:t>
            </a:r>
            <a:r>
              <a:rPr lang="en-US" altLang="ko-KR" sz="1200" u="sng" dirty="0">
                <a:solidFill>
                  <a:srgbClr val="FF0000"/>
                </a:solidFill>
              </a:rPr>
              <a:t>2016</a:t>
            </a:r>
            <a:r>
              <a:rPr lang="ko-KR" altLang="en-US" sz="1200" u="sng" dirty="0">
                <a:solidFill>
                  <a:srgbClr val="FF0000"/>
                </a:solidFill>
              </a:rPr>
              <a:t>까지라 좀 </a:t>
            </a:r>
            <a:r>
              <a:rPr lang="ko-KR" altLang="en-US" sz="1200" u="sng" dirty="0" err="1">
                <a:solidFill>
                  <a:srgbClr val="FF0000"/>
                </a:solidFill>
              </a:rPr>
              <a:t>안타갑지만</a:t>
            </a:r>
            <a:r>
              <a:rPr lang="ko-KR" altLang="en-US" sz="1200" u="sng" dirty="0">
                <a:solidFill>
                  <a:srgbClr val="FF0000"/>
                </a:solidFill>
              </a:rPr>
              <a:t> 유료정보라 교수님이 어찌어찌 실습용으로 모아 놓은 것이니 절대 외부 반출 금지임</a:t>
            </a:r>
            <a:r>
              <a:rPr lang="en-US" altLang="ko-KR" sz="1200" u="sng" dirty="0">
                <a:solidFill>
                  <a:srgbClr val="FF0000"/>
                </a:solidFill>
              </a:rPr>
              <a:t>-)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크기가 너무 커서 메모장 등은 읽어지지도 않는다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하나씩 읽어보고 찍어보고 </a:t>
            </a:r>
            <a:r>
              <a:rPr lang="ko-KR" altLang="en-US" sz="1200" dirty="0" err="1"/>
              <a:t>감잡아</a:t>
            </a:r>
            <a:r>
              <a:rPr lang="ko-KR" altLang="en-US" sz="1200" dirty="0"/>
              <a:t> 본다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음</a:t>
            </a:r>
            <a:r>
              <a:rPr lang="en-US" altLang="ko-KR" sz="1200" dirty="0"/>
              <a:t>..</a:t>
            </a:r>
            <a:r>
              <a:rPr lang="ko-KR" altLang="en-US" sz="1200" dirty="0" err="1"/>
              <a:t>한줄씩</a:t>
            </a:r>
            <a:r>
              <a:rPr lang="ko-KR" altLang="en-US" sz="1200" dirty="0"/>
              <a:t> 데이터가 쓰여 있고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구분자로</a:t>
            </a:r>
            <a:r>
              <a:rPr lang="ko-KR" altLang="en-US" sz="1200" dirty="0"/>
              <a:t> 분리된 파일이다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교수님 설명을 듣고 설명을 붙여서 그대로 코딩 </a:t>
            </a:r>
            <a:r>
              <a:rPr lang="en-US" altLang="ko-KR" sz="1200" dirty="0"/>
              <a:t>: </a:t>
            </a:r>
            <a:r>
              <a:rPr lang="ko-KR" altLang="en-US" sz="1200" dirty="0"/>
              <a:t>실습 별 둘</a:t>
            </a:r>
            <a:r>
              <a:rPr lang="en-US" altLang="ko-KR" sz="1200" dirty="0"/>
              <a:t>(</a:t>
            </a:r>
            <a:r>
              <a:rPr lang="ko-KR" altLang="en-US" sz="1200" dirty="0"/>
              <a:t>★ ★</a:t>
            </a:r>
            <a:r>
              <a:rPr lang="en-US" altLang="ko-KR" sz="1200" dirty="0"/>
              <a:t>)</a:t>
            </a:r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825" y="1045233"/>
            <a:ext cx="5554274" cy="497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3492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2" y="648572"/>
            <a:ext cx="2944291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감 잡은 내용으로 파일정제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StockDailyPrice.csv</a:t>
            </a:r>
            <a:r>
              <a:rPr lang="ko-KR" altLang="en-US" sz="1200" dirty="0"/>
              <a:t>파일로 콤마분리자 파일을 만든다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보이는 </a:t>
            </a:r>
            <a:r>
              <a:rPr lang="ko-KR" altLang="en-US" sz="1200" dirty="0" err="1"/>
              <a:t>구분자</a:t>
            </a:r>
            <a:r>
              <a:rPr lang="en-US" altLang="ko-KR" sz="1200" dirty="0"/>
              <a:t>(^%_%^)</a:t>
            </a:r>
            <a:r>
              <a:rPr lang="ko-KR" altLang="en-US" sz="1200" dirty="0"/>
              <a:t>가</a:t>
            </a:r>
            <a:r>
              <a:rPr lang="en-US" altLang="ko-KR" sz="1200" dirty="0"/>
              <a:t> </a:t>
            </a:r>
            <a:r>
              <a:rPr lang="ko-KR" altLang="en-US" sz="1200" dirty="0"/>
              <a:t>아닌듯하다 </a:t>
            </a:r>
            <a:r>
              <a:rPr lang="ko-KR" altLang="en-US" sz="1200" dirty="0" err="1"/>
              <a:t>구분자를</a:t>
            </a:r>
            <a:r>
              <a:rPr lang="ko-KR" altLang="en-US" sz="1200" dirty="0"/>
              <a:t> </a:t>
            </a:r>
            <a:r>
              <a:rPr lang="en-US" altLang="ko-KR" sz="1200" dirty="0"/>
              <a:t>(%_%)</a:t>
            </a:r>
            <a:r>
              <a:rPr lang="ko-KR" altLang="en-US" sz="1200" dirty="0"/>
              <a:t>로 잡고 각 필드에서 </a:t>
            </a:r>
            <a:r>
              <a:rPr lang="en-US" altLang="ko-KR" sz="1200" dirty="0"/>
              <a:t>(^)</a:t>
            </a:r>
            <a:r>
              <a:rPr lang="ko-KR" altLang="en-US" sz="1200" dirty="0"/>
              <a:t>를 날리는 작업으로 처리하였고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빈칸등</a:t>
            </a:r>
            <a:r>
              <a:rPr lang="ko-KR" altLang="en-US" sz="1200" dirty="0"/>
              <a:t> 유효하지 않은 레코드가 있어서 단축코드는 </a:t>
            </a:r>
            <a:r>
              <a:rPr lang="en-US" altLang="ko-KR" sz="1200" dirty="0"/>
              <a:t>A</a:t>
            </a:r>
            <a:r>
              <a:rPr lang="ko-KR" altLang="en-US" sz="1200" dirty="0"/>
              <a:t>로 반드시 시작하기에 </a:t>
            </a:r>
            <a:r>
              <a:rPr lang="en-US" altLang="ko-KR" sz="1200" dirty="0"/>
              <a:t>A</a:t>
            </a:r>
            <a:r>
              <a:rPr lang="ko-KR" altLang="en-US" sz="1200" dirty="0"/>
              <a:t>를 잡아냈다</a:t>
            </a:r>
            <a:r>
              <a:rPr lang="en-US" altLang="ko-KR" sz="1200" dirty="0"/>
              <a:t>.(</a:t>
            </a:r>
            <a:r>
              <a:rPr lang="ko-KR" altLang="en-US" sz="1200" dirty="0"/>
              <a:t>여러분 </a:t>
            </a:r>
            <a:r>
              <a:rPr lang="ko-KR" altLang="en-US" sz="1200" dirty="0" err="1"/>
              <a:t>짬밥에</a:t>
            </a:r>
            <a:r>
              <a:rPr lang="ko-KR" altLang="en-US" sz="1200" dirty="0"/>
              <a:t> 지금 하기는 어려움</a:t>
            </a:r>
            <a:r>
              <a:rPr lang="en-US" altLang="ko-KR" sz="12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이 파일을 가지고 여러 실습을 </a:t>
            </a:r>
            <a:r>
              <a:rPr lang="ko-KR" altLang="en-US" sz="1200" dirty="0" err="1"/>
              <a:t>할것임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교수님 설명을 듣고 설명을 붙여서 그대로 코딩 </a:t>
            </a:r>
            <a:r>
              <a:rPr lang="en-US" altLang="ko-KR" sz="1200" dirty="0"/>
              <a:t>: </a:t>
            </a:r>
            <a:r>
              <a:rPr lang="ko-KR" altLang="en-US" sz="1200" dirty="0"/>
              <a:t>실습 별 둘</a:t>
            </a:r>
            <a:r>
              <a:rPr lang="en-US" altLang="ko-KR" sz="1200" dirty="0"/>
              <a:t>(</a:t>
            </a:r>
            <a:r>
              <a:rPr lang="ko-KR" altLang="en-US" sz="1200" dirty="0"/>
              <a:t>★ ★</a:t>
            </a:r>
            <a:r>
              <a:rPr lang="en-US" altLang="ko-KR" sz="1200" dirty="0"/>
              <a:t>)</a:t>
            </a:r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237" y="777809"/>
            <a:ext cx="6027696" cy="488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69520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2" y="648572"/>
            <a:ext cx="2944291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스스로 실습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StockDailyPrice.csv</a:t>
            </a:r>
            <a:r>
              <a:rPr lang="ko-KR" altLang="en-US" sz="1200" dirty="0"/>
              <a:t>파일로 앞으로 많은 실습을 할 것이다</a:t>
            </a:r>
            <a:r>
              <a:rPr lang="en-US" altLang="ko-KR" sz="1200" dirty="0"/>
              <a:t>.</a:t>
            </a:r>
            <a:endParaRPr lang="en-US" altLang="ko-KR" sz="1200" u="sng" dirty="0">
              <a:solidFill>
                <a:srgbClr val="FF0000"/>
              </a:solidFill>
            </a:endParaRP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실습</a:t>
            </a:r>
            <a:r>
              <a:rPr lang="en-US" altLang="ko-KR" sz="1200" dirty="0"/>
              <a:t>1) </a:t>
            </a:r>
            <a:r>
              <a:rPr lang="ko-KR" altLang="en-US" sz="1200" dirty="0"/>
              <a:t>삼성전자 </a:t>
            </a:r>
            <a:r>
              <a:rPr lang="en-US" altLang="ko-KR" sz="1200" dirty="0"/>
              <a:t>(</a:t>
            </a:r>
            <a:r>
              <a:rPr lang="ko-KR" altLang="en-US" sz="1200" dirty="0"/>
              <a:t>단축코드 </a:t>
            </a:r>
            <a:r>
              <a:rPr lang="en-US" altLang="ko-KR" sz="1200" dirty="0"/>
              <a:t>A005930) </a:t>
            </a:r>
            <a:r>
              <a:rPr lang="ko-KR" altLang="en-US" sz="1200" dirty="0"/>
              <a:t>만</a:t>
            </a:r>
            <a:r>
              <a:rPr lang="en-US" altLang="ko-KR" sz="1200" dirty="0"/>
              <a:t> </a:t>
            </a:r>
            <a:r>
              <a:rPr lang="ko-KR" altLang="en-US" sz="1200" dirty="0"/>
              <a:t>추출하여 </a:t>
            </a:r>
            <a:r>
              <a:rPr lang="en-US" altLang="ko-KR" sz="1200" dirty="0"/>
              <a:t>A005930.csv</a:t>
            </a:r>
            <a:r>
              <a:rPr lang="ko-KR" altLang="en-US" sz="1200" dirty="0"/>
              <a:t>파일을 만드시오</a:t>
            </a:r>
            <a:r>
              <a:rPr lang="en-US" altLang="ko-KR" sz="1200" dirty="0"/>
              <a:t>,</a:t>
            </a:r>
            <a:r>
              <a:rPr lang="ko-KR" altLang="en-US" sz="1200" dirty="0"/>
              <a:t> 실습 별 하나</a:t>
            </a:r>
            <a:r>
              <a:rPr lang="en-US" altLang="ko-KR" sz="1200" dirty="0"/>
              <a:t>(</a:t>
            </a:r>
            <a:r>
              <a:rPr lang="ko-KR" altLang="en-US" sz="1200" dirty="0"/>
              <a:t>★</a:t>
            </a:r>
            <a:r>
              <a:rPr lang="en-US" altLang="ko-KR" sz="12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실습</a:t>
            </a:r>
            <a:r>
              <a:rPr lang="en-US" altLang="ko-KR" sz="1200" dirty="0"/>
              <a:t>2) 20150112(</a:t>
            </a:r>
            <a:r>
              <a:rPr lang="ko-KR" altLang="en-US" sz="1200" dirty="0"/>
              <a:t>아무 특정일자나</a:t>
            </a:r>
            <a:r>
              <a:rPr lang="en-US" altLang="ko-KR" sz="1200" dirty="0"/>
              <a:t>)</a:t>
            </a:r>
            <a:r>
              <a:rPr lang="ko-KR" altLang="en-US" sz="1200" dirty="0"/>
              <a:t>의 모든 종목을 추출하여 파일을 만드시오</a:t>
            </a:r>
            <a:r>
              <a:rPr lang="en-US" altLang="ko-KR" sz="1200" dirty="0"/>
              <a:t>, </a:t>
            </a:r>
            <a:r>
              <a:rPr lang="ko-KR" altLang="en-US" sz="1200" dirty="0"/>
              <a:t>실습 별 하나</a:t>
            </a:r>
            <a:r>
              <a:rPr lang="en-US" altLang="ko-KR" sz="1200" dirty="0"/>
              <a:t>(</a:t>
            </a:r>
            <a:r>
              <a:rPr lang="ko-KR" altLang="en-US" sz="1200" dirty="0"/>
              <a:t>★</a:t>
            </a:r>
            <a:r>
              <a:rPr lang="en-US" altLang="ko-KR" sz="12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실습</a:t>
            </a:r>
            <a:r>
              <a:rPr lang="en-US" altLang="ko-KR" sz="1200" dirty="0"/>
              <a:t>3) </a:t>
            </a:r>
            <a:r>
              <a:rPr lang="ko-KR" altLang="en-US" sz="1200" dirty="0"/>
              <a:t>삼성전자의 주가에 대하여 </a:t>
            </a:r>
            <a:r>
              <a:rPr lang="en-US" altLang="ko-KR" sz="1200" dirty="0"/>
              <a:t>2015</a:t>
            </a:r>
            <a:r>
              <a:rPr lang="ko-KR" altLang="en-US" sz="1200" dirty="0"/>
              <a:t>년 최대값과 최소값을 구하시오</a:t>
            </a:r>
            <a:r>
              <a:rPr lang="en-US" altLang="ko-KR" sz="1200" dirty="0"/>
              <a:t>(</a:t>
            </a:r>
            <a:r>
              <a:rPr lang="ko-KR" altLang="en-US" sz="1200" dirty="0"/>
              <a:t>종가기준</a:t>
            </a:r>
            <a:r>
              <a:rPr lang="en-US" altLang="ko-KR" sz="1200" dirty="0"/>
              <a:t>), </a:t>
            </a:r>
            <a:r>
              <a:rPr lang="ko-KR" altLang="en-US" sz="1200" dirty="0"/>
              <a:t>실습 별 하나</a:t>
            </a:r>
            <a:r>
              <a:rPr lang="en-US" altLang="ko-KR" sz="1200" dirty="0"/>
              <a:t>(</a:t>
            </a:r>
            <a:r>
              <a:rPr lang="ko-KR" altLang="en-US" sz="1200" dirty="0"/>
              <a:t>★</a:t>
            </a:r>
            <a:r>
              <a:rPr lang="en-US" altLang="ko-KR" sz="1200" dirty="0"/>
              <a:t>)</a:t>
            </a:r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  - </a:t>
            </a:r>
            <a:r>
              <a:rPr lang="ko-KR" altLang="en-US" sz="1200" dirty="0"/>
              <a:t>당연히 최대값</a:t>
            </a:r>
            <a:r>
              <a:rPr lang="en-US" altLang="ko-KR" sz="1200" dirty="0"/>
              <a:t>,</a:t>
            </a:r>
            <a:r>
              <a:rPr lang="ko-KR" altLang="en-US" sz="1200" dirty="0"/>
              <a:t>최소값의 일자를 찾아야 하며</a:t>
            </a:r>
            <a:r>
              <a:rPr lang="en-US" altLang="ko-KR" sz="1200" dirty="0"/>
              <a:t>, </a:t>
            </a:r>
            <a:r>
              <a:rPr lang="ko-KR" altLang="en-US" sz="1200" dirty="0"/>
              <a:t>네이버 주가 등에서 찾아 해당일자가 진짜로 최대값인지 최소값인지 검증한 </a:t>
            </a:r>
            <a:r>
              <a:rPr lang="en-US" altLang="ko-KR" sz="1200" dirty="0"/>
              <a:t>ppt</a:t>
            </a:r>
            <a:r>
              <a:rPr lang="ko-KR" altLang="en-US" sz="1200" dirty="0"/>
              <a:t>를 제출하는 것이 일하는 기본 자세임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237" y="777809"/>
            <a:ext cx="6027696" cy="488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66839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23174" y="1078930"/>
            <a:ext cx="9061444" cy="50769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384560" y="779074"/>
            <a:ext cx="9498013" cy="286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dirty="0"/>
              <a:t>다음 제시된 내용을 자필로 작성하여 제출 하시오 </a:t>
            </a:r>
            <a:r>
              <a:rPr lang="en-US" altLang="ko-KR" dirty="0"/>
              <a:t>(</a:t>
            </a:r>
            <a:r>
              <a:rPr lang="ko-KR" altLang="en-US" dirty="0"/>
              <a:t>상단 학번</a:t>
            </a:r>
            <a:r>
              <a:rPr lang="en-US" altLang="ko-KR" dirty="0"/>
              <a:t>, </a:t>
            </a:r>
            <a:r>
              <a:rPr lang="ko-KR" altLang="en-US" dirty="0"/>
              <a:t>이름 기입</a:t>
            </a:r>
            <a:r>
              <a:rPr lang="en-US" altLang="ko-KR" dirty="0"/>
              <a:t>)</a:t>
            </a: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12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6. </a:t>
            </a:r>
            <a:r>
              <a:rPr lang="ko-KR" altLang="en-US" sz="1800" dirty="0"/>
              <a:t>정리하기</a:t>
            </a:r>
            <a:endParaRPr lang="en-US" altLang="ko-KR" dirty="0"/>
          </a:p>
        </p:txBody>
      </p:sp>
      <p:sp>
        <p:nvSpPr>
          <p:cNvPr id="2" name="직사각형 1"/>
          <p:cNvSpPr/>
          <p:nvPr/>
        </p:nvSpPr>
        <p:spPr>
          <a:xfrm>
            <a:off x="603094" y="1283413"/>
            <a:ext cx="8370167" cy="2292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앞에 이해</a:t>
            </a:r>
            <a:r>
              <a:rPr lang="en-US" altLang="ko-KR" sz="1100" dirty="0"/>
              <a:t>,</a:t>
            </a:r>
            <a:r>
              <a:rPr lang="ko-KR" altLang="en-US" sz="1100" dirty="0"/>
              <a:t>실습에 나온 실습을 다 하시고</a:t>
            </a:r>
            <a:r>
              <a:rPr lang="en-US" altLang="ko-KR" sz="1100" dirty="0"/>
              <a:t>….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다음에 대하여 특징적인 내용을 한 </a:t>
            </a:r>
            <a:r>
              <a:rPr lang="ko-KR" altLang="en-US" sz="1100" dirty="0" err="1"/>
              <a:t>두줄로</a:t>
            </a:r>
            <a:r>
              <a:rPr lang="ko-KR" altLang="en-US" sz="1100" dirty="0"/>
              <a:t> 요약하여</a:t>
            </a:r>
            <a:r>
              <a:rPr lang="en-US" altLang="ko-KR" sz="1100" dirty="0"/>
              <a:t> </a:t>
            </a:r>
            <a:r>
              <a:rPr lang="ko-KR" altLang="en-US" sz="1100" dirty="0"/>
              <a:t>간단히 필기하셔요</a:t>
            </a:r>
            <a:r>
              <a:rPr lang="en-US" altLang="ko-KR" sz="1100" dirty="0"/>
              <a:t>.</a:t>
            </a:r>
            <a:r>
              <a:rPr lang="ko-KR" altLang="en-US" sz="1100" dirty="0"/>
              <a:t>그리고 외우셔요</a:t>
            </a:r>
            <a:r>
              <a:rPr lang="en-US" altLang="ko-KR" sz="1100" dirty="0"/>
              <a:t>.(</a:t>
            </a:r>
            <a:r>
              <a:rPr lang="ko-KR" altLang="en-US" sz="1100" dirty="0"/>
              <a:t>핵심정리</a:t>
            </a:r>
            <a:r>
              <a:rPr lang="en-US" altLang="ko-KR" sz="1100" dirty="0"/>
              <a:t>)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 </a:t>
            </a:r>
          </a:p>
          <a:p>
            <a:pPr marL="228600" indent="-228600">
              <a:spcBef>
                <a:spcPct val="0"/>
              </a:spcBef>
              <a:buFontTx/>
              <a:buAutoNum type="arabicParenR"/>
            </a:pPr>
            <a:r>
              <a:rPr lang="ko-KR" altLang="en-US" sz="1100" dirty="0"/>
              <a:t>무식하게 읽고 쓰기</a:t>
            </a:r>
            <a:endParaRPr lang="en-US" altLang="ko-KR" sz="1100" dirty="0"/>
          </a:p>
          <a:p>
            <a:pPr marL="228600" indent="-228600">
              <a:spcBef>
                <a:spcPct val="0"/>
              </a:spcBef>
              <a:buFontTx/>
              <a:buAutoNum type="arabicParenR"/>
            </a:pPr>
            <a:r>
              <a:rPr lang="en-US" altLang="ko-KR" sz="1100" dirty="0"/>
              <a:t>Buffered</a:t>
            </a:r>
            <a:r>
              <a:rPr lang="ko-KR" altLang="en-US" sz="1100" dirty="0"/>
              <a:t> 읽고 쓰기</a:t>
            </a:r>
            <a:endParaRPr lang="en-US" altLang="ko-KR" sz="1100" dirty="0"/>
          </a:p>
          <a:p>
            <a:pPr marL="228600" indent="-228600">
              <a:spcBef>
                <a:spcPct val="0"/>
              </a:spcBef>
              <a:buFontTx/>
              <a:buAutoNum type="arabicParenR"/>
            </a:pPr>
            <a:r>
              <a:rPr lang="ko-KR" altLang="en-US" sz="1100" dirty="0"/>
              <a:t>실제 파일에 응용</a:t>
            </a:r>
            <a:endParaRPr lang="en-US" altLang="ko-KR" sz="11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100" dirty="0"/>
              <a:t>거리계산</a:t>
            </a:r>
            <a:endParaRPr lang="en-US" altLang="ko-KR" sz="1100" dirty="0"/>
          </a:p>
          <a:p>
            <a:pPr marL="228600" indent="-228600">
              <a:spcBef>
                <a:spcPct val="0"/>
              </a:spcBef>
              <a:buFontTx/>
              <a:buAutoNum type="arabicParenR"/>
            </a:pPr>
            <a:r>
              <a:rPr lang="ko-KR" altLang="en-US" sz="1100" dirty="0"/>
              <a:t>파일 분리</a:t>
            </a:r>
            <a:r>
              <a:rPr lang="en-US" altLang="ko-KR" sz="1100" dirty="0"/>
              <a:t>,</a:t>
            </a:r>
            <a:r>
              <a:rPr lang="ko-KR" altLang="en-US" sz="1100" dirty="0"/>
              <a:t>데이터 보정</a:t>
            </a:r>
            <a:endParaRPr lang="en-US" altLang="ko-KR" sz="1100" dirty="0"/>
          </a:p>
          <a:p>
            <a:pPr marL="228600" indent="-228600">
              <a:spcBef>
                <a:spcPct val="0"/>
              </a:spcBef>
              <a:buFontTx/>
              <a:buAutoNum type="arabicParenR"/>
            </a:pPr>
            <a:r>
              <a:rPr lang="ko-KR" altLang="en-US" sz="1100" dirty="0"/>
              <a:t>파일 </a:t>
            </a:r>
            <a:r>
              <a:rPr lang="ko-KR" altLang="en-US" sz="1100" dirty="0" err="1"/>
              <a:t>훝어보고</a:t>
            </a:r>
            <a:r>
              <a:rPr lang="ko-KR" altLang="en-US" sz="1100" dirty="0"/>
              <a:t> </a:t>
            </a:r>
            <a:r>
              <a:rPr lang="ko-KR" altLang="en-US" sz="1100" dirty="0" err="1"/>
              <a:t>감잡기</a:t>
            </a:r>
            <a:endParaRPr lang="en-US" altLang="ko-KR" sz="1100" dirty="0"/>
          </a:p>
          <a:p>
            <a:pPr marL="228600" indent="-228600">
              <a:spcBef>
                <a:spcPct val="0"/>
              </a:spcBef>
              <a:buFontTx/>
              <a:buAutoNum type="arabicParenR"/>
            </a:pPr>
            <a:r>
              <a:rPr lang="ko-KR" altLang="en-US" sz="1100" dirty="0"/>
              <a:t>감 잡은 내용으로 파일정제</a:t>
            </a:r>
            <a:endParaRPr lang="en-US" altLang="ko-KR" sz="1100" dirty="0"/>
          </a:p>
          <a:p>
            <a:pPr marL="228600" indent="-228600">
              <a:spcBef>
                <a:spcPct val="0"/>
              </a:spcBef>
              <a:buFontTx/>
              <a:buAutoNum type="arabicParenR"/>
            </a:pPr>
            <a:r>
              <a:rPr lang="ko-KR" altLang="en-US" sz="1100" dirty="0"/>
              <a:t>스스로 실습</a:t>
            </a:r>
            <a:endParaRPr lang="en-US" altLang="ko-KR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698444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13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7. </a:t>
            </a:r>
            <a:r>
              <a:rPr lang="ko-KR" altLang="en-US" sz="1800" dirty="0" err="1"/>
              <a:t>차시</a:t>
            </a:r>
            <a:r>
              <a:rPr lang="ko-KR" altLang="en-US" sz="1800" dirty="0"/>
              <a:t> 예고</a:t>
            </a:r>
            <a:endParaRPr lang="en-US" altLang="ko-KR" dirty="0"/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653608" y="995898"/>
            <a:ext cx="7450138" cy="1081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sp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차시</a:t>
            </a:r>
            <a:r>
              <a:rPr lang="ko-KR" altLang="en-US" sz="1600" dirty="0"/>
              <a:t> 준비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XML ?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JSON ?</a:t>
            </a:r>
          </a:p>
        </p:txBody>
      </p:sp>
    </p:spTree>
    <p:extLst>
      <p:ext uri="{BB962C8B-B14F-4D97-AF65-F5344CB8AC3E}">
        <p14:creationId xmlns:p14="http://schemas.microsoft.com/office/powerpoint/2010/main" val="4091224238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4">
      <a:dk1>
        <a:srgbClr val="000000"/>
      </a:dk1>
      <a:lt1>
        <a:srgbClr val="FFFFFF"/>
      </a:lt1>
      <a:dk2>
        <a:srgbClr val="000066"/>
      </a:dk2>
      <a:lt2>
        <a:srgbClr val="808080"/>
      </a:lt2>
      <a:accent1>
        <a:srgbClr val="194293"/>
      </a:accent1>
      <a:accent2>
        <a:srgbClr val="9999CC"/>
      </a:accent2>
      <a:accent3>
        <a:srgbClr val="FFFFFF"/>
      </a:accent3>
      <a:accent4>
        <a:srgbClr val="000000"/>
      </a:accent4>
      <a:accent5>
        <a:srgbClr val="ABB0C8"/>
      </a:accent5>
      <a:accent6>
        <a:srgbClr val="8A8AB9"/>
      </a:accent6>
      <a:hlink>
        <a:srgbClr val="CCCCE6"/>
      </a:hlink>
      <a:folHlink>
        <a:srgbClr val="B2B2B2"/>
      </a:folHlink>
    </a:clrScheme>
    <a:fontScheme name="1_Default Design">
      <a:majorFont>
        <a:latin typeface="가는각진제목체"/>
        <a:ea typeface="가는각진제목체"/>
        <a:cs typeface=""/>
      </a:majorFont>
      <a:minorFont>
        <a:latin typeface="가는각진제목체"/>
        <a:ea typeface="가는각진제목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bg2"/>
          </a:buClr>
          <a:buSzPct val="100000"/>
          <a:buFontTx/>
          <a:buChar char="•"/>
          <a:tabLst/>
          <a:defRPr kumimoji="0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가는각진제목체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bg2"/>
          </a:buClr>
          <a:buSzPct val="100000"/>
          <a:buFontTx/>
          <a:buChar char="•"/>
          <a:tabLst/>
          <a:defRPr kumimoji="0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가는각진제목체" pitchFamily="18" charset="-127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5250"/>
        </a:dk2>
        <a:lt2>
          <a:srgbClr val="808080"/>
        </a:lt2>
        <a:accent1>
          <a:srgbClr val="008080"/>
        </a:accent1>
        <a:accent2>
          <a:srgbClr val="1CB094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189F86"/>
        </a:accent6>
        <a:hlink>
          <a:srgbClr val="99D1C2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2F3C7"/>
        </a:lt1>
        <a:dk2>
          <a:srgbClr val="333300"/>
        </a:dk2>
        <a:lt2>
          <a:srgbClr val="808080"/>
        </a:lt2>
        <a:accent1>
          <a:srgbClr val="747660"/>
        </a:accent1>
        <a:accent2>
          <a:srgbClr val="A99B69"/>
        </a:accent2>
        <a:accent3>
          <a:srgbClr val="F7F8E0"/>
        </a:accent3>
        <a:accent4>
          <a:srgbClr val="000000"/>
        </a:accent4>
        <a:accent5>
          <a:srgbClr val="BCBDB6"/>
        </a:accent5>
        <a:accent6>
          <a:srgbClr val="998C5E"/>
        </a:accent6>
        <a:hlink>
          <a:srgbClr val="959167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194293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BB0C8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4C0026"/>
        </a:dk2>
        <a:lt2>
          <a:srgbClr val="808080"/>
        </a:lt2>
        <a:accent1>
          <a:srgbClr val="7C1C45"/>
        </a:accent1>
        <a:accent2>
          <a:srgbClr val="C15D75"/>
        </a:accent2>
        <a:accent3>
          <a:srgbClr val="FFFFFF"/>
        </a:accent3>
        <a:accent4>
          <a:srgbClr val="000000"/>
        </a:accent4>
        <a:accent5>
          <a:srgbClr val="BFABB0"/>
        </a:accent5>
        <a:accent6>
          <a:srgbClr val="AF5369"/>
        </a:accent6>
        <a:hlink>
          <a:srgbClr val="C29D8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돋움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Default Design">
  <a:themeElements>
    <a:clrScheme name="3_Default Design 4">
      <a:dk1>
        <a:srgbClr val="000000"/>
      </a:dk1>
      <a:lt1>
        <a:srgbClr val="FFFFFF"/>
      </a:lt1>
      <a:dk2>
        <a:srgbClr val="000066"/>
      </a:dk2>
      <a:lt2>
        <a:srgbClr val="808080"/>
      </a:lt2>
      <a:accent1>
        <a:srgbClr val="194293"/>
      </a:accent1>
      <a:accent2>
        <a:srgbClr val="9999CC"/>
      </a:accent2>
      <a:accent3>
        <a:srgbClr val="FFFFFF"/>
      </a:accent3>
      <a:accent4>
        <a:srgbClr val="000000"/>
      </a:accent4>
      <a:accent5>
        <a:srgbClr val="ABB0C8"/>
      </a:accent5>
      <a:accent6>
        <a:srgbClr val="8A8AB9"/>
      </a:accent6>
      <a:hlink>
        <a:srgbClr val="CCCCE6"/>
      </a:hlink>
      <a:folHlink>
        <a:srgbClr val="B2B2B2"/>
      </a:folHlink>
    </a:clrScheme>
    <a:fontScheme name="3_Default Design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5250"/>
        </a:dk2>
        <a:lt2>
          <a:srgbClr val="808080"/>
        </a:lt2>
        <a:accent1>
          <a:srgbClr val="008080"/>
        </a:accent1>
        <a:accent2>
          <a:srgbClr val="1CB094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189F86"/>
        </a:accent6>
        <a:hlink>
          <a:srgbClr val="99D1C2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2F3C7"/>
        </a:lt1>
        <a:dk2>
          <a:srgbClr val="333300"/>
        </a:dk2>
        <a:lt2>
          <a:srgbClr val="808080"/>
        </a:lt2>
        <a:accent1>
          <a:srgbClr val="747660"/>
        </a:accent1>
        <a:accent2>
          <a:srgbClr val="A99B69"/>
        </a:accent2>
        <a:accent3>
          <a:srgbClr val="F7F8E0"/>
        </a:accent3>
        <a:accent4>
          <a:srgbClr val="000000"/>
        </a:accent4>
        <a:accent5>
          <a:srgbClr val="BCBDB6"/>
        </a:accent5>
        <a:accent6>
          <a:srgbClr val="998C5E"/>
        </a:accent6>
        <a:hlink>
          <a:srgbClr val="959167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194293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BB0C8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FF"/>
        </a:lt1>
        <a:dk2>
          <a:srgbClr val="4C0026"/>
        </a:dk2>
        <a:lt2>
          <a:srgbClr val="808080"/>
        </a:lt2>
        <a:accent1>
          <a:srgbClr val="7C1C45"/>
        </a:accent1>
        <a:accent2>
          <a:srgbClr val="C15D75"/>
        </a:accent2>
        <a:accent3>
          <a:srgbClr val="FFFFFF"/>
        </a:accent3>
        <a:accent4>
          <a:srgbClr val="000000"/>
        </a:accent4>
        <a:accent5>
          <a:srgbClr val="BFABB0"/>
        </a:accent5>
        <a:accent6>
          <a:srgbClr val="AF5369"/>
        </a:accent6>
        <a:hlink>
          <a:srgbClr val="C29D8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49003</TotalTime>
  <Words>955</Words>
  <Application>Microsoft Office PowerPoint</Application>
  <PresentationFormat>A4 용지(210x297mm)</PresentationFormat>
  <Paragraphs>131</Paragraphs>
  <Slides>14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14</vt:i4>
      </vt:variant>
    </vt:vector>
  </HeadingPairs>
  <TitlesOfParts>
    <vt:vector size="25" baseType="lpstr">
      <vt:lpstr>가는각진제목체</vt:lpstr>
      <vt:lpstr>굴림</vt:lpstr>
      <vt:lpstr>돋움</vt:lpstr>
      <vt:lpstr>맑은 고딕</vt:lpstr>
      <vt:lpstr>맑은 고딕</vt:lpstr>
      <vt:lpstr>Arial</vt:lpstr>
      <vt:lpstr>Cambria Math</vt:lpstr>
      <vt:lpstr>Wingdings</vt:lpstr>
      <vt:lpstr>1_Default Design</vt:lpstr>
      <vt:lpstr>기본 디자인</vt:lpstr>
      <vt:lpstr>3_Default Design</vt:lpstr>
      <vt:lpstr>8. DB 다루기 전에 File을 다루어 보자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메리츠화재 IT본부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Logo &amp; Slogan</dc:title>
  <dc:creator>홍필두</dc:creator>
  <cp:lastModifiedBy>필두2 홍</cp:lastModifiedBy>
  <cp:revision>3018</cp:revision>
  <cp:lastPrinted>2015-10-28T04:44:44Z</cp:lastPrinted>
  <dcterms:created xsi:type="dcterms:W3CDTF">2003-10-22T07:02:37Z</dcterms:created>
  <dcterms:modified xsi:type="dcterms:W3CDTF">2025-01-20T23:55:17Z</dcterms:modified>
</cp:coreProperties>
</file>