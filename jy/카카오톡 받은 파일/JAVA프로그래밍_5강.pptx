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17"/>
  </p:notesMasterIdLst>
  <p:sldIdLst>
    <p:sldId id="694" r:id="rId4"/>
    <p:sldId id="961" r:id="rId5"/>
    <p:sldId id="977" r:id="rId6"/>
    <p:sldId id="978" r:id="rId7"/>
    <p:sldId id="1096" r:id="rId8"/>
    <p:sldId id="1098" r:id="rId9"/>
    <p:sldId id="1099" r:id="rId10"/>
    <p:sldId id="1100" r:id="rId11"/>
    <p:sldId id="1101" r:id="rId12"/>
    <p:sldId id="1103" r:id="rId13"/>
    <p:sldId id="1102" r:id="rId14"/>
    <p:sldId id="1079" r:id="rId15"/>
    <p:sldId id="984" r:id="rId16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3696">
          <p15:clr>
            <a:srgbClr val="A4A3A4"/>
          </p15:clr>
        </p15:guide>
        <p15:guide id="4" orient="horz" pos="568">
          <p15:clr>
            <a:srgbClr val="A4A3A4"/>
          </p15:clr>
        </p15:guide>
        <p15:guide id="5" orient="horz" pos="1140">
          <p15:clr>
            <a:srgbClr val="A4A3A4"/>
          </p15:clr>
        </p15:guide>
        <p15:guide id="6" orient="horz" pos="766">
          <p15:clr>
            <a:srgbClr val="A4A3A4"/>
          </p15:clr>
        </p15:guide>
        <p15:guide id="7" pos="132">
          <p15:clr>
            <a:srgbClr val="A4A3A4"/>
          </p15:clr>
        </p15:guide>
        <p15:guide id="8" pos="6117">
          <p15:clr>
            <a:srgbClr val="A4A3A4"/>
          </p15:clr>
        </p15:guide>
        <p15:guide id="9" pos="1787">
          <p15:clr>
            <a:srgbClr val="A4A3A4"/>
          </p15:clr>
        </p15:guide>
        <p15:guide id="10" pos="308">
          <p15:clr>
            <a:srgbClr val="A4A3A4"/>
          </p15:clr>
        </p15:guide>
        <p15:guide id="11" pos="4461">
          <p15:clr>
            <a:srgbClr val="A4A3A4"/>
          </p15:clr>
        </p15:guide>
        <p15:guide id="12" pos="867">
          <p15:clr>
            <a:srgbClr val="A4A3A4"/>
          </p15:clr>
        </p15:guide>
        <p15:guide id="13" pos="31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3300"/>
    <a:srgbClr val="FFFF99"/>
    <a:srgbClr val="FFFF66"/>
    <a:srgbClr val="4C6C46"/>
    <a:srgbClr val="679220"/>
    <a:srgbClr val="0000FF"/>
    <a:srgbClr val="51743E"/>
    <a:srgbClr val="CFD87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8487" autoAdjust="0"/>
  </p:normalViewPr>
  <p:slideViewPr>
    <p:cSldViewPr snapToGrid="0" snapToObjects="1">
      <p:cViewPr varScale="1">
        <p:scale>
          <a:sx n="95" d="100"/>
          <a:sy n="95" d="100"/>
        </p:scale>
        <p:origin x="1700" y="44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7"/>
        <p:guide pos="1787"/>
        <p:guide pos="308"/>
        <p:guide pos="4461"/>
        <p:guide pos="867"/>
        <p:guide pos="3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2196" y="-114"/>
      </p:cViewPr>
      <p:guideLst>
        <p:guide orient="horz" pos="3128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7EECB142-BC24-4C58-9C76-5A77FE03AD30}"/>
    <pc:docChg chg="modSld">
      <pc:chgData name="필두2 홍" userId="0a0ee9c44b803ff9" providerId="LiveId" clId="{7EECB142-BC24-4C58-9C76-5A77FE03AD30}" dt="2025-01-03T05:37:48.569" v="191" actId="20577"/>
      <pc:docMkLst>
        <pc:docMk/>
      </pc:docMkLst>
      <pc:sldChg chg="addSp modSp mod">
        <pc:chgData name="필두2 홍" userId="0a0ee9c44b803ff9" providerId="LiveId" clId="{7EECB142-BC24-4C58-9C76-5A77FE03AD30}" dt="2025-01-03T05:37:48.569" v="191" actId="20577"/>
        <pc:sldMkLst>
          <pc:docMk/>
          <pc:sldMk cId="0" sldId="694"/>
        </pc:sldMkLst>
        <pc:spChg chg="add mod">
          <ac:chgData name="필두2 홍" userId="0a0ee9c44b803ff9" providerId="LiveId" clId="{7EECB142-BC24-4C58-9C76-5A77FE03AD30}" dt="2025-01-03T05:10:47.295" v="131" actId="20577"/>
          <ac:spMkLst>
            <pc:docMk/>
            <pc:sldMk cId="0" sldId="694"/>
            <ac:spMk id="4" creationId="{CC9BDA42-0F99-E98A-72F3-FF7614A383D8}"/>
          </ac:spMkLst>
        </pc:spChg>
        <pc:spChg chg="mod">
          <ac:chgData name="필두2 홍" userId="0a0ee9c44b803ff9" providerId="LiveId" clId="{7EECB142-BC24-4C58-9C76-5A77FE03AD30}" dt="2025-01-03T05:10:11.517" v="19" actId="20577"/>
          <ac:spMkLst>
            <pc:docMk/>
            <pc:sldMk cId="0" sldId="694"/>
            <ac:spMk id="7" creationId="{00000000-0000-0000-0000-000000000000}"/>
          </ac:spMkLst>
        </pc:spChg>
        <pc:spChg chg="mod">
          <ac:chgData name="필두2 홍" userId="0a0ee9c44b803ff9" providerId="LiveId" clId="{7EECB142-BC24-4C58-9C76-5A77FE03AD30}" dt="2025-01-03T05:37:48.569" v="191" actId="20577"/>
          <ac:spMkLst>
            <pc:docMk/>
            <pc:sldMk cId="0" sldId="694"/>
            <ac:spMk id="3074" creationId="{00000000-0000-0000-0000-000000000000}"/>
          </ac:spMkLst>
        </pc:spChg>
      </pc:sldChg>
    </pc:docChg>
  </pc:docChgLst>
  <pc:docChgLst>
    <pc:chgData name="홍필두" userId="a613eac9-2ee1-4936-8d5c-6f3d69f7b146" providerId="ADAL" clId="{89CE7FEF-4D45-456A-B17B-86890BDCDD4B}"/>
    <pc:docChg chg="custSel addSld modSld sldOrd">
      <pc:chgData name="홍필두" userId="a613eac9-2ee1-4936-8d5c-6f3d69f7b146" providerId="ADAL" clId="{89CE7FEF-4D45-456A-B17B-86890BDCDD4B}" dt="2021-03-21T13:57:47.349" v="461" actId="20577"/>
      <pc:docMkLst>
        <pc:docMk/>
      </pc:docMkLst>
      <pc:sldChg chg="modSp mod">
        <pc:chgData name="홍필두" userId="a613eac9-2ee1-4936-8d5c-6f3d69f7b146" providerId="ADAL" clId="{89CE7FEF-4D45-456A-B17B-86890BDCDD4B}" dt="2021-03-21T13:57:47.349" v="461" actId="20577"/>
        <pc:sldMkLst>
          <pc:docMk/>
          <pc:sldMk cId="1599394229" sldId="1079"/>
        </pc:sldMkLst>
      </pc:sldChg>
      <pc:sldChg chg="addSp delSp modSp mod">
        <pc:chgData name="홍필두" userId="a613eac9-2ee1-4936-8d5c-6f3d69f7b146" providerId="ADAL" clId="{89CE7FEF-4D45-456A-B17B-86890BDCDD4B}" dt="2021-03-21T13:56:46.164" v="459" actId="20577"/>
        <pc:sldMkLst>
          <pc:docMk/>
          <pc:sldMk cId="793247335" sldId="1102"/>
        </pc:sldMkLst>
      </pc:sldChg>
      <pc:sldChg chg="delSp add mod ord">
        <pc:chgData name="홍필두" userId="a613eac9-2ee1-4936-8d5c-6f3d69f7b146" providerId="ADAL" clId="{89CE7FEF-4D45-456A-B17B-86890BDCDD4B}" dt="2021-03-21T13:51:24.591" v="7"/>
        <pc:sldMkLst>
          <pc:docMk/>
          <pc:sldMk cId="2899642225" sldId="1103"/>
        </pc:sldMkLst>
      </pc:sldChg>
    </pc:docChg>
  </pc:docChgLst>
  <pc:docChgLst>
    <pc:chgData name="필두2 홍" userId="0a0ee9c44b803ff9" providerId="LiveId" clId="{3826EA0A-5B7C-4E38-B5CC-D4237347F8E4}"/>
    <pc:docChg chg="custSel modSld">
      <pc:chgData name="필두2 홍" userId="0a0ee9c44b803ff9" providerId="LiveId" clId="{3826EA0A-5B7C-4E38-B5CC-D4237347F8E4}" dt="2024-03-12T03:52:13.069" v="215" actId="20577"/>
      <pc:docMkLst>
        <pc:docMk/>
      </pc:docMkLst>
      <pc:sldChg chg="modSp mod">
        <pc:chgData name="필두2 홍" userId="0a0ee9c44b803ff9" providerId="LiveId" clId="{3826EA0A-5B7C-4E38-B5CC-D4237347F8E4}" dt="2024-03-12T03:52:13.069" v="215" actId="20577"/>
        <pc:sldMkLst>
          <pc:docMk/>
          <pc:sldMk cId="0" sldId="694"/>
        </pc:sldMkLst>
      </pc:sldChg>
      <pc:sldChg chg="modSp mod">
        <pc:chgData name="필두2 홍" userId="0a0ee9c44b803ff9" providerId="LiveId" clId="{3826EA0A-5B7C-4E38-B5CC-D4237347F8E4}" dt="2024-03-12T02:30:01.681" v="206" actId="20577"/>
        <pc:sldMkLst>
          <pc:docMk/>
          <pc:sldMk cId="4091224238" sldId="984"/>
        </pc:sldMkLst>
      </pc:sldChg>
      <pc:sldChg chg="modSp mod">
        <pc:chgData name="필두2 홍" userId="0a0ee9c44b803ff9" providerId="LiveId" clId="{3826EA0A-5B7C-4E38-B5CC-D4237347F8E4}" dt="2024-03-12T02:29:12.608" v="137" actId="313"/>
        <pc:sldMkLst>
          <pc:docMk/>
          <pc:sldMk cId="2899642225" sldId="1103"/>
        </pc:sldMkLst>
      </pc:sldChg>
    </pc:docChg>
  </pc:docChgLst>
  <pc:docChgLst>
    <pc:chgData name="홍필두" userId="a613eac9-2ee1-4936-8d5c-6f3d69f7b146" providerId="ADAL" clId="{A2E7A786-A14F-4D37-9225-2046DF441663}"/>
    <pc:docChg chg="undo custSel modSld modMainMaster">
      <pc:chgData name="홍필두" userId="a613eac9-2ee1-4936-8d5c-6f3d69f7b146" providerId="ADAL" clId="{A2E7A786-A14F-4D37-9225-2046DF441663}" dt="2021-03-18T00:48:01.469" v="423"/>
      <pc:docMkLst>
        <pc:docMk/>
      </pc:docMkLst>
      <pc:sldChg chg="addSp delSp modSp mod">
        <pc:chgData name="홍필두" userId="a613eac9-2ee1-4936-8d5c-6f3d69f7b146" providerId="ADAL" clId="{A2E7A786-A14F-4D37-9225-2046DF441663}" dt="2021-03-18T00:48:01.469" v="423"/>
        <pc:sldMkLst>
          <pc:docMk/>
          <pc:sldMk cId="0" sldId="694"/>
        </pc:sldMkLst>
      </pc:sldChg>
      <pc:sldChg chg="modSp mod">
        <pc:chgData name="홍필두" userId="a613eac9-2ee1-4936-8d5c-6f3d69f7b146" providerId="ADAL" clId="{A2E7A786-A14F-4D37-9225-2046DF441663}" dt="2021-03-18T00:44:10.348" v="131" actId="313"/>
        <pc:sldMkLst>
          <pc:docMk/>
          <pc:sldMk cId="2553864270" sldId="977"/>
        </pc:sldMkLst>
      </pc:sldChg>
      <pc:sldChg chg="modSp mod">
        <pc:chgData name="홍필두" userId="a613eac9-2ee1-4936-8d5c-6f3d69f7b146" providerId="ADAL" clId="{A2E7A786-A14F-4D37-9225-2046DF441663}" dt="2021-03-18T00:45:49.934" v="412"/>
        <pc:sldMkLst>
          <pc:docMk/>
          <pc:sldMk cId="4091224238" sldId="984"/>
        </pc:sldMkLst>
      </pc:sldChg>
      <pc:sldChg chg="delSp modSp mod">
        <pc:chgData name="홍필두" userId="a613eac9-2ee1-4936-8d5c-6f3d69f7b146" providerId="ADAL" clId="{A2E7A786-A14F-4D37-9225-2046DF441663}" dt="2021-03-18T00:45:33.049" v="364" actId="1076"/>
        <pc:sldMkLst>
          <pc:docMk/>
          <pc:sldMk cId="1599394229" sldId="1079"/>
        </pc:sldMkLst>
      </pc:sldChg>
      <pc:sldChg chg="modSp mod">
        <pc:chgData name="홍필두" userId="a613eac9-2ee1-4936-8d5c-6f3d69f7b146" providerId="ADAL" clId="{A2E7A786-A14F-4D37-9225-2046DF441663}" dt="2021-03-18T00:46:08.918" v="416" actId="20577"/>
        <pc:sldMkLst>
          <pc:docMk/>
          <pc:sldMk cId="1298841685" sldId="1099"/>
        </pc:sldMkLst>
      </pc:sldChg>
      <pc:sldMasterChg chg="addSp delSp modSp mod">
        <pc:chgData name="홍필두" userId="a613eac9-2ee1-4936-8d5c-6f3d69f7b146" providerId="ADAL" clId="{A2E7A786-A14F-4D37-9225-2046DF441663}" dt="2021-03-18T00:47:27.114" v="419"/>
        <pc:sldMasterMkLst>
          <pc:docMk/>
          <pc:sldMasterMk cId="0" sldId="2147483659"/>
        </pc:sldMasterMkLst>
      </pc:sldMasterChg>
      <pc:sldMasterChg chg="addSp delSp modSp mod">
        <pc:chgData name="홍필두" userId="a613eac9-2ee1-4936-8d5c-6f3d69f7b146" providerId="ADAL" clId="{A2E7A786-A14F-4D37-9225-2046DF441663}" dt="2021-03-18T00:47:43.137" v="421"/>
        <pc:sldMasterMkLst>
          <pc:docMk/>
          <pc:sldMasterMk cId="0" sldId="214748400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781801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4243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377900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061479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036231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566867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89449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5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0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AC9A-A87D-4C3D-B543-30D7915A500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0382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3" y="6434704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17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38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341438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100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0"/>
            <a:ext cx="9504363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1000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3" y="85725"/>
            <a:ext cx="8496300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b="1" dirty="0">
                  <a:solidFill>
                    <a:srgbClr val="724FB7"/>
                  </a:solidFill>
                </a:rPr>
                <a:t> </a:t>
              </a:r>
              <a:endParaRPr lang="ko-KR" altLang="en-US" b="1" dirty="0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F1D14B5-3EE7-4936-88BA-5512D2D532A1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iamhpd@kopo.ac.kr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CF2D38F-4AAD-4237-AAB5-09DD8CBC27A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998137" y="6544059"/>
            <a:ext cx="779276" cy="3185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  <p:sldLayoutId id="2147484035" r:id="rId12"/>
  </p:sldLayoutIdLst>
  <p:hf hdr="0" ftr="0" dt="0"/>
  <p:txStyles>
    <p:titleStyle>
      <a:lvl1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+mj-lt"/>
          <a:ea typeface="+mj-ea"/>
          <a:cs typeface="+mj-cs"/>
        </a:defRPr>
      </a:lvl1pPr>
      <a:lvl2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631597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263192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894789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526386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65138" indent="-265138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3">
          <a:solidFill>
            <a:schemeClr val="tx1"/>
          </a:solidFill>
          <a:latin typeface="+mn-lt"/>
          <a:ea typeface="+mn-ea"/>
          <a:cs typeface="+mn-cs"/>
        </a:defRPr>
      </a:lvl1pPr>
      <a:lvl2pPr marL="784559" indent="-25583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60">
          <a:solidFill>
            <a:schemeClr val="tx1"/>
          </a:solidFill>
          <a:latin typeface="+mn-lt"/>
          <a:ea typeface="+mn-ea"/>
        </a:defRPr>
      </a:lvl2pPr>
      <a:lvl3pPr marL="1424920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44">
          <a:solidFill>
            <a:schemeClr val="tx1"/>
          </a:solidFill>
          <a:latin typeface="+mn-lt"/>
          <a:ea typeface="+mn-ea"/>
        </a:defRPr>
      </a:lvl3pPr>
      <a:lvl4pPr marL="1913331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53">
          <a:solidFill>
            <a:schemeClr val="tx1"/>
          </a:solidFill>
          <a:latin typeface="+mn-lt"/>
          <a:ea typeface="+mn-ea"/>
        </a:defRPr>
      </a:lvl4pPr>
      <a:lvl5pPr marL="2403292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5pPr>
      <a:lvl6pPr marL="303517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6pPr>
      <a:lvl7pPr marL="3666768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7pPr>
      <a:lvl8pPr marL="4298365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8pPr>
      <a:lvl9pPr marL="492996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1pPr>
      <a:lvl2pPr marL="631597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9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3pPr>
      <a:lvl4pPr marL="1894789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4pPr>
      <a:lvl5pPr marL="2526386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5pPr>
      <a:lvl6pPr marL="315798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6pPr>
      <a:lvl7pPr marL="3789578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7pPr>
      <a:lvl8pPr marL="4421175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8pPr>
      <a:lvl9pPr marL="5052771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0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0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2ED2D6-5017-4F7A-B097-20D855FF400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8191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763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7335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907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utube.com/@survcode" TargetMode="External"/><Relationship Id="rId2" Type="http://schemas.openxmlformats.org/officeDocument/2006/relationships/hyperlink" Target="https://youtu.be/6tcUXX9PgEc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400" dirty="0"/>
              <a:t>5. </a:t>
            </a:r>
            <a:r>
              <a:rPr lang="ko-KR" altLang="en-US" sz="2400" dirty="0"/>
              <a:t>고객에게 리포트를 제공하자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370868" y="3259723"/>
            <a:ext cx="32363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https://youtu.be/6tcUXX9PgEc</a:t>
            </a:r>
            <a:r>
              <a:rPr lang="ko-KR" altLang="en-US"/>
              <a:t> 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5126830" y="5186858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3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 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830" y="5204468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9BDA42-0F99-E98A-72F3-FF7614A383D8}"/>
              </a:ext>
            </a:extLst>
          </p:cNvPr>
          <p:cNvSpPr txBox="1"/>
          <p:nvPr/>
        </p:nvSpPr>
        <p:spPr>
          <a:xfrm>
            <a:off x="2475940" y="3921624"/>
            <a:ext cx="4951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2025-&gt; </a:t>
            </a:r>
            <a:r>
              <a:rPr kumimoji="1" lang="ko-KR" altLang="en-US" dirty="0" err="1">
                <a:solidFill>
                  <a:schemeClr val="tx1"/>
                </a:solidFill>
              </a:rPr>
              <a:t>바꾼거</a:t>
            </a:r>
            <a:r>
              <a:rPr kumimoji="1" lang="ko-KR" altLang="en-US" dirty="0">
                <a:solidFill>
                  <a:schemeClr val="tx1"/>
                </a:solidFill>
              </a:rPr>
              <a:t> 없음</a:t>
            </a: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 err="1">
                <a:solidFill>
                  <a:schemeClr val="tx1"/>
                </a:solidFill>
              </a:rPr>
              <a:t>이마트영수증은</a:t>
            </a:r>
            <a:r>
              <a:rPr kumimoji="1" lang="ko-KR" altLang="en-US" dirty="0">
                <a:solidFill>
                  <a:schemeClr val="tx1"/>
                </a:solidFill>
              </a:rPr>
              <a:t> 현재 </a:t>
            </a:r>
            <a:r>
              <a:rPr kumimoji="1" lang="ko-KR" altLang="en-US" dirty="0" err="1">
                <a:solidFill>
                  <a:schemeClr val="tx1"/>
                </a:solidFill>
              </a:rPr>
              <a:t>포멧그대로</a:t>
            </a:r>
            <a:r>
              <a:rPr kumimoji="1" lang="en-US" altLang="ko-KR" dirty="0">
                <a:solidFill>
                  <a:schemeClr val="tx1"/>
                </a:solidFill>
              </a:rPr>
              <a:t>.. </a:t>
            </a:r>
            <a:r>
              <a:rPr kumimoji="1" lang="ko-KR" altLang="en-US" dirty="0">
                <a:solidFill>
                  <a:schemeClr val="tx1"/>
                </a:solidFill>
              </a:rPr>
              <a:t>모바일 영수증화</a:t>
            </a:r>
            <a:r>
              <a:rPr kumimoji="1" lang="en-US" altLang="ko-KR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800" dirty="0">
                <a:solidFill>
                  <a:schemeClr val="bg1"/>
                </a:solidFill>
              </a:rPr>
              <a:t>  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893879" y="864447"/>
            <a:ext cx="6558501" cy="56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2000" dirty="0"/>
              <a:t>1.</a:t>
            </a:r>
            <a:r>
              <a:rPr lang="ko-KR" altLang="en-US" sz="2000" dirty="0"/>
              <a:t>스스로 실습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1) </a:t>
            </a:r>
            <a:r>
              <a:rPr lang="ko-KR" altLang="en-US" sz="1200" dirty="0"/>
              <a:t>구구단 인쇄 </a:t>
            </a:r>
            <a:r>
              <a:rPr lang="en-US" altLang="ko-KR" sz="1200" dirty="0"/>
              <a:t>(</a:t>
            </a:r>
            <a:r>
              <a:rPr lang="ko-KR" altLang="en-US" sz="1200" dirty="0"/>
              <a:t>몸풀기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2) </a:t>
            </a:r>
            <a:r>
              <a:rPr lang="ko-KR" altLang="en-US" sz="1200" dirty="0"/>
              <a:t>달력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3) </a:t>
            </a:r>
            <a:r>
              <a:rPr lang="ko-KR" altLang="en-US" sz="1200" dirty="0"/>
              <a:t>영수증 </a:t>
            </a:r>
            <a:r>
              <a:rPr lang="en-US" altLang="ko-KR" sz="1200" dirty="0"/>
              <a:t>(</a:t>
            </a:r>
            <a:r>
              <a:rPr lang="ko-KR" altLang="en-US" sz="1200" dirty="0"/>
              <a:t>단순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4) </a:t>
            </a:r>
            <a:r>
              <a:rPr lang="ko-KR" altLang="en-US" sz="1200" dirty="0"/>
              <a:t>영수증 </a:t>
            </a:r>
            <a:r>
              <a:rPr lang="en-US" altLang="ko-KR" sz="1200" dirty="0"/>
              <a:t>(</a:t>
            </a:r>
            <a:r>
              <a:rPr lang="ko-KR" altLang="en-US" sz="1200" dirty="0"/>
              <a:t>항목</a:t>
            </a:r>
            <a:r>
              <a:rPr lang="en-US" altLang="ko-KR" sz="1200" dirty="0"/>
              <a:t>2</a:t>
            </a:r>
            <a:r>
              <a:rPr lang="ko-KR" altLang="en-US" sz="1200" dirty="0"/>
              <a:t>개</a:t>
            </a:r>
            <a:r>
              <a:rPr lang="en-US" altLang="ko-KR" sz="12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5) </a:t>
            </a:r>
            <a:r>
              <a:rPr lang="ko-KR" altLang="en-US" sz="1200" dirty="0"/>
              <a:t>영수증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이마트</a:t>
            </a:r>
            <a:r>
              <a:rPr lang="en-US" altLang="ko-KR" sz="1200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100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3018903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800" dirty="0"/>
              <a:t>주요내용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1. </a:t>
            </a:r>
            <a:r>
              <a:rPr lang="ko-KR" altLang="en-US" sz="1800" dirty="0"/>
              <a:t>강의 들어가기</a:t>
            </a:r>
            <a:endParaRPr lang="en-US" altLang="ko-KR" sz="1800" dirty="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68726" y="841831"/>
            <a:ext cx="7450138" cy="3506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학습목표 제시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힌트를 제시한 다음 실습을 스스로 해본다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오늘은 인쇄물을 깔끔하게 맞추고</a:t>
            </a:r>
            <a:r>
              <a:rPr lang="en-US" altLang="ko-KR" sz="1200" dirty="0"/>
              <a:t>, </a:t>
            </a:r>
            <a:r>
              <a:rPr lang="ko-KR" altLang="en-US" sz="1200" dirty="0"/>
              <a:t>숫자를 맞추고</a:t>
            </a:r>
            <a:r>
              <a:rPr lang="en-US" altLang="ko-KR" sz="1200" dirty="0"/>
              <a:t>..</a:t>
            </a:r>
            <a:r>
              <a:rPr lang="ko-KR" altLang="en-US" sz="1200" dirty="0"/>
              <a:t>이런 것을 집중한다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업무를 받아서 수행한다고 생각하고 한다</a:t>
            </a:r>
            <a:r>
              <a:rPr lang="en-US" altLang="ko-KR" sz="1200" dirty="0"/>
              <a:t>(</a:t>
            </a:r>
            <a:r>
              <a:rPr lang="ko-KR" altLang="en-US" sz="1200" dirty="0"/>
              <a:t>상의금지</a:t>
            </a:r>
            <a:r>
              <a:rPr lang="en-US" altLang="ko-KR" sz="1200" dirty="0"/>
              <a:t>, </a:t>
            </a:r>
            <a:r>
              <a:rPr lang="ko-KR" altLang="en-US" sz="1200" dirty="0"/>
              <a:t>인터넷검색은 환영</a:t>
            </a:r>
            <a:r>
              <a:rPr lang="en-US" altLang="ko-KR" sz="1200" dirty="0"/>
              <a:t>- </a:t>
            </a:r>
            <a:r>
              <a:rPr lang="ko-KR" altLang="en-US" sz="1200" dirty="0"/>
              <a:t>단 처리 중간중간을 알기 위한 것이지</a:t>
            </a:r>
            <a:r>
              <a:rPr lang="en-US" altLang="ko-KR" sz="1200" dirty="0"/>
              <a:t>, </a:t>
            </a:r>
            <a:r>
              <a:rPr lang="ko-KR" altLang="en-US" sz="1200" dirty="0"/>
              <a:t>전체를 인터넷에서 얻어오거나 하는 것은 스스로 무덤을 파는 일</a:t>
            </a:r>
            <a:r>
              <a:rPr lang="en-US" altLang="ko-KR" sz="1200" dirty="0"/>
              <a:t>)</a:t>
            </a:r>
            <a:endParaRPr lang="en-US" altLang="ko-K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생각해볼 문제 및 용어</a:t>
            </a:r>
            <a:endParaRPr lang="en-US" altLang="ko-KR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25706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 전 생각해볼 문제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앞서서 배운 부분</a:t>
            </a:r>
            <a:r>
              <a:rPr lang="en-US" altLang="ko-KR" sz="1200" dirty="0">
                <a:solidFill>
                  <a:srgbClr val="FF0000"/>
                </a:solidFill>
              </a:rPr>
              <a:t>, PPT </a:t>
            </a:r>
            <a:r>
              <a:rPr lang="ko-KR" altLang="en-US" sz="1200" dirty="0">
                <a:solidFill>
                  <a:srgbClr val="FF0000"/>
                </a:solidFill>
              </a:rPr>
              <a:t>만든 부분을 </a:t>
            </a:r>
            <a:r>
              <a:rPr lang="ko-KR" altLang="en-US" sz="1200" u="sng" dirty="0">
                <a:solidFill>
                  <a:srgbClr val="FF0000"/>
                </a:solidFill>
              </a:rPr>
              <a:t>다시 한번 제발 꼭 부탁하건 데 정말로 간절히 쫌 </a:t>
            </a:r>
            <a:r>
              <a:rPr lang="ko-KR" altLang="en-US" sz="1200" dirty="0">
                <a:solidFill>
                  <a:srgbClr val="FF0000"/>
                </a:solidFill>
              </a:rPr>
              <a:t>읽어보기 바란다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47614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구구단 인쇄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</a:t>
            </a:r>
            <a:r>
              <a:rPr lang="en-US" altLang="ko-KR" sz="1050" dirty="0"/>
              <a:t>) </a:t>
            </a:r>
            <a:r>
              <a:rPr lang="ko-KR" altLang="en-US" sz="1050" dirty="0"/>
              <a:t>필기면제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화면과 같이 출력하시오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지난번 일반 구구단 출력 기억나는가</a:t>
            </a:r>
            <a:r>
              <a:rPr lang="en-US" altLang="ko-KR" sz="1050" dirty="0"/>
              <a:t>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힌트</a:t>
            </a:r>
            <a:endParaRPr lang="en-US" altLang="ko-KR" sz="105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050" dirty="0"/>
              <a:t>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378454" y="2602352"/>
            <a:ext cx="3326615" cy="31538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65" y="1039608"/>
            <a:ext cx="3787162" cy="533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구구단 인쇄</a:t>
            </a:r>
            <a:r>
              <a:rPr lang="en-US" altLang="ko-KR" sz="1600" dirty="0"/>
              <a:t>(2)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), </a:t>
            </a:r>
            <a:r>
              <a:rPr lang="ko-KR" altLang="en-US" sz="1050" dirty="0"/>
              <a:t>필기해라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화면과 같이 출력하시오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힌트 없음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For</a:t>
            </a:r>
            <a:r>
              <a:rPr lang="ko-KR" altLang="en-US" sz="1050" dirty="0"/>
              <a:t>문의 성격을 완전히 이해하였는가</a:t>
            </a:r>
            <a:r>
              <a:rPr lang="en-US" altLang="ko-KR" sz="1050" dirty="0"/>
              <a:t>?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70" y="1085139"/>
            <a:ext cx="3592247" cy="512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9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달력 인쇄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 , </a:t>
            </a:r>
            <a:r>
              <a:rPr lang="ko-KR" altLang="en-US" sz="1050" dirty="0"/>
              <a:t>필기해라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화면과 같이 출력하시오 </a:t>
            </a:r>
            <a:r>
              <a:rPr lang="en-US" altLang="ko-KR" sz="1050"/>
              <a:t>(2025</a:t>
            </a:r>
            <a:r>
              <a:rPr lang="ko-KR" altLang="en-US" sz="1050"/>
              <a:t>년 </a:t>
            </a:r>
            <a:r>
              <a:rPr lang="en-US" altLang="ko-KR" sz="1050" dirty="0"/>
              <a:t>1</a:t>
            </a:r>
            <a:r>
              <a:rPr lang="ko-KR" altLang="en-US" sz="1050" dirty="0"/>
              <a:t>월 </a:t>
            </a:r>
            <a:r>
              <a:rPr lang="en-US" altLang="ko-KR" sz="1050" dirty="0"/>
              <a:t>~12</a:t>
            </a:r>
            <a:r>
              <a:rPr lang="ko-KR" altLang="en-US" sz="1050" dirty="0"/>
              <a:t>월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주어진 가정 </a:t>
            </a:r>
            <a:r>
              <a:rPr lang="en-US" altLang="ko-KR" sz="1050" dirty="0"/>
              <a:t>(input=&gt;</a:t>
            </a:r>
            <a:r>
              <a:rPr lang="ko-KR" altLang="en-US" sz="1050" dirty="0"/>
              <a:t>금년은 윤달이고</a:t>
            </a:r>
            <a:r>
              <a:rPr lang="en-US" altLang="ko-KR" sz="1050" dirty="0"/>
              <a:t>(?), 1</a:t>
            </a:r>
            <a:r>
              <a:rPr lang="ko-KR" altLang="en-US" sz="1050" dirty="0"/>
              <a:t>월</a:t>
            </a:r>
            <a:r>
              <a:rPr lang="en-US" altLang="ko-KR" sz="1050" dirty="0"/>
              <a:t>1</a:t>
            </a:r>
            <a:r>
              <a:rPr lang="ko-KR" altLang="en-US" sz="1050" dirty="0"/>
              <a:t>일은 금요일로 시작함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윤달</a:t>
            </a:r>
            <a:r>
              <a:rPr lang="en-US" altLang="ko-KR" sz="1050" dirty="0"/>
              <a:t>flag</a:t>
            </a:r>
            <a:r>
              <a:rPr lang="ko-KR" altLang="en-US" sz="1050" dirty="0"/>
              <a:t>를 두어 프로그램 </a:t>
            </a:r>
            <a:r>
              <a:rPr lang="ko-KR" altLang="en-US" sz="1050" dirty="0" err="1"/>
              <a:t>맨앞</a:t>
            </a:r>
            <a:r>
              <a:rPr lang="ko-KR" altLang="en-US" sz="1050" dirty="0"/>
              <a:t> 변수 </a:t>
            </a:r>
            <a:r>
              <a:rPr lang="en-US" altLang="ko-KR" sz="1050" dirty="0" err="1"/>
              <a:t>yd_flag</a:t>
            </a:r>
            <a:r>
              <a:rPr lang="en-US" altLang="ko-KR" sz="1050" dirty="0"/>
              <a:t>=1</a:t>
            </a:r>
            <a:r>
              <a:rPr lang="ko-KR" altLang="en-US" sz="1050" dirty="0"/>
              <a:t>이면 </a:t>
            </a:r>
            <a:r>
              <a:rPr lang="en-US" altLang="ko-KR" sz="1050" dirty="0"/>
              <a:t>2</a:t>
            </a:r>
            <a:r>
              <a:rPr lang="ko-KR" altLang="en-US" sz="1050" dirty="0"/>
              <a:t>월</a:t>
            </a:r>
            <a:r>
              <a:rPr lang="en-US" altLang="ko-KR" sz="1050" dirty="0"/>
              <a:t>29, </a:t>
            </a:r>
            <a:r>
              <a:rPr lang="en-US" altLang="ko-KR" sz="1050" dirty="0" err="1"/>
              <a:t>yd_flag</a:t>
            </a:r>
            <a:r>
              <a:rPr lang="en-US" altLang="ko-KR" sz="1050" dirty="0"/>
              <a:t>=0</a:t>
            </a:r>
            <a:r>
              <a:rPr lang="ko-KR" altLang="en-US" sz="1050" dirty="0"/>
              <a:t>이면 </a:t>
            </a:r>
            <a:r>
              <a:rPr lang="en-US" altLang="ko-KR" sz="1050" dirty="0"/>
              <a:t>2</a:t>
            </a:r>
            <a:r>
              <a:rPr lang="ko-KR" altLang="en-US" sz="1050" dirty="0"/>
              <a:t>월</a:t>
            </a:r>
            <a:r>
              <a:rPr lang="en-US" altLang="ko-KR" sz="1050" dirty="0"/>
              <a:t>28</a:t>
            </a:r>
            <a:r>
              <a:rPr lang="ko-KR" altLang="en-US" sz="1050" dirty="0"/>
              <a:t>일 인쇄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매달</a:t>
            </a:r>
            <a:r>
              <a:rPr lang="en-US" altLang="ko-KR" sz="1050" dirty="0"/>
              <a:t> </a:t>
            </a:r>
            <a:r>
              <a:rPr lang="ko-KR" altLang="en-US" sz="1050" dirty="0"/>
              <a:t>마지막 일을 비교하기 </a:t>
            </a:r>
            <a:r>
              <a:rPr lang="en-US" altLang="ko-KR" sz="1050" dirty="0"/>
              <a:t>-&gt; </a:t>
            </a:r>
            <a:r>
              <a:rPr lang="ko-KR" altLang="en-US" sz="1050" dirty="0"/>
              <a:t>배열이용 기억나는가</a:t>
            </a:r>
            <a:r>
              <a:rPr lang="en-US" altLang="ko-KR" sz="1050" dirty="0"/>
              <a:t>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요일이 일요일일 때마다 줄 바꿈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달이 바뀔 때마다 </a:t>
            </a:r>
            <a:r>
              <a:rPr lang="en-US" altLang="ko-KR" sz="1050" dirty="0"/>
              <a:t>title</a:t>
            </a:r>
            <a:r>
              <a:rPr lang="ko-KR" altLang="en-US" sz="1050" dirty="0"/>
              <a:t>과 </a:t>
            </a:r>
            <a:r>
              <a:rPr lang="en-US" altLang="ko-KR" sz="1050" dirty="0"/>
              <a:t>header</a:t>
            </a:r>
            <a:r>
              <a:rPr lang="ko-KR" altLang="en-US" sz="1050" dirty="0"/>
              <a:t>인쇄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요일은 </a:t>
            </a:r>
            <a:r>
              <a:rPr lang="en-US" altLang="ko-KR" sz="1050" dirty="0"/>
              <a:t>(</a:t>
            </a:r>
            <a:r>
              <a:rPr lang="en-US" altLang="ko-KR" sz="1050" dirty="0" err="1"/>
              <a:t>iWeekday</a:t>
            </a:r>
            <a:r>
              <a:rPr lang="en-US" altLang="ko-KR" sz="1050" dirty="0"/>
              <a:t>)</a:t>
            </a:r>
            <a:r>
              <a:rPr lang="ko-KR" altLang="en-US" sz="1050" dirty="0"/>
              <a:t>는 매일 더하고 </a:t>
            </a:r>
            <a:r>
              <a:rPr lang="en-US" altLang="ko-KR" sz="1050" dirty="0"/>
              <a:t>7</a:t>
            </a:r>
            <a:r>
              <a:rPr lang="ko-KR" altLang="en-US" sz="1050" dirty="0"/>
              <a:t>일 때는 </a:t>
            </a:r>
            <a:r>
              <a:rPr lang="en-US" altLang="ko-KR" sz="1050" dirty="0"/>
              <a:t>0</a:t>
            </a:r>
            <a:r>
              <a:rPr lang="ko-KR" altLang="en-US" sz="1050" dirty="0"/>
              <a:t>으로 바꿔주고</a:t>
            </a:r>
            <a:r>
              <a:rPr lang="en-US" altLang="ko-KR" sz="1050" dirty="0"/>
              <a:t>, </a:t>
            </a:r>
            <a:r>
              <a:rPr lang="ko-KR" altLang="en-US" sz="1050" dirty="0"/>
              <a:t>줄 바꾸기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힌트 많이 줬는데 또 주면</a:t>
            </a:r>
            <a:r>
              <a:rPr lang="en-US" altLang="ko-KR" sz="1050" dirty="0"/>
              <a:t>..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01" y="1092727"/>
            <a:ext cx="1857962" cy="500254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423100" y="4485782"/>
            <a:ext cx="3290029" cy="119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4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15852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영수증 출력 </a:t>
            </a:r>
            <a:r>
              <a:rPr lang="en-US" altLang="ko-KR" sz="1600" dirty="0"/>
              <a:t>1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 , </a:t>
            </a:r>
            <a:r>
              <a:rPr lang="ko-KR" altLang="en-US" sz="1050" dirty="0"/>
              <a:t>필기해라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화면과 같이 출력하시오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1)</a:t>
            </a:r>
            <a:r>
              <a:rPr lang="ko-KR" altLang="en-US" sz="1050" dirty="0"/>
              <a:t> 주문합계 액은 </a:t>
            </a:r>
            <a:r>
              <a:rPr lang="en-US" altLang="ko-KR" sz="1050" dirty="0" err="1"/>
              <a:t>int</a:t>
            </a:r>
            <a:r>
              <a:rPr lang="en-US" altLang="ko-KR" sz="1050" dirty="0"/>
              <a:t> </a:t>
            </a:r>
            <a:r>
              <a:rPr lang="en-US" altLang="ko-KR" sz="1050" dirty="0" err="1"/>
              <a:t>iPrice</a:t>
            </a:r>
            <a:r>
              <a:rPr lang="en-US" altLang="ko-KR" sz="1050" dirty="0"/>
              <a:t>= 33000; </a:t>
            </a:r>
            <a:r>
              <a:rPr lang="ko-KR" altLang="en-US" sz="1050" dirty="0"/>
              <a:t>으로 변수사용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2) </a:t>
            </a:r>
            <a:r>
              <a:rPr lang="ko-KR" altLang="en-US" sz="1050" dirty="0"/>
              <a:t>과세</a:t>
            </a:r>
            <a:r>
              <a:rPr lang="en-US" altLang="ko-KR" sz="1050" dirty="0"/>
              <a:t>,</a:t>
            </a:r>
            <a:r>
              <a:rPr lang="ko-KR" altLang="en-US" sz="1050" dirty="0"/>
              <a:t>세액은 앞에서 한데로 잘 계산</a:t>
            </a:r>
            <a:r>
              <a:rPr lang="en-US" altLang="ko-KR" sz="1050" dirty="0"/>
              <a:t>(</a:t>
            </a:r>
            <a:r>
              <a:rPr lang="ko-KR" altLang="en-US" sz="1050" dirty="0"/>
              <a:t>딱 보면 세액은 </a:t>
            </a:r>
            <a:r>
              <a:rPr lang="en-US" altLang="ko-KR" sz="1050" dirty="0"/>
              <a:t>10%</a:t>
            </a:r>
            <a:r>
              <a:rPr lang="ko-KR" altLang="en-US" sz="1050" dirty="0"/>
              <a:t>이다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3) </a:t>
            </a:r>
            <a:r>
              <a:rPr lang="ko-KR" altLang="en-US" sz="1050" dirty="0"/>
              <a:t>시간</a:t>
            </a:r>
            <a:r>
              <a:rPr lang="en-US" altLang="ko-KR" sz="1050" dirty="0"/>
              <a:t>, </a:t>
            </a:r>
            <a:r>
              <a:rPr lang="ko-KR" altLang="en-US" sz="1050" dirty="0"/>
              <a:t>일자 출력 칸은 시스템시간정보를 출력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4) </a:t>
            </a:r>
            <a:r>
              <a:rPr lang="ko-KR" altLang="en-US" sz="1050" dirty="0"/>
              <a:t>그 외의 모든 출력내용은 임의로 출력</a:t>
            </a:r>
            <a:r>
              <a:rPr lang="en-US" altLang="ko-KR" sz="1050" dirty="0"/>
              <a:t>, </a:t>
            </a:r>
            <a:r>
              <a:rPr lang="ko-KR" altLang="en-US" sz="1050" dirty="0"/>
              <a:t>단 항목은 하나도 누락 없이 작성 </a:t>
            </a:r>
            <a:r>
              <a:rPr lang="en-US" altLang="ko-KR" sz="1050" dirty="0"/>
              <a:t>(</a:t>
            </a:r>
            <a:r>
              <a:rPr lang="ko-KR" altLang="en-US" sz="1050" dirty="0"/>
              <a:t>감사합니다</a:t>
            </a:r>
            <a:r>
              <a:rPr lang="en-US" altLang="ko-KR" sz="1050" dirty="0"/>
              <a:t> **</a:t>
            </a:r>
            <a:r>
              <a:rPr lang="ko-KR" altLang="en-US" sz="1050" dirty="0"/>
              <a:t> 포함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출력결과는 </a:t>
            </a:r>
            <a:r>
              <a:rPr lang="en-US" altLang="ko-KR" sz="1050" dirty="0" err="1"/>
              <a:t>iPrice</a:t>
            </a:r>
            <a:r>
              <a:rPr lang="ko-KR" altLang="en-US" sz="1050" dirty="0"/>
              <a:t>를 바꿔가며 결과가 바뀐 것을 두 개 출력 할 것</a:t>
            </a:r>
            <a:r>
              <a:rPr lang="en-US" altLang="ko-KR" sz="1050" dirty="0"/>
              <a:t>(</a:t>
            </a:r>
            <a:r>
              <a:rPr lang="en-US" altLang="ko-KR" sz="1050" dirty="0" err="1"/>
              <a:t>iPrice</a:t>
            </a:r>
            <a:r>
              <a:rPr lang="ko-KR" altLang="en-US" sz="1050" dirty="0"/>
              <a:t>를 입력 받아 출력결과를 보여줘도 </a:t>
            </a:r>
            <a:r>
              <a:rPr lang="en-US" altLang="ko-KR" sz="1050" dirty="0"/>
              <a:t>OK)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폰트크기나 굵기는 지금 처리할 수 있는 사항이 아니므로 처리 안 함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당연히 </a:t>
            </a:r>
            <a:r>
              <a:rPr lang="ko-KR" altLang="en-US" sz="1050" dirty="0" err="1"/>
              <a:t>콤마처리는</a:t>
            </a:r>
            <a:r>
              <a:rPr lang="ko-KR" altLang="en-US" sz="1050" dirty="0"/>
              <a:t> 기본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영수증 프린터로 잘 찍어본다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37" y="1222309"/>
            <a:ext cx="4196339" cy="508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6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5453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영수증 출력 </a:t>
            </a:r>
            <a:r>
              <a:rPr lang="en-US" altLang="ko-KR" sz="1600" dirty="0"/>
              <a:t>2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 , </a:t>
            </a:r>
            <a:r>
              <a:rPr lang="ko-KR" altLang="en-US" sz="1050" dirty="0"/>
              <a:t>필기해라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화면과 같이 출력하시오 </a:t>
            </a:r>
            <a:r>
              <a:rPr lang="en-US" altLang="ko-KR" sz="1050" dirty="0"/>
              <a:t>(</a:t>
            </a:r>
            <a:r>
              <a:rPr lang="ko-KR" altLang="en-US" sz="1050" dirty="0"/>
              <a:t>항목 </a:t>
            </a:r>
            <a:r>
              <a:rPr lang="en-US" altLang="ko-KR" sz="1050" dirty="0"/>
              <a:t>3</a:t>
            </a:r>
            <a:r>
              <a:rPr lang="ko-KR" altLang="en-US" sz="1050" dirty="0"/>
              <a:t>개짜리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지시된 방법과 같이 항목이름</a:t>
            </a:r>
            <a:r>
              <a:rPr lang="en-US" altLang="ko-KR" sz="1050" dirty="0"/>
              <a:t>,</a:t>
            </a:r>
            <a:r>
              <a:rPr lang="ko-KR" altLang="en-US" sz="1050" dirty="0"/>
              <a:t>항목코드</a:t>
            </a:r>
            <a:r>
              <a:rPr lang="en-US" altLang="ko-KR" sz="1050" dirty="0"/>
              <a:t>,</a:t>
            </a:r>
            <a:r>
              <a:rPr lang="ko-KR" altLang="en-US" sz="1050" dirty="0"/>
              <a:t>가격</a:t>
            </a:r>
            <a:r>
              <a:rPr lang="en-US" altLang="ko-KR" sz="1050" dirty="0"/>
              <a:t>,</a:t>
            </a:r>
            <a:r>
              <a:rPr lang="ko-KR" altLang="en-US" sz="1050" dirty="0"/>
              <a:t>수량을 변수로 사용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항목은 보여주는 크기가 한계가 있으므로 </a:t>
            </a:r>
            <a:r>
              <a:rPr lang="ko-KR" altLang="en-US" sz="1050" dirty="0" err="1"/>
              <a:t>몇글자까지</a:t>
            </a:r>
            <a:r>
              <a:rPr lang="ko-KR" altLang="en-US" sz="1050" dirty="0"/>
              <a:t> 보이게만 잘라낸다 </a:t>
            </a:r>
            <a:r>
              <a:rPr lang="en-US" altLang="ko-KR" sz="1050" dirty="0"/>
              <a:t>(</a:t>
            </a:r>
            <a:r>
              <a:rPr lang="ko-KR" altLang="en-US" sz="1050" dirty="0"/>
              <a:t>자 고민해 보자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항목은 </a:t>
            </a:r>
            <a:r>
              <a:rPr lang="en-US" altLang="ko-KR" sz="1050" dirty="0"/>
              <a:t>3</a:t>
            </a:r>
            <a:r>
              <a:rPr lang="ko-KR" altLang="en-US" sz="1050" dirty="0" err="1"/>
              <a:t>개이상</a:t>
            </a:r>
            <a:r>
              <a:rPr lang="ko-KR" altLang="en-US" sz="1050" dirty="0"/>
              <a:t> 자율적으로 값을 만드셔요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과세</a:t>
            </a:r>
            <a:r>
              <a:rPr lang="en-US" altLang="ko-KR" sz="1050" dirty="0"/>
              <a:t>,</a:t>
            </a:r>
            <a:r>
              <a:rPr lang="ko-KR" altLang="en-US" sz="1050" dirty="0"/>
              <a:t>세액은 계산</a:t>
            </a:r>
            <a:r>
              <a:rPr lang="en-US" altLang="ko-KR" sz="1050" dirty="0"/>
              <a:t>(</a:t>
            </a:r>
            <a:r>
              <a:rPr lang="ko-KR" altLang="en-US" sz="1050" dirty="0"/>
              <a:t>딱 보면 세액은 </a:t>
            </a:r>
            <a:r>
              <a:rPr lang="en-US" altLang="ko-KR" sz="1050" dirty="0"/>
              <a:t>10%</a:t>
            </a:r>
            <a:r>
              <a:rPr lang="ko-KR" altLang="en-US" sz="1050" dirty="0"/>
              <a:t>이다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시간</a:t>
            </a:r>
            <a:r>
              <a:rPr lang="en-US" altLang="ko-KR" sz="1050" dirty="0"/>
              <a:t>, </a:t>
            </a:r>
            <a:r>
              <a:rPr lang="ko-KR" altLang="en-US" sz="1050" dirty="0"/>
              <a:t>일자 출력 칸은 시스템시간정보를 출력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그 외의 모든 </a:t>
            </a:r>
            <a:r>
              <a:rPr lang="ko-KR" altLang="en-US" sz="1050" dirty="0" err="1"/>
              <a:t>출력내용은</a:t>
            </a:r>
            <a:r>
              <a:rPr lang="ko-KR" altLang="en-US" sz="1050" dirty="0"/>
              <a:t> 제시된 영수증과 </a:t>
            </a:r>
            <a:r>
              <a:rPr lang="ko-KR" altLang="en-US" sz="1050" dirty="0" err="1"/>
              <a:t>글자하나</a:t>
            </a:r>
            <a:r>
              <a:rPr lang="ko-KR" altLang="en-US" sz="1050" dirty="0"/>
              <a:t> 틀리지 않게 출력</a:t>
            </a:r>
            <a:r>
              <a:rPr lang="en-US" altLang="ko-KR" sz="1050" dirty="0"/>
              <a:t>, </a:t>
            </a:r>
            <a:r>
              <a:rPr lang="ko-KR" altLang="en-US" sz="1050" dirty="0"/>
              <a:t>단 항목은 하나도 누락 없이 작성 </a:t>
            </a:r>
            <a:r>
              <a:rPr lang="en-US" altLang="ko-KR" sz="1050" dirty="0"/>
              <a:t>(</a:t>
            </a:r>
            <a:r>
              <a:rPr lang="ko-KR" altLang="en-US" sz="1050" dirty="0"/>
              <a:t>프로그램은 </a:t>
            </a:r>
            <a:r>
              <a:rPr lang="ko-KR" altLang="en-US" sz="1050" dirty="0" err="1"/>
              <a:t>십자수이다</a:t>
            </a:r>
            <a:r>
              <a:rPr lang="en-US" altLang="ko-KR" sz="1050" dirty="0"/>
              <a:t>… </a:t>
            </a:r>
            <a:r>
              <a:rPr lang="ko-KR" altLang="en-US" sz="1050" dirty="0" err="1"/>
              <a:t>노력노력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출력결과는 지시된 </a:t>
            </a:r>
            <a:r>
              <a:rPr lang="ko-KR" altLang="en-US" sz="1050" dirty="0" err="1"/>
              <a:t>변수값을</a:t>
            </a:r>
            <a:r>
              <a:rPr lang="ko-KR" altLang="en-US" sz="1050" dirty="0"/>
              <a:t> 바꿔가며 결과가 바뀐 것을 두 개 출력 할 것</a:t>
            </a:r>
            <a:endParaRPr lang="en-US" altLang="ko-KR" sz="105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당연히 </a:t>
            </a:r>
            <a:r>
              <a:rPr lang="ko-KR" altLang="en-US" sz="1050" dirty="0" err="1"/>
              <a:t>콤마처리는</a:t>
            </a:r>
            <a:r>
              <a:rPr lang="ko-KR" altLang="en-US" sz="1050" dirty="0"/>
              <a:t> 기본</a:t>
            </a:r>
            <a:endParaRPr lang="en-US" altLang="ko-KR" sz="105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94" y="927542"/>
            <a:ext cx="2926518" cy="543496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91" y="1076832"/>
            <a:ext cx="2515147" cy="158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61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59" y="1040587"/>
            <a:ext cx="3007619" cy="4341067"/>
          </a:xfrm>
          <a:prstGeom prst="rect">
            <a:avLst/>
          </a:prstGeom>
        </p:spPr>
      </p:pic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5453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영수증 출력 </a:t>
            </a:r>
            <a:r>
              <a:rPr lang="en-US" altLang="ko-KR" sz="1600" dirty="0"/>
              <a:t>3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 , </a:t>
            </a:r>
            <a:r>
              <a:rPr lang="ko-KR" altLang="en-US" sz="1050" dirty="0"/>
              <a:t>필기해라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화면과 같이 출력하시오 </a:t>
            </a:r>
            <a:r>
              <a:rPr lang="en-US" altLang="ko-KR" sz="1050" dirty="0"/>
              <a:t>(</a:t>
            </a:r>
            <a:r>
              <a:rPr lang="ko-KR" altLang="en-US" sz="1050" dirty="0"/>
              <a:t>항목 꽤 많은 것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지시된 방법과 같이 항목이름</a:t>
            </a:r>
            <a:r>
              <a:rPr lang="en-US" altLang="ko-KR" sz="1050" dirty="0"/>
              <a:t>, </a:t>
            </a:r>
            <a:r>
              <a:rPr lang="ko-KR" altLang="en-US" sz="1050" dirty="0"/>
              <a:t>가격</a:t>
            </a:r>
            <a:r>
              <a:rPr lang="en-US" altLang="ko-KR" sz="1050" dirty="0"/>
              <a:t>, </a:t>
            </a:r>
            <a:r>
              <a:rPr lang="ko-KR" altLang="en-US" sz="1050" dirty="0"/>
              <a:t>수량</a:t>
            </a:r>
            <a:r>
              <a:rPr lang="en-US" altLang="ko-KR" sz="1050" dirty="0"/>
              <a:t>, </a:t>
            </a:r>
            <a:r>
              <a:rPr lang="ko-KR" altLang="en-US" sz="1050" dirty="0"/>
              <a:t>과세여부를 배열로 사용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항목은 </a:t>
            </a:r>
            <a:r>
              <a:rPr lang="en-US" altLang="ko-KR" sz="1050" dirty="0"/>
              <a:t>30</a:t>
            </a:r>
            <a:r>
              <a:rPr lang="ko-KR" altLang="en-US" sz="1050" dirty="0"/>
              <a:t>개 이상 자율적으로 값을 만드셔요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과세</a:t>
            </a:r>
            <a:r>
              <a:rPr lang="en-US" altLang="ko-KR" sz="1050" dirty="0"/>
              <a:t>,</a:t>
            </a:r>
            <a:r>
              <a:rPr lang="ko-KR" altLang="en-US" sz="1050" dirty="0"/>
              <a:t>세액은 계산</a:t>
            </a:r>
            <a:r>
              <a:rPr lang="en-US" altLang="ko-KR" sz="1050" dirty="0"/>
              <a:t>(</a:t>
            </a:r>
            <a:r>
              <a:rPr lang="ko-KR" altLang="en-US" sz="1050" dirty="0"/>
              <a:t>딱 보면 세액은 </a:t>
            </a:r>
            <a:r>
              <a:rPr lang="en-US" altLang="ko-KR" sz="1050" dirty="0"/>
              <a:t>10%</a:t>
            </a:r>
            <a:r>
              <a:rPr lang="ko-KR" altLang="en-US" sz="1050" dirty="0"/>
              <a:t>이다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시간</a:t>
            </a:r>
            <a:r>
              <a:rPr lang="en-US" altLang="ko-KR" sz="1050" dirty="0"/>
              <a:t>, </a:t>
            </a:r>
            <a:r>
              <a:rPr lang="ko-KR" altLang="en-US" sz="1050" dirty="0"/>
              <a:t>일자 출력 칸은 시스템시간정보를 출력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비과세품목은 항목번호 다음에 </a:t>
            </a:r>
            <a:r>
              <a:rPr lang="en-US" altLang="ko-KR" sz="1050" dirty="0"/>
              <a:t>*</a:t>
            </a:r>
            <a:r>
              <a:rPr lang="ko-KR" altLang="en-US" sz="1050" dirty="0"/>
              <a:t>인쇄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그 외의 모든 출력내용은 임의로 출력</a:t>
            </a:r>
            <a:r>
              <a:rPr lang="en-US" altLang="ko-KR" sz="1050" dirty="0"/>
              <a:t>, </a:t>
            </a:r>
            <a:r>
              <a:rPr lang="ko-KR" altLang="en-US" sz="1050" dirty="0"/>
              <a:t>단 항목은 하나도 누락 없이 작성 </a:t>
            </a:r>
            <a:r>
              <a:rPr lang="en-US" altLang="ko-KR" sz="1050" dirty="0"/>
              <a:t>(</a:t>
            </a:r>
            <a:r>
              <a:rPr lang="ko-KR" altLang="en-US" sz="1050" dirty="0"/>
              <a:t>연동모듈</a:t>
            </a:r>
            <a:r>
              <a:rPr lang="en-US" altLang="ko-KR" sz="1050" dirty="0"/>
              <a:t>…</a:t>
            </a:r>
            <a:r>
              <a:rPr lang="ko-KR" altLang="en-US" sz="1050" dirty="0"/>
              <a:t>까지</a:t>
            </a:r>
            <a:r>
              <a:rPr lang="en-US" altLang="ko-KR" sz="1050" dirty="0"/>
              <a:t>.)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출력결과는 지시된 값을 바꿔가며 결과가 바뀐 것을 두 개 출력 할 것</a:t>
            </a:r>
            <a:endParaRPr lang="en-US" altLang="ko-KR" sz="105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당연히 콤마처리는 기본</a:t>
            </a:r>
            <a:endParaRPr lang="en-US" altLang="ko-KR" sz="105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2024</a:t>
            </a:r>
            <a:r>
              <a:rPr lang="ko-KR" altLang="en-US" sz="1050" dirty="0"/>
              <a:t>년 영수증 바꿔보려고 했는데</a:t>
            </a:r>
            <a:r>
              <a:rPr lang="en-US" altLang="ko-KR" sz="1050" dirty="0"/>
              <a:t>.. </a:t>
            </a:r>
            <a:r>
              <a:rPr lang="ko-KR" altLang="en-US" sz="1050" dirty="0"/>
              <a:t>이젠 앱으로 발행</a:t>
            </a:r>
            <a:r>
              <a:rPr lang="en-US" altLang="ko-KR" sz="1050" dirty="0"/>
              <a:t>.. </a:t>
            </a:r>
            <a:r>
              <a:rPr lang="ko-KR" altLang="en-US" sz="1050" dirty="0"/>
              <a:t>앱에서도 칸 맞추기 하고 있음</a:t>
            </a:r>
            <a:r>
              <a:rPr lang="en-US" altLang="ko-KR" sz="1050" dirty="0"/>
              <a:t>..</a:t>
            </a:r>
            <a:r>
              <a:rPr lang="ko-KR" altLang="en-US" sz="1050" dirty="0" err="1"/>
              <a:t>ㅎㅎㅎ</a:t>
            </a:r>
            <a:endParaRPr lang="en-US" altLang="ko-KR" sz="105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cxnSp>
        <p:nvCxnSpPr>
          <p:cNvPr id="11" name="직선 화살표 연결선 10"/>
          <p:cNvCxnSpPr/>
          <p:nvPr/>
        </p:nvCxnSpPr>
        <p:spPr bwMode="auto">
          <a:xfrm flipV="1">
            <a:off x="245078" y="4219558"/>
            <a:ext cx="423355" cy="1242456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7528" y="5538924"/>
            <a:ext cx="11753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err="1"/>
              <a:t>행사할인은</a:t>
            </a:r>
            <a:r>
              <a:rPr lang="ko-KR" altLang="en-US" sz="1050" dirty="0"/>
              <a:t> 무시</a:t>
            </a:r>
          </a:p>
        </p:txBody>
      </p:sp>
      <p:cxnSp>
        <p:nvCxnSpPr>
          <p:cNvPr id="14" name="직선 화살표 연결선 13"/>
          <p:cNvCxnSpPr/>
          <p:nvPr/>
        </p:nvCxnSpPr>
        <p:spPr bwMode="auto">
          <a:xfrm flipH="1" flipV="1">
            <a:off x="668433" y="4718177"/>
            <a:ext cx="610904" cy="1303833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75668" y="6040512"/>
            <a:ext cx="14073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err="1"/>
              <a:t>면세품목은</a:t>
            </a:r>
            <a:r>
              <a:rPr lang="ko-KR" altLang="en-US" sz="1050" dirty="0"/>
              <a:t> </a:t>
            </a:r>
            <a:r>
              <a:rPr lang="en-US" altLang="ko-KR" sz="1050" dirty="0"/>
              <a:t>* </a:t>
            </a:r>
            <a:r>
              <a:rPr lang="ko-KR" altLang="en-US" sz="1050" dirty="0"/>
              <a:t>표시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612" y="1126191"/>
            <a:ext cx="2699978" cy="5346699"/>
          </a:xfrm>
          <a:prstGeom prst="rect">
            <a:avLst/>
          </a:prstGeom>
        </p:spPr>
      </p:pic>
      <p:cxnSp>
        <p:nvCxnSpPr>
          <p:cNvPr id="18" name="직선 화살표 연결선 17"/>
          <p:cNvCxnSpPr/>
          <p:nvPr/>
        </p:nvCxnSpPr>
        <p:spPr bwMode="auto">
          <a:xfrm flipH="1" flipV="1">
            <a:off x="2021645" y="3700217"/>
            <a:ext cx="245755" cy="1969512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1331607" y="5626235"/>
            <a:ext cx="16258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다섯 개 마다 점선 표시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475" y="385106"/>
            <a:ext cx="5864602" cy="49797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9964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5453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영수증 출력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실습은 아니고</a:t>
            </a:r>
            <a:r>
              <a:rPr lang="en-US" altLang="ko-KR" sz="1050" dirty="0"/>
              <a:t>….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역시 </a:t>
            </a:r>
            <a:r>
              <a:rPr lang="en-US" altLang="ko-KR" sz="1050" dirty="0"/>
              <a:t>..</a:t>
            </a:r>
            <a:r>
              <a:rPr lang="ko-KR" altLang="en-US" sz="1050" dirty="0" err="1"/>
              <a:t>다이소</a:t>
            </a:r>
            <a:r>
              <a:rPr lang="en-US" altLang="ko-KR" sz="1050" dirty="0"/>
              <a:t>, </a:t>
            </a:r>
            <a:r>
              <a:rPr lang="ko-KR" altLang="en-US" sz="1050" dirty="0"/>
              <a:t>이마트는 세금을 올림처리 받음</a:t>
            </a:r>
            <a:r>
              <a:rPr lang="en-US" altLang="ko-KR" sz="1050" dirty="0"/>
              <a:t>..</a:t>
            </a:r>
            <a:r>
              <a:rPr lang="ko-KR" altLang="en-US" sz="1050" dirty="0" err="1"/>
              <a:t>ㅋㅋ</a:t>
            </a:r>
            <a:r>
              <a:rPr lang="ko-KR" altLang="en-US" sz="1050" dirty="0"/>
              <a:t> 당연히 </a:t>
            </a:r>
            <a:r>
              <a:rPr lang="ko-KR" altLang="en-US" sz="1050" dirty="0" err="1"/>
              <a:t>낙전에</a:t>
            </a:r>
            <a:r>
              <a:rPr lang="ko-KR" altLang="en-US" sz="1050" dirty="0"/>
              <a:t> 대한 처리함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하지만 럭셔리 신세계는 세금의 </a:t>
            </a:r>
            <a:r>
              <a:rPr lang="ko-KR" altLang="en-US" sz="1050" dirty="0" err="1"/>
              <a:t>낙전</a:t>
            </a:r>
            <a:r>
              <a:rPr lang="ko-KR" altLang="en-US" sz="1050" dirty="0"/>
              <a:t> 정도는 신세계가 부담</a:t>
            </a:r>
            <a:r>
              <a:rPr lang="en-US" altLang="ko-KR" sz="1050" dirty="0"/>
              <a:t>,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과세가액</a:t>
            </a:r>
            <a:r>
              <a:rPr lang="ko-KR" altLang="en-US" sz="1050" dirty="0"/>
              <a:t> </a:t>
            </a:r>
            <a:r>
              <a:rPr lang="en-US" altLang="ko-KR" sz="1050" dirty="0"/>
              <a:t>: 5272</a:t>
            </a:r>
            <a:r>
              <a:rPr lang="ko-KR" altLang="en-US" sz="1050" dirty="0"/>
              <a:t>원</a:t>
            </a:r>
            <a:r>
              <a:rPr lang="en-US" altLang="ko-KR" sz="1050" dirty="0"/>
              <a:t>/ </a:t>
            </a:r>
            <a:r>
              <a:rPr lang="ko-KR" altLang="en-US" sz="1050" dirty="0"/>
              <a:t>세금  </a:t>
            </a:r>
            <a:r>
              <a:rPr lang="en-US" altLang="ko-KR" sz="1050" dirty="0"/>
              <a:t>528</a:t>
            </a:r>
            <a:r>
              <a:rPr lang="ko-KR" altLang="en-US" sz="1050" dirty="0"/>
              <a:t>이어야 하는데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고객에게 의도적으로 </a:t>
            </a:r>
            <a:r>
              <a:rPr lang="ko-KR" altLang="en-US" sz="1050" dirty="0" err="1"/>
              <a:t>배풀었을까</a:t>
            </a:r>
            <a:r>
              <a:rPr lang="en-US" altLang="ko-KR" sz="1050" dirty="0"/>
              <a:t>? </a:t>
            </a:r>
            <a:r>
              <a:rPr lang="ko-KR" altLang="en-US" sz="1050" dirty="0"/>
              <a:t>아님 프로그래머의 실수인가</a:t>
            </a:r>
            <a:r>
              <a:rPr lang="en-US" altLang="ko-KR" sz="1050" dirty="0"/>
              <a:t>?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D88388-79E1-447C-9744-32873E944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67" y="824753"/>
            <a:ext cx="3467904" cy="543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47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82292" y="1152871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11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지금까지 설명한 것은 별이 두 개</a:t>
            </a:r>
            <a:r>
              <a:rPr lang="en-US" altLang="ko-KR" sz="1100" dirty="0"/>
              <a:t>(</a:t>
            </a:r>
            <a:r>
              <a:rPr lang="ko-KR" altLang="en-US" sz="1100" dirty="0"/>
              <a:t>★★</a:t>
            </a:r>
            <a:r>
              <a:rPr lang="en-US" altLang="ko-KR" sz="1100" dirty="0"/>
              <a:t>)</a:t>
            </a:r>
            <a:r>
              <a:rPr lang="ko-KR" altLang="en-US" sz="1100" dirty="0"/>
              <a:t>나 세 개</a:t>
            </a:r>
            <a:r>
              <a:rPr lang="en-US" altLang="ko-KR" sz="1100" dirty="0"/>
              <a:t>(</a:t>
            </a:r>
            <a:r>
              <a:rPr lang="ko-KR" altLang="en-US" sz="1100" dirty="0"/>
              <a:t>★★★</a:t>
            </a:r>
            <a:r>
              <a:rPr lang="en-US" altLang="ko-KR" sz="1100" dirty="0"/>
              <a:t>)</a:t>
            </a:r>
            <a:r>
              <a:rPr lang="ko-KR" altLang="en-US" sz="1100" dirty="0"/>
              <a:t> 다</a:t>
            </a:r>
            <a:r>
              <a:rPr lang="en-US" altLang="ko-KR" sz="1100" dirty="0"/>
              <a:t>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전부 설명을 달아서 프로그램 구현 실습을 한다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세 개</a:t>
            </a:r>
            <a:r>
              <a:rPr lang="en-US" altLang="ko-KR" sz="1100" dirty="0"/>
              <a:t>(</a:t>
            </a:r>
            <a:r>
              <a:rPr lang="ko-KR" altLang="en-US" sz="1100" dirty="0"/>
              <a:t>★★★</a:t>
            </a:r>
            <a:r>
              <a:rPr lang="en-US" altLang="ko-KR" sz="1100" dirty="0"/>
              <a:t>)</a:t>
            </a:r>
            <a:r>
              <a:rPr lang="ko-KR" altLang="en-US" sz="1100" dirty="0"/>
              <a:t> 는 해당 소스부분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클래스선언부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메인부분</a:t>
            </a:r>
            <a:r>
              <a:rPr lang="ko-KR" altLang="en-US" sz="1100" dirty="0"/>
              <a:t> 생략</a:t>
            </a:r>
            <a:r>
              <a:rPr lang="en-US" altLang="ko-KR" sz="1100" dirty="0"/>
              <a:t>)</a:t>
            </a:r>
            <a:r>
              <a:rPr lang="ko-KR" altLang="en-US" sz="1100" dirty="0"/>
              <a:t>을 필기하시오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800" dirty="0"/>
              <a:t>1.</a:t>
            </a:r>
            <a:r>
              <a:rPr lang="ko-KR" altLang="en-US" sz="1800" dirty="0"/>
              <a:t>스스로 실습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1) </a:t>
            </a:r>
            <a:r>
              <a:rPr lang="ko-KR" altLang="en-US" sz="1100" dirty="0"/>
              <a:t>구구단 인쇄 </a:t>
            </a:r>
            <a:r>
              <a:rPr lang="en-US" altLang="ko-KR" sz="1100" dirty="0"/>
              <a:t>(</a:t>
            </a:r>
            <a:r>
              <a:rPr lang="ko-KR" altLang="en-US" sz="1100" dirty="0"/>
              <a:t>몸풀기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2) </a:t>
            </a:r>
            <a:r>
              <a:rPr lang="ko-KR" altLang="en-US" sz="1100" dirty="0"/>
              <a:t>달력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3) </a:t>
            </a:r>
            <a:r>
              <a:rPr lang="ko-KR" altLang="en-US" sz="1100" dirty="0"/>
              <a:t>영수증 </a:t>
            </a:r>
            <a:r>
              <a:rPr lang="en-US" altLang="ko-KR" sz="1100" dirty="0"/>
              <a:t>(</a:t>
            </a:r>
            <a:r>
              <a:rPr lang="ko-KR" altLang="en-US" sz="1100" dirty="0"/>
              <a:t>단순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4) </a:t>
            </a:r>
            <a:r>
              <a:rPr lang="ko-KR" altLang="en-US" sz="1100" dirty="0"/>
              <a:t>영수증 </a:t>
            </a:r>
            <a:r>
              <a:rPr lang="en-US" altLang="ko-KR" sz="1100" dirty="0"/>
              <a:t>(</a:t>
            </a:r>
            <a:r>
              <a:rPr lang="ko-KR" altLang="en-US" sz="1100" dirty="0"/>
              <a:t>항목</a:t>
            </a:r>
            <a:r>
              <a:rPr lang="en-US" altLang="ko-KR" sz="1100" dirty="0"/>
              <a:t>3</a:t>
            </a:r>
            <a:r>
              <a:rPr lang="ko-KR" altLang="en-US" sz="1100" dirty="0"/>
              <a:t>개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5) </a:t>
            </a:r>
            <a:r>
              <a:rPr lang="ko-KR" altLang="en-US" sz="1100" dirty="0"/>
              <a:t>영수증 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이마트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1131356" y="3995962"/>
            <a:ext cx="6157455" cy="12249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이번 강의까지 스스로</a:t>
            </a:r>
            <a:endParaRPr lang="en-US" altLang="ko-KR" dirty="0">
              <a:solidFill>
                <a:srgbClr val="FF0000"/>
              </a:solidFill>
              <a:ea typeface="문체부 쓰기 흘림체" panose="02030609000101010101" pitchFamily="17" charset="-127"/>
            </a:endParaRPr>
          </a:p>
          <a:p>
            <a:r>
              <a:rPr lang="ko-KR" altLang="en-US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실습</a:t>
            </a:r>
            <a:r>
              <a:rPr lang="en-US" altLang="ko-KR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구현</a:t>
            </a:r>
            <a:r>
              <a:rPr lang="en-US" altLang="ko-KR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)</a:t>
            </a:r>
            <a:r>
              <a:rPr lang="ko-KR" altLang="en-US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이 가능하다면 </a:t>
            </a:r>
            <a:endParaRPr lang="en-US" altLang="ko-KR" dirty="0">
              <a:solidFill>
                <a:srgbClr val="FF0000"/>
              </a:solidFill>
              <a:ea typeface="문체부 쓰기 흘림체" panose="02030609000101010101" pitchFamily="17" charset="-127"/>
            </a:endParaRPr>
          </a:p>
          <a:p>
            <a:r>
              <a:rPr lang="ko-KR" altLang="en-US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드디어 개발자로서 아주 기초적인 소양을 갖추었다고 판단합니다</a:t>
            </a:r>
            <a:r>
              <a:rPr lang="en-US" altLang="ko-KR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.</a:t>
            </a:r>
          </a:p>
          <a:p>
            <a:r>
              <a:rPr lang="ko-KR" altLang="en-US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남은 부분도 열심히 하여 마지막 좋은 결과 얻도록 합시다</a:t>
            </a:r>
            <a:r>
              <a:rPr lang="en-US" altLang="ko-KR" dirty="0">
                <a:solidFill>
                  <a:srgbClr val="FF0000"/>
                </a:solidFill>
                <a:ea typeface="문체부 쓰기 흘림체" panose="02030609000101010101" pitchFamily="17" charset="-127"/>
              </a:rPr>
              <a:t>.</a:t>
            </a:r>
            <a:endParaRPr lang="ko-KR" altLang="en-US" dirty="0">
              <a:solidFill>
                <a:srgbClr val="FF0000"/>
              </a:solidFill>
              <a:ea typeface="문체부 쓰기 흘림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39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7. </a:t>
            </a:r>
            <a:r>
              <a:rPr lang="ko-KR" altLang="en-US" sz="1800" dirty="0" err="1"/>
              <a:t>차시</a:t>
            </a:r>
            <a:r>
              <a:rPr lang="ko-KR" altLang="en-US" sz="1800" dirty="0"/>
              <a:t> 예고</a:t>
            </a:r>
            <a:endParaRPr lang="en-US" altLang="ko-KR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53608" y="995898"/>
            <a:ext cx="7450138" cy="289135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sp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차시</a:t>
            </a:r>
            <a:r>
              <a:rPr lang="ko-KR" altLang="en-US" sz="1600" dirty="0"/>
              <a:t> 준비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능력에 따라</a:t>
            </a:r>
            <a:r>
              <a:rPr lang="en-US" altLang="ko-KR" sz="1200" dirty="0"/>
              <a:t>(</a:t>
            </a:r>
            <a:r>
              <a:rPr lang="ko-KR" altLang="en-US" sz="1200" dirty="0"/>
              <a:t>아마 수업같이 할듯한데</a:t>
            </a:r>
            <a:r>
              <a:rPr lang="en-US" altLang="ko-KR" sz="1200" dirty="0"/>
              <a:t>.. </a:t>
            </a:r>
            <a:r>
              <a:rPr lang="ko-KR" altLang="en-US" sz="1200" dirty="0"/>
              <a:t>진도 늦으면 자율</a:t>
            </a:r>
            <a:r>
              <a:rPr lang="en-US" altLang="ko-KR" sz="1200" dirty="0"/>
              <a:t>)</a:t>
            </a:r>
            <a:r>
              <a:rPr lang="ko-KR" altLang="en-US" sz="1200" dirty="0"/>
              <a:t> 다음과정을 진행 함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다음 용어를 인터넷에서 찾아서 감을 잡아본다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변수와 </a:t>
            </a:r>
            <a:r>
              <a:rPr lang="ko-KR" altLang="en-US" sz="1200" dirty="0" err="1"/>
              <a:t>메서드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클래스</a:t>
            </a:r>
            <a:r>
              <a:rPr lang="en-US" altLang="ko-KR" sz="1200" dirty="0"/>
              <a:t>, </a:t>
            </a:r>
            <a:r>
              <a:rPr lang="ko-KR" altLang="en-US" sz="1200" dirty="0"/>
              <a:t>객체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인스턴스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 err="1"/>
              <a:t>메서드</a:t>
            </a:r>
            <a:r>
              <a:rPr lang="ko-KR" altLang="en-US" sz="1200" dirty="0"/>
              <a:t> 오버로딩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 err="1"/>
              <a:t>생성자</a:t>
            </a:r>
            <a:r>
              <a:rPr lang="en-US" altLang="ko-KR" sz="1200" dirty="0"/>
              <a:t>(constructor),(</a:t>
            </a:r>
            <a:r>
              <a:rPr lang="ko-KR" altLang="en-US" sz="1200" dirty="0" err="1"/>
              <a:t>소멸자</a:t>
            </a:r>
            <a:r>
              <a:rPr lang="en-US" altLang="ko-KR" sz="1200" dirty="0"/>
              <a:t>), (</a:t>
            </a:r>
            <a:r>
              <a:rPr lang="ko-KR" altLang="en-US" sz="1200" dirty="0"/>
              <a:t>이벤트</a:t>
            </a:r>
            <a:r>
              <a:rPr lang="en-US" altLang="ko-KR" sz="1200" dirty="0"/>
              <a:t>)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Inheritance 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Overriding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Package</a:t>
            </a:r>
            <a:r>
              <a:rPr lang="ko-KR" altLang="en-US" sz="1200" dirty="0"/>
              <a:t>와 </a:t>
            </a:r>
            <a:r>
              <a:rPr lang="en-US" altLang="ko-KR" sz="1200" dirty="0"/>
              <a:t>Import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modifier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0912242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47474</TotalTime>
  <Words>2436</Words>
  <Application>Microsoft Office PowerPoint</Application>
  <PresentationFormat>A4 용지(210x297mm)</PresentationFormat>
  <Paragraphs>313</Paragraphs>
  <Slides>13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가는각진제목체</vt:lpstr>
      <vt:lpstr>굴림</vt:lpstr>
      <vt:lpstr>돋움</vt:lpstr>
      <vt:lpstr>맑은 고딕</vt:lpstr>
      <vt:lpstr>문체부 쓰기 흘림체</vt:lpstr>
      <vt:lpstr>Arial</vt:lpstr>
      <vt:lpstr>Wingdings</vt:lpstr>
      <vt:lpstr>1_Default Design</vt:lpstr>
      <vt:lpstr>기본 디자인</vt:lpstr>
      <vt:lpstr>3_Default Design</vt:lpstr>
      <vt:lpstr>5. 고객에게 리포트를 제공하자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필두2 홍</cp:lastModifiedBy>
  <cp:revision>2934</cp:revision>
  <cp:lastPrinted>2015-10-28T04:44:44Z</cp:lastPrinted>
  <dcterms:created xsi:type="dcterms:W3CDTF">2003-10-22T07:02:37Z</dcterms:created>
  <dcterms:modified xsi:type="dcterms:W3CDTF">2025-01-09T00:56:47Z</dcterms:modified>
</cp:coreProperties>
</file>