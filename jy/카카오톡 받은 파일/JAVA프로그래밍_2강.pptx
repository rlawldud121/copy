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41"/>
  </p:notesMasterIdLst>
  <p:sldIdLst>
    <p:sldId id="694" r:id="rId4"/>
    <p:sldId id="961" r:id="rId5"/>
    <p:sldId id="977" r:id="rId6"/>
    <p:sldId id="978" r:id="rId7"/>
    <p:sldId id="1028" r:id="rId8"/>
    <p:sldId id="1029" r:id="rId9"/>
    <p:sldId id="1061" r:id="rId10"/>
    <p:sldId id="1030" r:id="rId11"/>
    <p:sldId id="1065" r:id="rId12"/>
    <p:sldId id="1062" r:id="rId13"/>
    <p:sldId id="1066" r:id="rId14"/>
    <p:sldId id="1063" r:id="rId15"/>
    <p:sldId id="1031" r:id="rId16"/>
    <p:sldId id="1064" r:id="rId17"/>
    <p:sldId id="1034" r:id="rId18"/>
    <p:sldId id="1036" r:id="rId19"/>
    <p:sldId id="1037" r:id="rId20"/>
    <p:sldId id="1038" r:id="rId21"/>
    <p:sldId id="1040" r:id="rId22"/>
    <p:sldId id="1042" r:id="rId23"/>
    <p:sldId id="1044" r:id="rId24"/>
    <p:sldId id="1058" r:id="rId25"/>
    <p:sldId id="1045" r:id="rId26"/>
    <p:sldId id="1046" r:id="rId27"/>
    <p:sldId id="1047" r:id="rId28"/>
    <p:sldId id="1048" r:id="rId29"/>
    <p:sldId id="1049" r:id="rId30"/>
    <p:sldId id="1050" r:id="rId31"/>
    <p:sldId id="1051" r:id="rId32"/>
    <p:sldId id="1052" r:id="rId33"/>
    <p:sldId id="1053" r:id="rId34"/>
    <p:sldId id="1054" r:id="rId35"/>
    <p:sldId id="1059" r:id="rId36"/>
    <p:sldId id="1060" r:id="rId37"/>
    <p:sldId id="1055" r:id="rId38"/>
    <p:sldId id="991" r:id="rId39"/>
    <p:sldId id="984" r:id="rId40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FF0000"/>
    <a:srgbClr val="4C6C46"/>
    <a:srgbClr val="003300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A5004-B759-4F2A-8E51-F91A420EE8B1}" v="221" dt="2025-01-02T07:07:29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130" d="100"/>
          <a:sy n="130" d="100"/>
        </p:scale>
        <p:origin x="480" y="96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F7241C1B-9956-45E6-8001-699DD4F8F16B}"/>
    <pc:docChg chg="custSel modSld">
      <pc:chgData name="필두2 홍" userId="0a0ee9c44b803ff9" providerId="LiveId" clId="{F7241C1B-9956-45E6-8001-699DD4F8F16B}" dt="2025-01-03T05:07:44.933" v="309" actId="5793"/>
      <pc:docMkLst>
        <pc:docMk/>
      </pc:docMkLst>
      <pc:sldChg chg="addSp modSp mod">
        <pc:chgData name="필두2 홍" userId="0a0ee9c44b803ff9" providerId="LiveId" clId="{F7241C1B-9956-45E6-8001-699DD4F8F16B}" dt="2025-01-03T05:07:07.456" v="277" actId="20577"/>
        <pc:sldMkLst>
          <pc:docMk/>
          <pc:sldMk cId="0" sldId="694"/>
        </pc:sldMkLst>
        <pc:spChg chg="add mod">
          <ac:chgData name="필두2 홍" userId="0a0ee9c44b803ff9" providerId="LiveId" clId="{F7241C1B-9956-45E6-8001-699DD4F8F16B}" dt="2025-01-03T05:07:07.456" v="277" actId="20577"/>
          <ac:spMkLst>
            <pc:docMk/>
            <pc:sldMk cId="0" sldId="694"/>
            <ac:spMk id="3" creationId="{532D19B6-3E69-9E2C-5175-91A22F9A2825}"/>
          </ac:spMkLst>
        </pc:spChg>
      </pc:sldChg>
      <pc:sldChg chg="modSp mod">
        <pc:chgData name="필두2 홍" userId="0a0ee9c44b803ff9" providerId="LiveId" clId="{F7241C1B-9956-45E6-8001-699DD4F8F16B}" dt="2025-01-03T05:07:44.933" v="309" actId="5793"/>
        <pc:sldMkLst>
          <pc:docMk/>
          <pc:sldMk cId="536599336" sldId="961"/>
        </pc:sldMkLst>
        <pc:spChg chg="mod">
          <ac:chgData name="필두2 홍" userId="0a0ee9c44b803ff9" providerId="LiveId" clId="{F7241C1B-9956-45E6-8001-699DD4F8F16B}" dt="2025-01-03T05:07:44.933" v="309" actId="5793"/>
          <ac:spMkLst>
            <pc:docMk/>
            <pc:sldMk cId="536599336" sldId="961"/>
            <ac:spMk id="331782" creationId="{00000000-0000-0000-0000-000000000000}"/>
          </ac:spMkLst>
        </pc:spChg>
      </pc:sldChg>
      <pc:sldChg chg="modSp mod">
        <pc:chgData name="필두2 홍" userId="0a0ee9c44b803ff9" providerId="LiveId" clId="{F7241C1B-9956-45E6-8001-699DD4F8F16B}" dt="2025-01-03T05:06:27.953" v="209" actId="20577"/>
        <pc:sldMkLst>
          <pc:docMk/>
          <pc:sldMk cId="1134089683" sldId="1034"/>
        </pc:sldMkLst>
        <pc:spChg chg="mod">
          <ac:chgData name="필두2 홍" userId="0a0ee9c44b803ff9" providerId="LiveId" clId="{F7241C1B-9956-45E6-8001-699DD4F8F16B}" dt="2025-01-03T05:06:27.953" v="209" actId="20577"/>
          <ac:spMkLst>
            <pc:docMk/>
            <pc:sldMk cId="1134089683" sldId="1034"/>
            <ac:spMk id="21" creationId="{00000000-0000-0000-0000-000000000000}"/>
          </ac:spMkLst>
        </pc:spChg>
      </pc:sldChg>
    </pc:docChg>
  </pc:docChgLst>
  <pc:docChgLst>
    <pc:chgData name="필두2 홍" userId="0a0ee9c44b803ff9" providerId="LiveId" clId="{1107634F-4556-4D79-9913-5B72024C64CA}"/>
    <pc:docChg chg="custSel modSld">
      <pc:chgData name="필두2 홍" userId="0a0ee9c44b803ff9" providerId="LiveId" clId="{1107634F-4556-4D79-9913-5B72024C64CA}" dt="2024-03-12T02:27:46.577" v="794" actId="20577"/>
      <pc:docMkLst>
        <pc:docMk/>
      </pc:docMkLst>
      <pc:sldChg chg="modSp mod">
        <pc:chgData name="필두2 홍" userId="0a0ee9c44b803ff9" providerId="LiveId" clId="{1107634F-4556-4D79-9913-5B72024C64CA}" dt="2024-03-12T02:27:46.577" v="794" actId="20577"/>
        <pc:sldMkLst>
          <pc:docMk/>
          <pc:sldMk cId="0" sldId="694"/>
        </pc:sldMkLst>
      </pc:sldChg>
      <pc:sldChg chg="modSp mod">
        <pc:chgData name="필두2 홍" userId="0a0ee9c44b803ff9" providerId="LiveId" clId="{1107634F-4556-4D79-9913-5B72024C64CA}" dt="2024-03-12T02:07:46.374" v="785" actId="20577"/>
        <pc:sldMkLst>
          <pc:docMk/>
          <pc:sldMk cId="4091224238" sldId="984"/>
        </pc:sldMkLst>
      </pc:sldChg>
      <pc:sldChg chg="modSp mod">
        <pc:chgData name="필두2 홍" userId="0a0ee9c44b803ff9" providerId="LiveId" clId="{1107634F-4556-4D79-9913-5B72024C64CA}" dt="2024-02-28T01:31:35.487" v="48"/>
        <pc:sldMkLst>
          <pc:docMk/>
          <pc:sldMk cId="2720022833" sldId="1029"/>
        </pc:sldMkLst>
      </pc:sldChg>
      <pc:sldChg chg="modSp mod">
        <pc:chgData name="필두2 홍" userId="0a0ee9c44b803ff9" providerId="LiveId" clId="{1107634F-4556-4D79-9913-5B72024C64CA}" dt="2024-03-12T01:36:52.162" v="427" actId="20577"/>
        <pc:sldMkLst>
          <pc:docMk/>
          <pc:sldMk cId="1105526072" sldId="1036"/>
        </pc:sldMkLst>
      </pc:sldChg>
      <pc:sldChg chg="modSp mod">
        <pc:chgData name="필두2 홍" userId="0a0ee9c44b803ff9" providerId="LiveId" clId="{1107634F-4556-4D79-9913-5B72024C64CA}" dt="2024-03-12T01:37:15.833" v="445" actId="1076"/>
        <pc:sldMkLst>
          <pc:docMk/>
          <pc:sldMk cId="2977771687" sldId="1037"/>
        </pc:sldMkLst>
      </pc:sldChg>
      <pc:sldChg chg="modSp mod modAnim">
        <pc:chgData name="필두2 홍" userId="0a0ee9c44b803ff9" providerId="LiveId" clId="{1107634F-4556-4D79-9913-5B72024C64CA}" dt="2024-03-12T01:31:56.284" v="58" actId="120"/>
        <pc:sldMkLst>
          <pc:docMk/>
          <pc:sldMk cId="23600519" sldId="1038"/>
        </pc:sldMkLst>
      </pc:sldChg>
      <pc:sldChg chg="addSp modSp mod">
        <pc:chgData name="필두2 홍" userId="0a0ee9c44b803ff9" providerId="LiveId" clId="{1107634F-4556-4D79-9913-5B72024C64CA}" dt="2024-03-12T02:05:59.466" v="719" actId="1076"/>
        <pc:sldMkLst>
          <pc:docMk/>
          <pc:sldMk cId="1652516472" sldId="1039"/>
        </pc:sldMkLst>
      </pc:sldChg>
      <pc:sldChg chg="modSp mod modAnim">
        <pc:chgData name="필두2 홍" userId="0a0ee9c44b803ff9" providerId="LiveId" clId="{1107634F-4556-4D79-9913-5B72024C64CA}" dt="2024-03-12T01:32:52.203" v="66" actId="113"/>
        <pc:sldMkLst>
          <pc:docMk/>
          <pc:sldMk cId="2284558762" sldId="1042"/>
        </pc:sldMkLst>
      </pc:sldChg>
    </pc:docChg>
  </pc:docChgLst>
  <pc:docChgLst>
    <pc:chgData name="필두2 홍" userId="0a0ee9c44b803ff9" providerId="LiveId" clId="{39EA5004-B759-4F2A-8E51-F91A420EE8B1}"/>
    <pc:docChg chg="undo custSel addSld delSld modSld">
      <pc:chgData name="필두2 홍" userId="0a0ee9c44b803ff9" providerId="LiveId" clId="{39EA5004-B759-4F2A-8E51-F91A420EE8B1}" dt="2025-01-02T07:07:30.415" v="4434" actId="20577"/>
      <pc:docMkLst>
        <pc:docMk/>
      </pc:docMkLst>
      <pc:sldChg chg="delSp modSp mod">
        <pc:chgData name="필두2 홍" userId="0a0ee9c44b803ff9" providerId="LiveId" clId="{39EA5004-B759-4F2A-8E51-F91A420EE8B1}" dt="2025-01-02T07:07:30.415" v="4434" actId="20577"/>
        <pc:sldMkLst>
          <pc:docMk/>
          <pc:sldMk cId="0" sldId="694"/>
        </pc:sldMkLst>
        <pc:spChg chg="del">
          <ac:chgData name="필두2 홍" userId="0a0ee9c44b803ff9" providerId="LiveId" clId="{39EA5004-B759-4F2A-8E51-F91A420EE8B1}" dt="2025-01-02T07:07:17.243" v="4416" actId="478"/>
          <ac:spMkLst>
            <pc:docMk/>
            <pc:sldMk cId="0" sldId="694"/>
            <ac:spMk id="2" creationId="{00000000-0000-0000-0000-000000000000}"/>
          </ac:spMkLst>
        </pc:spChg>
        <pc:spChg chg="mod">
          <ac:chgData name="필두2 홍" userId="0a0ee9c44b803ff9" providerId="LiveId" clId="{39EA5004-B759-4F2A-8E51-F91A420EE8B1}" dt="2025-01-02T07:06:41.571" v="4415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39EA5004-B759-4F2A-8E51-F91A420EE8B1}" dt="2025-01-02T07:07:30.415" v="4434" actId="20577"/>
          <ac:spMkLst>
            <pc:docMk/>
            <pc:sldMk cId="0" sldId="694"/>
            <ac:spMk id="3074" creationId="{00000000-0000-0000-0000-000000000000}"/>
          </ac:spMkLst>
        </pc:spChg>
      </pc:sldChg>
      <pc:sldChg chg="modSp mod">
        <pc:chgData name="필두2 홍" userId="0a0ee9c44b803ff9" providerId="LiveId" clId="{39EA5004-B759-4F2A-8E51-F91A420EE8B1}" dt="2024-12-30T01:55:01.083" v="12"/>
        <pc:sldMkLst>
          <pc:docMk/>
          <pc:sldMk cId="536599336" sldId="961"/>
        </pc:sldMkLst>
        <pc:spChg chg="mod">
          <ac:chgData name="필두2 홍" userId="0a0ee9c44b803ff9" providerId="LiveId" clId="{39EA5004-B759-4F2A-8E51-F91A420EE8B1}" dt="2024-12-30T01:55:01.083" v="12"/>
          <ac:spMkLst>
            <pc:docMk/>
            <pc:sldMk cId="536599336" sldId="961"/>
            <ac:spMk id="331782" creationId="{00000000-0000-0000-0000-000000000000}"/>
          </ac:spMkLst>
        </pc:spChg>
      </pc:sldChg>
      <pc:sldChg chg="modSp mod">
        <pc:chgData name="필두2 홍" userId="0a0ee9c44b803ff9" providerId="LiveId" clId="{39EA5004-B759-4F2A-8E51-F91A420EE8B1}" dt="2024-12-30T06:09:58.214" v="246" actId="20577"/>
        <pc:sldMkLst>
          <pc:docMk/>
          <pc:sldMk cId="1476144970" sldId="978"/>
        </pc:sldMkLst>
        <pc:spChg chg="mod">
          <ac:chgData name="필두2 홍" userId="0a0ee9c44b803ff9" providerId="LiveId" clId="{39EA5004-B759-4F2A-8E51-F91A420EE8B1}" dt="2024-12-30T06:09:58.214" v="246" actId="20577"/>
          <ac:spMkLst>
            <pc:docMk/>
            <pc:sldMk cId="1476144970" sldId="978"/>
            <ac:spMk id="27" creationId="{00000000-0000-0000-0000-000000000000}"/>
          </ac:spMkLst>
        </pc:spChg>
      </pc:sldChg>
      <pc:sldChg chg="modSp mod">
        <pc:chgData name="필두2 홍" userId="0a0ee9c44b803ff9" providerId="LiveId" clId="{39EA5004-B759-4F2A-8E51-F91A420EE8B1}" dt="2024-12-30T01:48:20.900" v="0" actId="20577"/>
        <pc:sldMkLst>
          <pc:docMk/>
          <pc:sldMk cId="325055492" sldId="1028"/>
        </pc:sldMkLst>
        <pc:spChg chg="mod">
          <ac:chgData name="필두2 홍" userId="0a0ee9c44b803ff9" providerId="LiveId" clId="{39EA5004-B759-4F2A-8E51-F91A420EE8B1}" dt="2024-12-30T01:48:20.900" v="0" actId="20577"/>
          <ac:spMkLst>
            <pc:docMk/>
            <pc:sldMk cId="325055492" sldId="1028"/>
            <ac:spMk id="3" creationId="{00000000-0000-0000-0000-000000000000}"/>
          </ac:spMkLst>
        </pc:spChg>
      </pc:sldChg>
      <pc:sldChg chg="addSp modSp mod">
        <pc:chgData name="필두2 홍" userId="0a0ee9c44b803ff9" providerId="LiveId" clId="{39EA5004-B759-4F2A-8E51-F91A420EE8B1}" dt="2025-01-02T06:31:05.298" v="3331" actId="1076"/>
        <pc:sldMkLst>
          <pc:docMk/>
          <pc:sldMk cId="2720022833" sldId="1029"/>
        </pc:sldMkLst>
        <pc:spChg chg="mod">
          <ac:chgData name="필두2 홍" userId="0a0ee9c44b803ff9" providerId="LiveId" clId="{39EA5004-B759-4F2A-8E51-F91A420EE8B1}" dt="2024-12-30T06:17:05.464" v="729" actId="14100"/>
          <ac:spMkLst>
            <pc:docMk/>
            <pc:sldMk cId="2720022833" sldId="1029"/>
            <ac:spMk id="24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31:05.298" v="3331" actId="1076"/>
          <ac:spMkLst>
            <pc:docMk/>
            <pc:sldMk cId="2720022833" sldId="1029"/>
            <ac:spMk id="31" creationId="{00000000-0000-0000-0000-000000000000}"/>
          </ac:spMkLst>
        </pc:spChg>
        <pc:picChg chg="add mod">
          <ac:chgData name="필두2 홍" userId="0a0ee9c44b803ff9" providerId="LiveId" clId="{39EA5004-B759-4F2A-8E51-F91A420EE8B1}" dt="2024-12-30T06:11:26.410" v="248" actId="1076"/>
          <ac:picMkLst>
            <pc:docMk/>
            <pc:sldMk cId="2720022833" sldId="1029"/>
            <ac:picMk id="3" creationId="{2924508C-65B1-DE31-676D-5BAE4A7CB8AB}"/>
          </ac:picMkLst>
        </pc:picChg>
      </pc:sldChg>
      <pc:sldChg chg="addSp delSp modSp mod">
        <pc:chgData name="필두2 홍" userId="0a0ee9c44b803ff9" providerId="LiveId" clId="{39EA5004-B759-4F2A-8E51-F91A420EE8B1}" dt="2024-12-30T06:54:24.215" v="1607" actId="1076"/>
        <pc:sldMkLst>
          <pc:docMk/>
          <pc:sldMk cId="1124289442" sldId="1030"/>
        </pc:sldMkLst>
        <pc:spChg chg="mod">
          <ac:chgData name="필두2 홍" userId="0a0ee9c44b803ff9" providerId="LiveId" clId="{39EA5004-B759-4F2A-8E51-F91A420EE8B1}" dt="2024-12-30T06:20:26.741" v="858" actId="20577"/>
          <ac:spMkLst>
            <pc:docMk/>
            <pc:sldMk cId="1124289442" sldId="1030"/>
            <ac:spMk id="4" creationId="{00000000-0000-0000-0000-000000000000}"/>
          </ac:spMkLst>
        </pc:spChg>
        <pc:spChg chg="add mod">
          <ac:chgData name="필두2 홍" userId="0a0ee9c44b803ff9" providerId="LiveId" clId="{39EA5004-B759-4F2A-8E51-F91A420EE8B1}" dt="2024-12-30T06:39:13.564" v="1137" actId="20577"/>
          <ac:spMkLst>
            <pc:docMk/>
            <pc:sldMk cId="1124289442" sldId="1030"/>
            <ac:spMk id="5" creationId="{E280FF0C-E0DC-112F-519A-DE26AAD60F04}"/>
          </ac:spMkLst>
        </pc:spChg>
        <pc:picChg chg="add mod">
          <ac:chgData name="필두2 홍" userId="0a0ee9c44b803ff9" providerId="LiveId" clId="{39EA5004-B759-4F2A-8E51-F91A420EE8B1}" dt="2024-12-30T06:54:11.570" v="1603" actId="1076"/>
          <ac:picMkLst>
            <pc:docMk/>
            <pc:sldMk cId="1124289442" sldId="1030"/>
            <ac:picMk id="3" creationId="{36EB70B1-53F2-159D-0583-2FF53AE1E2FB}"/>
          </ac:picMkLst>
        </pc:picChg>
        <pc:picChg chg="add mod">
          <ac:chgData name="필두2 홍" userId="0a0ee9c44b803ff9" providerId="LiveId" clId="{39EA5004-B759-4F2A-8E51-F91A420EE8B1}" dt="2024-12-30T06:54:24.215" v="1607" actId="1076"/>
          <ac:picMkLst>
            <pc:docMk/>
            <pc:sldMk cId="1124289442" sldId="1030"/>
            <ac:picMk id="7" creationId="{0ED3E615-66D2-9D10-FDC4-BBE2931043F7}"/>
          </ac:picMkLst>
        </pc:picChg>
      </pc:sldChg>
      <pc:sldChg chg="addSp delSp modSp mod">
        <pc:chgData name="필두2 홍" userId="0a0ee9c44b803ff9" providerId="LiveId" clId="{39EA5004-B759-4F2A-8E51-F91A420EE8B1}" dt="2024-12-31T06:36:31.070" v="3330" actId="1076"/>
        <pc:sldMkLst>
          <pc:docMk/>
          <pc:sldMk cId="357055" sldId="1031"/>
        </pc:sldMkLst>
        <pc:spChg chg="mod">
          <ac:chgData name="필두2 홍" userId="0a0ee9c44b803ff9" providerId="LiveId" clId="{39EA5004-B759-4F2A-8E51-F91A420EE8B1}" dt="2024-12-31T06:34:46.870" v="3327"/>
          <ac:spMkLst>
            <pc:docMk/>
            <pc:sldMk cId="357055" sldId="1031"/>
            <ac:spMk id="35" creationId="{00000000-0000-0000-0000-000000000000}"/>
          </ac:spMkLst>
        </pc:spChg>
        <pc:picChg chg="add mod">
          <ac:chgData name="필두2 홍" userId="0a0ee9c44b803ff9" providerId="LiveId" clId="{39EA5004-B759-4F2A-8E51-F91A420EE8B1}" dt="2024-12-31T06:36:31.070" v="3330" actId="1076"/>
          <ac:picMkLst>
            <pc:docMk/>
            <pc:sldMk cId="357055" sldId="1031"/>
            <ac:picMk id="5" creationId="{D85BC769-B403-1B26-CE83-11442F032C12}"/>
          </ac:picMkLst>
        </pc:picChg>
      </pc:sldChg>
      <pc:sldChg chg="addSp delSp modSp mod">
        <pc:chgData name="필두2 홍" userId="0a0ee9c44b803ff9" providerId="LiveId" clId="{39EA5004-B759-4F2A-8E51-F91A420EE8B1}" dt="2025-01-02T07:01:55.646" v="4394" actId="6549"/>
        <pc:sldMkLst>
          <pc:docMk/>
          <pc:sldMk cId="2977771687" sldId="1037"/>
        </pc:sldMkLst>
        <pc:spChg chg="add mod">
          <ac:chgData name="필두2 홍" userId="0a0ee9c44b803ff9" providerId="LiveId" clId="{39EA5004-B759-4F2A-8E51-F91A420EE8B1}" dt="2025-01-02T07:00:52.981" v="4235"/>
          <ac:spMkLst>
            <pc:docMk/>
            <pc:sldMk cId="2977771687" sldId="1037"/>
            <ac:spMk id="4" creationId="{785129AA-6677-0124-62F4-53E346546F50}"/>
          </ac:spMkLst>
        </pc:spChg>
        <pc:spChg chg="add mod">
          <ac:chgData name="필두2 홍" userId="0a0ee9c44b803ff9" providerId="LiveId" clId="{39EA5004-B759-4F2A-8E51-F91A420EE8B1}" dt="2025-01-02T07:01:10.362" v="4242" actId="403"/>
          <ac:spMkLst>
            <pc:docMk/>
            <pc:sldMk cId="2977771687" sldId="1037"/>
            <ac:spMk id="6" creationId="{C0604CBB-74EF-A734-2996-FBD07F409765}"/>
          </ac:spMkLst>
        </pc:spChg>
        <pc:spChg chg="mod">
          <ac:chgData name="필두2 홍" userId="0a0ee9c44b803ff9" providerId="LiveId" clId="{39EA5004-B759-4F2A-8E51-F91A420EE8B1}" dt="2025-01-02T07:01:55.646" v="4394" actId="6549"/>
          <ac:spMkLst>
            <pc:docMk/>
            <pc:sldMk cId="2977771687" sldId="1037"/>
            <ac:spMk id="42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50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54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57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58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59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1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2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3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4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5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6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7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8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69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0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1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4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5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6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7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8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79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0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1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2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3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4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5" creationId="{00000000-0000-0000-0000-000000000000}"/>
          </ac:spMkLst>
        </pc:spChg>
        <pc:spChg chg="mod">
          <ac:chgData name="필두2 홍" userId="0a0ee9c44b803ff9" providerId="LiveId" clId="{39EA5004-B759-4F2A-8E51-F91A420EE8B1}" dt="2025-01-02T06:59:31.776" v="4154" actId="1076"/>
          <ac:spMkLst>
            <pc:docMk/>
            <pc:sldMk cId="2977771687" sldId="1037"/>
            <ac:spMk id="87086" creationId="{00000000-0000-0000-0000-000000000000}"/>
          </ac:spMkLst>
        </pc:spChg>
        <pc:grpChg chg="del mod">
          <ac:chgData name="필두2 홍" userId="0a0ee9c44b803ff9" providerId="LiveId" clId="{39EA5004-B759-4F2A-8E51-F91A420EE8B1}" dt="2025-01-02T06:59:34.524" v="4155" actId="478"/>
          <ac:grpSpMkLst>
            <pc:docMk/>
            <pc:sldMk cId="2977771687" sldId="1037"/>
            <ac:grpSpMk id="3" creationId="{00000000-0000-0000-0000-000000000000}"/>
          </ac:grpSpMkLst>
        </pc:grpChg>
      </pc:sldChg>
      <pc:sldChg chg="del">
        <pc:chgData name="필두2 홍" userId="0a0ee9c44b803ff9" providerId="LiveId" clId="{39EA5004-B759-4F2A-8E51-F91A420EE8B1}" dt="2025-01-02T07:02:17.734" v="4395" actId="47"/>
        <pc:sldMkLst>
          <pc:docMk/>
          <pc:sldMk cId="1652516472" sldId="1039"/>
        </pc:sldMkLst>
      </pc:sldChg>
      <pc:sldChg chg="modSp add mod">
        <pc:chgData name="필두2 홍" userId="0a0ee9c44b803ff9" providerId="LiveId" clId="{39EA5004-B759-4F2A-8E51-F91A420EE8B1}" dt="2024-12-30T06:15:32.986" v="550" actId="6549"/>
        <pc:sldMkLst>
          <pc:docMk/>
          <pc:sldMk cId="3775869859" sldId="1061"/>
        </pc:sldMkLst>
        <pc:spChg chg="mod">
          <ac:chgData name="필두2 홍" userId="0a0ee9c44b803ff9" providerId="LiveId" clId="{39EA5004-B759-4F2A-8E51-F91A420EE8B1}" dt="2024-12-30T06:15:32.986" v="550" actId="6549"/>
          <ac:spMkLst>
            <pc:docMk/>
            <pc:sldMk cId="3775869859" sldId="1061"/>
            <ac:spMk id="24" creationId="{5DFB6836-34D9-B8C1-F579-91401D907810}"/>
          </ac:spMkLst>
        </pc:spChg>
      </pc:sldChg>
      <pc:sldChg chg="addSp delSp modSp add mod">
        <pc:chgData name="필두2 홍" userId="0a0ee9c44b803ff9" providerId="LiveId" clId="{39EA5004-B759-4F2A-8E51-F91A420EE8B1}" dt="2024-12-30T06:58:49.619" v="1990" actId="1076"/>
        <pc:sldMkLst>
          <pc:docMk/>
          <pc:sldMk cId="3449310374" sldId="1062"/>
        </pc:sldMkLst>
        <pc:spChg chg="mod">
          <ac:chgData name="필두2 홍" userId="0a0ee9c44b803ff9" providerId="LiveId" clId="{39EA5004-B759-4F2A-8E51-F91A420EE8B1}" dt="2024-12-30T06:29:02.930" v="999" actId="20577"/>
          <ac:spMkLst>
            <pc:docMk/>
            <pc:sldMk cId="3449310374" sldId="1062"/>
            <ac:spMk id="4" creationId="{65FBDCD9-2A5D-B39A-E876-8C1A2C6EF127}"/>
          </ac:spMkLst>
        </pc:spChg>
        <pc:spChg chg="mod">
          <ac:chgData name="필두2 홍" userId="0a0ee9c44b803ff9" providerId="LiveId" clId="{39EA5004-B759-4F2A-8E51-F91A420EE8B1}" dt="2024-12-30T06:45:50.268" v="1601" actId="6549"/>
          <ac:spMkLst>
            <pc:docMk/>
            <pc:sldMk cId="3449310374" sldId="1062"/>
            <ac:spMk id="5" creationId="{144C4C7D-474A-27DA-7F06-C013539C6542}"/>
          </ac:spMkLst>
        </pc:spChg>
        <pc:picChg chg="add mod">
          <ac:chgData name="필두2 홍" userId="0a0ee9c44b803ff9" providerId="LiveId" clId="{39EA5004-B759-4F2A-8E51-F91A420EE8B1}" dt="2024-12-30T06:58:49.619" v="1990" actId="1076"/>
          <ac:picMkLst>
            <pc:docMk/>
            <pc:sldMk cId="3449310374" sldId="1062"/>
            <ac:picMk id="6" creationId="{8369F4AF-4C0B-F21B-AEBB-36BA93900101}"/>
          </ac:picMkLst>
        </pc:picChg>
      </pc:sldChg>
      <pc:sldChg chg="delSp modSp add mod">
        <pc:chgData name="필두2 홍" userId="0a0ee9c44b803ff9" providerId="LiveId" clId="{39EA5004-B759-4F2A-8E51-F91A420EE8B1}" dt="2024-12-31T06:29:33.009" v="3014" actId="207"/>
        <pc:sldMkLst>
          <pc:docMk/>
          <pc:sldMk cId="3660350849" sldId="1063"/>
        </pc:sldMkLst>
        <pc:spChg chg="mod">
          <ac:chgData name="필두2 홍" userId="0a0ee9c44b803ff9" providerId="LiveId" clId="{39EA5004-B759-4F2A-8E51-F91A420EE8B1}" dt="2024-12-31T06:29:33.009" v="3014" actId="207"/>
          <ac:spMkLst>
            <pc:docMk/>
            <pc:sldMk cId="3660350849" sldId="1063"/>
            <ac:spMk id="4" creationId="{7CC60706-215D-0462-1C4B-62826C3733B3}"/>
          </ac:spMkLst>
        </pc:spChg>
      </pc:sldChg>
      <pc:sldChg chg="add">
        <pc:chgData name="필두2 홍" userId="0a0ee9c44b803ff9" providerId="LiveId" clId="{39EA5004-B759-4F2A-8E51-F91A420EE8B1}" dt="2024-12-31T06:30:32.669" v="3015"/>
        <pc:sldMkLst>
          <pc:docMk/>
          <pc:sldMk cId="3767155412" sldId="1064"/>
        </pc:sldMkLst>
      </pc:sldChg>
      <pc:sldChg chg="addSp delSp modSp add mod">
        <pc:chgData name="필두2 홍" userId="0a0ee9c44b803ff9" providerId="LiveId" clId="{39EA5004-B759-4F2A-8E51-F91A420EE8B1}" dt="2025-01-02T06:40:04.042" v="3684" actId="20577"/>
        <pc:sldMkLst>
          <pc:docMk/>
          <pc:sldMk cId="2202514243" sldId="1065"/>
        </pc:sldMkLst>
        <pc:spChg chg="mod">
          <ac:chgData name="필두2 홍" userId="0a0ee9c44b803ff9" providerId="LiveId" clId="{39EA5004-B759-4F2A-8E51-F91A420EE8B1}" dt="2025-01-02T06:39:45.958" v="3681" actId="404"/>
          <ac:spMkLst>
            <pc:docMk/>
            <pc:sldMk cId="2202514243" sldId="1065"/>
            <ac:spMk id="4" creationId="{AE999471-8667-1434-5EC4-2F690704AF14}"/>
          </ac:spMkLst>
        </pc:spChg>
        <pc:spChg chg="mod">
          <ac:chgData name="필두2 홍" userId="0a0ee9c44b803ff9" providerId="LiveId" clId="{39EA5004-B759-4F2A-8E51-F91A420EE8B1}" dt="2025-01-02T06:40:04.042" v="3684" actId="20577"/>
          <ac:spMkLst>
            <pc:docMk/>
            <pc:sldMk cId="2202514243" sldId="1065"/>
            <ac:spMk id="5" creationId="{38814A11-D336-8806-B760-E3C27C54698A}"/>
          </ac:spMkLst>
        </pc:spChg>
        <pc:picChg chg="del">
          <ac:chgData name="필두2 홍" userId="0a0ee9c44b803ff9" providerId="LiveId" clId="{39EA5004-B759-4F2A-8E51-F91A420EE8B1}" dt="2025-01-02T06:35:00.946" v="3333" actId="478"/>
          <ac:picMkLst>
            <pc:docMk/>
            <pc:sldMk cId="2202514243" sldId="1065"/>
            <ac:picMk id="3" creationId="{03CB298F-93A1-479D-2D98-CB8973628401}"/>
          </ac:picMkLst>
        </pc:picChg>
        <pc:picChg chg="add mod">
          <ac:chgData name="필두2 홍" userId="0a0ee9c44b803ff9" providerId="LiveId" clId="{39EA5004-B759-4F2A-8E51-F91A420EE8B1}" dt="2025-01-02T06:39:49.512" v="3682" actId="1076"/>
          <ac:picMkLst>
            <pc:docMk/>
            <pc:sldMk cId="2202514243" sldId="1065"/>
            <ac:picMk id="6" creationId="{F2FB99DB-710D-6930-2138-A7DFB721C601}"/>
          </ac:picMkLst>
        </pc:picChg>
        <pc:picChg chg="del">
          <ac:chgData name="필두2 홍" userId="0a0ee9c44b803ff9" providerId="LiveId" clId="{39EA5004-B759-4F2A-8E51-F91A420EE8B1}" dt="2025-01-02T06:39:52.541" v="3683" actId="478"/>
          <ac:picMkLst>
            <pc:docMk/>
            <pc:sldMk cId="2202514243" sldId="1065"/>
            <ac:picMk id="7" creationId="{45F3CAD8-746B-90A0-CD9B-C302515AF6E9}"/>
          </ac:picMkLst>
        </pc:picChg>
      </pc:sldChg>
      <pc:sldChg chg="addSp delSp modSp add mod">
        <pc:chgData name="필두2 홍" userId="0a0ee9c44b803ff9" providerId="LiveId" clId="{39EA5004-B759-4F2A-8E51-F91A420EE8B1}" dt="2025-01-02T06:51:21.477" v="3949" actId="1076"/>
        <pc:sldMkLst>
          <pc:docMk/>
          <pc:sldMk cId="2318723527" sldId="1066"/>
        </pc:sldMkLst>
        <pc:spChg chg="mod">
          <ac:chgData name="필두2 홍" userId="0a0ee9c44b803ff9" providerId="LiveId" clId="{39EA5004-B759-4F2A-8E51-F91A420EE8B1}" dt="2025-01-02T06:41:58.402" v="3882" actId="6549"/>
          <ac:spMkLst>
            <pc:docMk/>
            <pc:sldMk cId="2318723527" sldId="1066"/>
            <ac:spMk id="4" creationId="{419C1F51-89A3-C447-1075-28F28446E89C}"/>
          </ac:spMkLst>
        </pc:spChg>
        <pc:spChg chg="add mod">
          <ac:chgData name="필두2 홍" userId="0a0ee9c44b803ff9" providerId="LiveId" clId="{39EA5004-B759-4F2A-8E51-F91A420EE8B1}" dt="2025-01-02T06:51:21.477" v="3949" actId="1076"/>
          <ac:spMkLst>
            <pc:docMk/>
            <pc:sldMk cId="2318723527" sldId="1066"/>
            <ac:spMk id="10" creationId="{79697A6D-8E2F-F7A4-6518-A600688A7633}"/>
          </ac:spMkLst>
        </pc:spChg>
        <pc:picChg chg="add mod">
          <ac:chgData name="필두2 홍" userId="0a0ee9c44b803ff9" providerId="LiveId" clId="{39EA5004-B759-4F2A-8E51-F91A420EE8B1}" dt="2025-01-02T06:46:56.212" v="3885" actId="1076"/>
          <ac:picMkLst>
            <pc:docMk/>
            <pc:sldMk cId="2318723527" sldId="1066"/>
            <ac:picMk id="3" creationId="{1DA6FC54-E046-55BB-9CE1-6BB6C3984EEE}"/>
          </ac:picMkLst>
        </pc:picChg>
        <pc:picChg chg="del">
          <ac:chgData name="필두2 홍" userId="0a0ee9c44b803ff9" providerId="LiveId" clId="{39EA5004-B759-4F2A-8E51-F91A420EE8B1}" dt="2025-01-02T06:46:52.218" v="3883" actId="478"/>
          <ac:picMkLst>
            <pc:docMk/>
            <pc:sldMk cId="2318723527" sldId="1066"/>
            <ac:picMk id="6" creationId="{7F11F526-461F-BE94-9A11-32B7A67F52E1}"/>
          </ac:picMkLst>
        </pc:picChg>
        <pc:picChg chg="add mod">
          <ac:chgData name="필두2 홍" userId="0a0ee9c44b803ff9" providerId="LiveId" clId="{39EA5004-B759-4F2A-8E51-F91A420EE8B1}" dt="2025-01-02T06:47:26.130" v="3887" actId="1076"/>
          <ac:picMkLst>
            <pc:docMk/>
            <pc:sldMk cId="2318723527" sldId="1066"/>
            <ac:picMk id="8" creationId="{9FB4E718-B0B6-7431-B154-0E08B1BB566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1024" units="cm"/>
        </inkml:traceFormat>
        <inkml:channelProperties>
          <inkml:channelProperty channel="X" name="resolution" value="38" units="1/cm"/>
          <inkml:channelProperty channel="Y" name="resolution" value="37" units="1/cm"/>
        </inkml:channelProperties>
      </inkml:inkSource>
      <inkml:timestamp xml:id="ts0" timeString="2008-04-20T17:59:26.56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368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E0D814-2B84-4077-A92C-C795215CBEE9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앞에서 변수가 값을 저장하기 위한 기억공간이라고 하였는데요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변수에 어떤 값을 저장할 것인가에 따라 변수의 타입이 결정됩니다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그러면</a:t>
            </a:r>
            <a:r>
              <a:rPr lang="en-US" altLang="ko-KR" sz="900"/>
              <a:t>… </a:t>
            </a:r>
            <a:r>
              <a:rPr lang="ko-KR" altLang="en-US" sz="900"/>
              <a:t>우리가 자주 사용하는 값의 종류에는 어떤 것들이 있을까요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먼저 문자가 있겠고요</a:t>
            </a:r>
            <a:r>
              <a:rPr lang="en-US" altLang="ko-KR" sz="900"/>
              <a:t>. </a:t>
            </a:r>
            <a:r>
              <a:rPr lang="ko-KR" altLang="en-US" sz="900"/>
              <a:t>가</a:t>
            </a:r>
            <a:r>
              <a:rPr lang="en-US" altLang="ko-KR" sz="900"/>
              <a:t>,</a:t>
            </a:r>
            <a:r>
              <a:rPr lang="ko-KR" altLang="en-US" sz="900"/>
              <a:t>나</a:t>
            </a:r>
            <a:r>
              <a:rPr lang="en-US" altLang="ko-KR" sz="900"/>
              <a:t>, </a:t>
            </a:r>
            <a:r>
              <a:rPr lang="ko-KR" altLang="en-US" sz="900"/>
              <a:t>다</a:t>
            </a:r>
            <a:r>
              <a:rPr lang="en-US" altLang="ko-KR" sz="900"/>
              <a:t>, A,B,C</a:t>
            </a:r>
            <a:r>
              <a:rPr lang="ko-KR" altLang="en-US" sz="900"/>
              <a:t>와 같은 값들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그리고 숫자도 있겠지요</a:t>
            </a:r>
            <a:r>
              <a:rPr lang="en-US" altLang="ko-KR" sz="900"/>
              <a:t>… </a:t>
            </a:r>
            <a:r>
              <a:rPr lang="ko-KR" altLang="en-US" sz="900"/>
              <a:t>숫자는 다시 정수와 실수로 나눠지고요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정수는 </a:t>
            </a:r>
            <a:r>
              <a:rPr lang="en-US" altLang="ko-KR" sz="900"/>
              <a:t>1,2,3, 100, 200 … </a:t>
            </a:r>
            <a:r>
              <a:rPr lang="ko-KR" altLang="en-US" sz="900"/>
              <a:t>이런 값들이 정수고요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실수는 </a:t>
            </a:r>
            <a:r>
              <a:rPr lang="en-US" altLang="ko-KR" sz="900"/>
              <a:t>0.1, 3.14</a:t>
            </a:r>
            <a:r>
              <a:rPr lang="ko-KR" altLang="en-US" sz="900"/>
              <a:t>와 같이 소수점이 있는 수라는 것은 설명을 안해도 이미 잘 알고 계실겁니다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변수에 문자를 저장하고자 한다면</a:t>
            </a:r>
            <a:r>
              <a:rPr lang="en-US" altLang="ko-KR" sz="900"/>
              <a:t>, </a:t>
            </a:r>
            <a:r>
              <a:rPr lang="ko-KR" altLang="en-US" sz="900"/>
              <a:t>변수의 타입을 </a:t>
            </a:r>
            <a:r>
              <a:rPr lang="en-US" altLang="ko-KR" sz="900"/>
              <a:t>char</a:t>
            </a:r>
            <a:r>
              <a:rPr lang="ko-KR" altLang="en-US" sz="900"/>
              <a:t>로 지정해야하고요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정수를 저장하고자 한다면</a:t>
            </a:r>
            <a:r>
              <a:rPr lang="en-US" altLang="ko-KR" sz="900"/>
              <a:t>, byte, short, int, long </a:t>
            </a:r>
            <a:r>
              <a:rPr lang="ko-KR" altLang="en-US" sz="900"/>
              <a:t>중의 하나를 선택해야야합니다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정수는 가장 많이 쓰이는 값이기 때문에</a:t>
            </a:r>
            <a:r>
              <a:rPr lang="en-US" altLang="ko-KR" sz="900"/>
              <a:t>… 4</a:t>
            </a:r>
            <a:r>
              <a:rPr lang="ko-KR" altLang="en-US" sz="900"/>
              <a:t>개의 타입으로 세분화 하였고요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저장하고자 하는 값의 크기와 용도에 따라 이 </a:t>
            </a:r>
            <a:r>
              <a:rPr lang="en-US" altLang="ko-KR" sz="900"/>
              <a:t>4</a:t>
            </a:r>
            <a:r>
              <a:rPr lang="ko-KR" altLang="en-US" sz="900"/>
              <a:t>개의 타입 중에서 선택하면 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각 타입의 차이와 특징에 대해서는 잠시 후에 자세히 알아볼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그리고</a:t>
            </a:r>
            <a:r>
              <a:rPr lang="en-US" altLang="ko-KR" sz="900"/>
              <a:t>… </a:t>
            </a:r>
            <a:r>
              <a:rPr lang="ko-KR" altLang="en-US" sz="900"/>
              <a:t>실수에는 </a:t>
            </a:r>
            <a:r>
              <a:rPr lang="en-US" altLang="ko-KR" sz="900"/>
              <a:t>float</a:t>
            </a:r>
            <a:r>
              <a:rPr lang="ko-KR" altLang="en-US" sz="900"/>
              <a:t>와 </a:t>
            </a:r>
            <a:r>
              <a:rPr lang="en-US" altLang="ko-KR" sz="900"/>
              <a:t>double </a:t>
            </a:r>
            <a:r>
              <a:rPr lang="ko-KR" altLang="en-US" sz="900"/>
              <a:t>두 개의 타입이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이 외에</a:t>
            </a:r>
            <a:r>
              <a:rPr lang="en-US" altLang="ko-KR" sz="900"/>
              <a:t>… </a:t>
            </a:r>
            <a:r>
              <a:rPr lang="ko-KR" altLang="en-US" sz="900"/>
              <a:t>논리값을 저장하는데 사용되는 </a:t>
            </a:r>
            <a:r>
              <a:rPr lang="en-US" altLang="ko-KR" sz="900"/>
              <a:t>boolean</a:t>
            </a:r>
            <a:r>
              <a:rPr lang="ko-KR" altLang="en-US" sz="900"/>
              <a:t>이 있는데요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boolean</a:t>
            </a:r>
            <a:r>
              <a:rPr lang="ko-KR" altLang="en-US" sz="900"/>
              <a:t>타입의 변수에는 참과 거짓을 의미하는 </a:t>
            </a:r>
            <a:r>
              <a:rPr lang="en-US" altLang="ko-KR" sz="900"/>
              <a:t>true</a:t>
            </a:r>
            <a:r>
              <a:rPr lang="ko-KR" altLang="en-US" sz="900"/>
              <a:t>와 </a:t>
            </a:r>
            <a:r>
              <a:rPr lang="en-US" altLang="ko-KR" sz="900"/>
              <a:t>false</a:t>
            </a:r>
            <a:r>
              <a:rPr lang="ko-KR" altLang="en-US" sz="900"/>
              <a:t>를 저장할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자바에서는 이처럼 값의 종류에 따라 </a:t>
            </a:r>
            <a:r>
              <a:rPr lang="en-US" altLang="ko-KR" sz="900"/>
              <a:t>8</a:t>
            </a:r>
            <a:r>
              <a:rPr lang="ko-KR" altLang="en-US" sz="900"/>
              <a:t>개의 타입을 정의하였는데요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개의 타입을 기본형</a:t>
            </a:r>
            <a:r>
              <a:rPr lang="en-US" altLang="ko-KR" sz="900"/>
              <a:t>, primitive type</a:t>
            </a:r>
            <a:r>
              <a:rPr lang="ko-KR" altLang="en-US" sz="900"/>
              <a:t>이라고 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값</a:t>
            </a:r>
            <a:r>
              <a:rPr lang="en-US" altLang="ko-KR" sz="900"/>
              <a:t>, </a:t>
            </a:r>
            <a:r>
              <a:rPr lang="ko-KR" altLang="en-US" sz="900"/>
              <a:t>즉 데이터를 저장하는데 가장 기본이 되는 타입이라는 것이죠</a:t>
            </a:r>
            <a:r>
              <a:rPr lang="en-US" altLang="ko-KR" sz="900"/>
              <a:t>.</a:t>
            </a:r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670426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0E29-F0D7-F9C8-8F85-F8FE34984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E549843-F32C-AE63-5E3A-5ADE76F78B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E0D814-2B84-4077-A92C-C795215CBEE9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78F4050A-7800-ECBB-06F4-6A20216D63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683DDADF-88FE-7A28-CC4C-CD7E3AA39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앞에서 변수가 값을 저장하기 위한 기억공간이라고 하였는데요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변수에 어떤 값을 저장할 것인가에 따라 변수의 타입이 결정됩니다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그러면</a:t>
            </a:r>
            <a:r>
              <a:rPr lang="en-US" altLang="ko-KR" sz="900"/>
              <a:t>… </a:t>
            </a:r>
            <a:r>
              <a:rPr lang="ko-KR" altLang="en-US" sz="900"/>
              <a:t>우리가 자주 사용하는 값의 종류에는 어떤 것들이 있을까요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먼저 문자가 있겠고요</a:t>
            </a:r>
            <a:r>
              <a:rPr lang="en-US" altLang="ko-KR" sz="900"/>
              <a:t>. </a:t>
            </a:r>
            <a:r>
              <a:rPr lang="ko-KR" altLang="en-US" sz="900"/>
              <a:t>가</a:t>
            </a:r>
            <a:r>
              <a:rPr lang="en-US" altLang="ko-KR" sz="900"/>
              <a:t>,</a:t>
            </a:r>
            <a:r>
              <a:rPr lang="ko-KR" altLang="en-US" sz="900"/>
              <a:t>나</a:t>
            </a:r>
            <a:r>
              <a:rPr lang="en-US" altLang="ko-KR" sz="900"/>
              <a:t>, </a:t>
            </a:r>
            <a:r>
              <a:rPr lang="ko-KR" altLang="en-US" sz="900"/>
              <a:t>다</a:t>
            </a:r>
            <a:r>
              <a:rPr lang="en-US" altLang="ko-KR" sz="900"/>
              <a:t>, A,B,C</a:t>
            </a:r>
            <a:r>
              <a:rPr lang="ko-KR" altLang="en-US" sz="900"/>
              <a:t>와 같은 값들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그리고 숫자도 있겠지요</a:t>
            </a:r>
            <a:r>
              <a:rPr lang="en-US" altLang="ko-KR" sz="900"/>
              <a:t>… </a:t>
            </a:r>
            <a:r>
              <a:rPr lang="ko-KR" altLang="en-US" sz="900"/>
              <a:t>숫자는 다시 정수와 실수로 나눠지고요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정수는 </a:t>
            </a:r>
            <a:r>
              <a:rPr lang="en-US" altLang="ko-KR" sz="900"/>
              <a:t>1,2,3, 100, 200 … </a:t>
            </a:r>
            <a:r>
              <a:rPr lang="ko-KR" altLang="en-US" sz="900"/>
              <a:t>이런 값들이 정수고요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실수는 </a:t>
            </a:r>
            <a:r>
              <a:rPr lang="en-US" altLang="ko-KR" sz="900"/>
              <a:t>0.1, 3.14</a:t>
            </a:r>
            <a:r>
              <a:rPr lang="ko-KR" altLang="en-US" sz="900"/>
              <a:t>와 같이 소수점이 있는 수라는 것은 설명을 안해도 이미 잘 알고 계실겁니다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변수에 문자를 저장하고자 한다면</a:t>
            </a:r>
            <a:r>
              <a:rPr lang="en-US" altLang="ko-KR" sz="900"/>
              <a:t>, </a:t>
            </a:r>
            <a:r>
              <a:rPr lang="ko-KR" altLang="en-US" sz="900"/>
              <a:t>변수의 타입을 </a:t>
            </a:r>
            <a:r>
              <a:rPr lang="en-US" altLang="ko-KR" sz="900"/>
              <a:t>char</a:t>
            </a:r>
            <a:r>
              <a:rPr lang="ko-KR" altLang="en-US" sz="900"/>
              <a:t>로 지정해야하고요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정수를 저장하고자 한다면</a:t>
            </a:r>
            <a:r>
              <a:rPr lang="en-US" altLang="ko-KR" sz="900"/>
              <a:t>, byte, short, int, long </a:t>
            </a:r>
            <a:r>
              <a:rPr lang="ko-KR" altLang="en-US" sz="900"/>
              <a:t>중의 하나를 선택해야야합니다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정수는 가장 많이 쓰이는 값이기 때문에</a:t>
            </a:r>
            <a:r>
              <a:rPr lang="en-US" altLang="ko-KR" sz="900"/>
              <a:t>… 4</a:t>
            </a:r>
            <a:r>
              <a:rPr lang="ko-KR" altLang="en-US" sz="900"/>
              <a:t>개의 타입으로 세분화 하였고요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저장하고자 하는 값의 크기와 용도에 따라 이 </a:t>
            </a:r>
            <a:r>
              <a:rPr lang="en-US" altLang="ko-KR" sz="900"/>
              <a:t>4</a:t>
            </a:r>
            <a:r>
              <a:rPr lang="ko-KR" altLang="en-US" sz="900"/>
              <a:t>개의 타입 중에서 선택하면 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각 타입의 차이와 특징에 대해서는 잠시 후에 자세히 알아볼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그리고</a:t>
            </a:r>
            <a:r>
              <a:rPr lang="en-US" altLang="ko-KR" sz="900"/>
              <a:t>… </a:t>
            </a:r>
            <a:r>
              <a:rPr lang="ko-KR" altLang="en-US" sz="900"/>
              <a:t>실수에는 </a:t>
            </a:r>
            <a:r>
              <a:rPr lang="en-US" altLang="ko-KR" sz="900"/>
              <a:t>float</a:t>
            </a:r>
            <a:r>
              <a:rPr lang="ko-KR" altLang="en-US" sz="900"/>
              <a:t>와 </a:t>
            </a:r>
            <a:r>
              <a:rPr lang="en-US" altLang="ko-KR" sz="900"/>
              <a:t>double </a:t>
            </a:r>
            <a:r>
              <a:rPr lang="ko-KR" altLang="en-US" sz="900"/>
              <a:t>두 개의 타입이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이 외에</a:t>
            </a:r>
            <a:r>
              <a:rPr lang="en-US" altLang="ko-KR" sz="900"/>
              <a:t>… </a:t>
            </a:r>
            <a:r>
              <a:rPr lang="ko-KR" altLang="en-US" sz="900"/>
              <a:t>논리값을 저장하는데 사용되는 </a:t>
            </a:r>
            <a:r>
              <a:rPr lang="en-US" altLang="ko-KR" sz="900"/>
              <a:t>boolean</a:t>
            </a:r>
            <a:r>
              <a:rPr lang="ko-KR" altLang="en-US" sz="900"/>
              <a:t>이 있는데요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boolean</a:t>
            </a:r>
            <a:r>
              <a:rPr lang="ko-KR" altLang="en-US" sz="900"/>
              <a:t>타입의 변수에는 참과 거짓을 의미하는 </a:t>
            </a:r>
            <a:r>
              <a:rPr lang="en-US" altLang="ko-KR" sz="900"/>
              <a:t>true</a:t>
            </a:r>
            <a:r>
              <a:rPr lang="ko-KR" altLang="en-US" sz="900"/>
              <a:t>와 </a:t>
            </a:r>
            <a:r>
              <a:rPr lang="en-US" altLang="ko-KR" sz="900"/>
              <a:t>false</a:t>
            </a:r>
            <a:r>
              <a:rPr lang="ko-KR" altLang="en-US" sz="900"/>
              <a:t>를 저장할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자바에서는 이처럼 값의 종류에 따라 </a:t>
            </a:r>
            <a:r>
              <a:rPr lang="en-US" altLang="ko-KR" sz="900"/>
              <a:t>8</a:t>
            </a:r>
            <a:r>
              <a:rPr lang="ko-KR" altLang="en-US" sz="900"/>
              <a:t>개의 타입을 정의하였는데요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개의 타입을 기본형</a:t>
            </a:r>
            <a:r>
              <a:rPr lang="en-US" altLang="ko-KR" sz="900"/>
              <a:t>, primitive type</a:t>
            </a:r>
            <a:r>
              <a:rPr lang="ko-KR" altLang="en-US" sz="900"/>
              <a:t>이라고 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값</a:t>
            </a:r>
            <a:r>
              <a:rPr lang="en-US" altLang="ko-KR" sz="900"/>
              <a:t>, </a:t>
            </a:r>
            <a:r>
              <a:rPr lang="ko-KR" altLang="en-US" sz="900"/>
              <a:t>즉 데이터를 저장하는데 가장 기본이 되는 타입이라는 것이죠</a:t>
            </a:r>
            <a:r>
              <a:rPr lang="en-US" altLang="ko-KR" sz="900"/>
              <a:t>.</a:t>
            </a:r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75969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17E50-0606-4711-8E14-715106822CA1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변수의 타입은 크게 기본형과 참조형</a:t>
            </a:r>
            <a:r>
              <a:rPr lang="en-US" altLang="ko-KR" sz="900"/>
              <a:t>… </a:t>
            </a:r>
            <a:r>
              <a:rPr lang="ko-KR" altLang="en-US" sz="900"/>
              <a:t>두 가지로 나눌 수 있는데요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방금 전에 배우신 </a:t>
            </a:r>
            <a:r>
              <a:rPr lang="en-US" altLang="ko-KR" sz="900"/>
              <a:t>8</a:t>
            </a:r>
            <a:r>
              <a:rPr lang="ko-KR" altLang="en-US" sz="900"/>
              <a:t>개의 타입</a:t>
            </a:r>
            <a:r>
              <a:rPr lang="en-US" altLang="ko-KR" sz="900"/>
              <a:t>… boolean, char, byte, short, int, long, float, double</a:t>
            </a:r>
            <a:r>
              <a:rPr lang="ko-KR" altLang="en-US" sz="900"/>
              <a:t>을 말하고요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변수의 타입이 기본형인 경우</a:t>
            </a:r>
            <a:r>
              <a:rPr lang="en-US" altLang="ko-KR" sz="900"/>
              <a:t>, </a:t>
            </a:r>
            <a:r>
              <a:rPr lang="ko-KR" altLang="en-US" sz="900"/>
              <a:t>변수는 실제 값을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참조형은 기본형 </a:t>
            </a:r>
            <a:r>
              <a:rPr lang="en-US" altLang="ko-KR" sz="900"/>
              <a:t>8</a:t>
            </a:r>
            <a:r>
              <a:rPr lang="ko-KR" altLang="en-US" sz="900"/>
              <a:t>개를 제외한 나머지 타입이 모두 해당됩니다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자바를 설계한 사람들이 </a:t>
            </a:r>
            <a:r>
              <a:rPr lang="en-US" altLang="ko-KR" sz="900"/>
              <a:t>8</a:t>
            </a:r>
            <a:r>
              <a:rPr lang="ko-KR" altLang="en-US" sz="900"/>
              <a:t>개로 정해놓았기 때문에 더 추가할 수 없지만</a:t>
            </a:r>
          </a:p>
          <a:p>
            <a:r>
              <a:rPr lang="ko-KR" altLang="en-US" sz="900"/>
              <a:t>참조형은 우리 마음대로 추가할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우리가 새로운 클래스를 정의하면 새로운 참조형이 하나 생성되는 겁니다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그래서 기본형과 달리 참조형은 그 수가 정해져있지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클래스에 대해서는 나중에 자세히 설명할 것이니까 지금은 참고만 하고 넘어가세요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기본형에는 실제 값을 저장하지만</a:t>
            </a:r>
            <a:r>
              <a:rPr lang="en-US" altLang="ko-KR" sz="900"/>
              <a:t>, </a:t>
            </a:r>
            <a:r>
              <a:rPr lang="ko-KR" altLang="en-US" sz="900"/>
              <a:t>참조형에는 객체의 위치를 알려주는 객체의 주소값을 저장합니다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객체를 생성하고</a:t>
            </a:r>
            <a:r>
              <a:rPr lang="en-US" altLang="ko-KR" sz="900"/>
              <a:t>, </a:t>
            </a:r>
            <a:r>
              <a:rPr lang="ko-KR" altLang="en-US" sz="900"/>
              <a:t>생성된 객체의 주소를 참조형 변수에 저장해서 객체를 다룰 수 있게 되는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 변수들은 타입에 따라서 크기가 다르지만</a:t>
            </a:r>
            <a:r>
              <a:rPr lang="en-US" altLang="ko-KR" sz="900"/>
              <a:t>, </a:t>
            </a:r>
            <a:r>
              <a:rPr lang="ko-KR" altLang="en-US" sz="900"/>
              <a:t>모든 참조형 변수는 </a:t>
            </a:r>
            <a:r>
              <a:rPr lang="en-US" altLang="ko-KR" sz="900"/>
              <a:t>4 byte</a:t>
            </a:r>
            <a:r>
              <a:rPr lang="ko-KR" altLang="en-US" sz="900"/>
              <a:t>로 동일합니다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그래서 참조형이 가질수 있는 값의 범위를 </a:t>
            </a:r>
            <a:r>
              <a:rPr lang="en-US" altLang="ko-KR" sz="900"/>
              <a:t>16</a:t>
            </a:r>
            <a:r>
              <a:rPr lang="ko-KR" altLang="en-US" sz="900"/>
              <a:t>진수로 표시하면 </a:t>
            </a:r>
            <a:r>
              <a:rPr lang="en-US" altLang="ko-KR" sz="900"/>
              <a:t>0</a:t>
            </a:r>
            <a:r>
              <a:rPr lang="ko-KR" altLang="en-US" sz="900"/>
              <a:t>부터 </a:t>
            </a:r>
            <a:r>
              <a:rPr lang="en-US" altLang="ko-KR" sz="900"/>
              <a:t>ffffffff(</a:t>
            </a:r>
            <a:r>
              <a:rPr lang="ko-KR" altLang="en-US" sz="900"/>
              <a:t>에프 * </a:t>
            </a:r>
            <a:r>
              <a:rPr lang="en-US" altLang="ko-KR" sz="900"/>
              <a:t>8)….</a:t>
            </a:r>
          </a:p>
          <a:p>
            <a:r>
              <a:rPr lang="ko-KR" altLang="en-US" sz="900"/>
              <a:t>모두 </a:t>
            </a:r>
            <a:r>
              <a:rPr lang="en-US" altLang="ko-KR" sz="900"/>
              <a:t>8</a:t>
            </a:r>
            <a:r>
              <a:rPr lang="ko-KR" altLang="en-US" sz="900"/>
              <a:t>개의 </a:t>
            </a:r>
            <a:r>
              <a:rPr lang="en-US" altLang="ko-KR" sz="900"/>
              <a:t>f</a:t>
            </a:r>
            <a:r>
              <a:rPr lang="ko-KR" altLang="en-US" sz="900"/>
              <a:t>가 나오는데요</a:t>
            </a:r>
            <a:r>
              <a:rPr lang="en-US" altLang="ko-KR" sz="900"/>
              <a:t>. </a:t>
            </a:r>
          </a:p>
          <a:p>
            <a:endParaRPr lang="en-US" altLang="ko-KR" sz="900"/>
          </a:p>
          <a:p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16</a:t>
            </a:r>
            <a:r>
              <a:rPr lang="ko-KR" altLang="en-US" sz="900"/>
              <a:t>진수로 </a:t>
            </a:r>
            <a:r>
              <a:rPr lang="en-US" altLang="ko-KR" sz="900"/>
              <a:t>15</a:t>
            </a:r>
            <a:r>
              <a:rPr lang="ko-KR" altLang="en-US" sz="900"/>
              <a:t>를 의미하고요</a:t>
            </a:r>
            <a:r>
              <a:rPr lang="en-US" altLang="ko-KR" sz="900"/>
              <a:t>. </a:t>
            </a:r>
            <a:r>
              <a:rPr lang="ko-KR" altLang="en-US" sz="900"/>
              <a:t>하나의 </a:t>
            </a:r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4bit</a:t>
            </a:r>
            <a:r>
              <a:rPr lang="ko-KR" altLang="en-US" sz="900"/>
              <a:t>이므로 </a:t>
            </a:r>
            <a:r>
              <a:rPr lang="en-US" altLang="ko-KR" sz="900"/>
              <a:t>4</a:t>
            </a:r>
            <a:r>
              <a:rPr lang="ko-KR" altLang="en-US" sz="900"/>
              <a:t>곱하기</a:t>
            </a:r>
            <a:r>
              <a:rPr lang="en-US" altLang="ko-KR" sz="900"/>
              <a:t>8</a:t>
            </a:r>
            <a:r>
              <a:rPr lang="ko-KR" altLang="en-US" sz="900"/>
              <a:t>은 </a:t>
            </a:r>
            <a:r>
              <a:rPr lang="en-US" altLang="ko-KR" sz="900"/>
              <a:t>32</a:t>
            </a:r>
            <a:r>
              <a:rPr lang="ko-KR" altLang="en-US" sz="900"/>
              <a:t>이므로 </a:t>
            </a:r>
            <a:r>
              <a:rPr lang="en-US" altLang="ko-KR" sz="900"/>
              <a:t>32</a:t>
            </a:r>
            <a:r>
              <a:rPr lang="ko-KR" altLang="en-US" sz="900"/>
              <a:t>비트 즉 </a:t>
            </a:r>
            <a:r>
              <a:rPr lang="en-US" altLang="ko-KR" sz="900"/>
              <a:t>4</a:t>
            </a:r>
            <a:r>
              <a:rPr lang="ko-KR" altLang="en-US" sz="900"/>
              <a:t>바이트가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434372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7967-C732-3331-EA93-DCDEF3EA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63D4C4-435B-89FB-7345-EAEC88721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17E50-0606-4711-8E14-715106822CA1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BE5E5356-01F3-9FDC-C867-68240CC59D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526D10A8-14D3-81DA-3075-762F84955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변수의 타입은 크게 기본형과 참조형</a:t>
            </a:r>
            <a:r>
              <a:rPr lang="en-US" altLang="ko-KR" sz="900"/>
              <a:t>… </a:t>
            </a:r>
            <a:r>
              <a:rPr lang="ko-KR" altLang="en-US" sz="900"/>
              <a:t>두 가지로 나눌 수 있는데요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방금 전에 배우신 </a:t>
            </a:r>
            <a:r>
              <a:rPr lang="en-US" altLang="ko-KR" sz="900"/>
              <a:t>8</a:t>
            </a:r>
            <a:r>
              <a:rPr lang="ko-KR" altLang="en-US" sz="900"/>
              <a:t>개의 타입</a:t>
            </a:r>
            <a:r>
              <a:rPr lang="en-US" altLang="ko-KR" sz="900"/>
              <a:t>… boolean, char, byte, short, int, long, float, double</a:t>
            </a:r>
            <a:r>
              <a:rPr lang="ko-KR" altLang="en-US" sz="900"/>
              <a:t>을 말하고요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변수의 타입이 기본형인 경우</a:t>
            </a:r>
            <a:r>
              <a:rPr lang="en-US" altLang="ko-KR" sz="900"/>
              <a:t>, </a:t>
            </a:r>
            <a:r>
              <a:rPr lang="ko-KR" altLang="en-US" sz="900"/>
              <a:t>변수는 실제 값을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참조형은 기본형 </a:t>
            </a:r>
            <a:r>
              <a:rPr lang="en-US" altLang="ko-KR" sz="900"/>
              <a:t>8</a:t>
            </a:r>
            <a:r>
              <a:rPr lang="ko-KR" altLang="en-US" sz="900"/>
              <a:t>개를 제외한 나머지 타입이 모두 해당됩니다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자바를 설계한 사람들이 </a:t>
            </a:r>
            <a:r>
              <a:rPr lang="en-US" altLang="ko-KR" sz="900"/>
              <a:t>8</a:t>
            </a:r>
            <a:r>
              <a:rPr lang="ko-KR" altLang="en-US" sz="900"/>
              <a:t>개로 정해놓았기 때문에 더 추가할 수 없지만</a:t>
            </a:r>
          </a:p>
          <a:p>
            <a:r>
              <a:rPr lang="ko-KR" altLang="en-US" sz="900"/>
              <a:t>참조형은 우리 마음대로 추가할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우리가 새로운 클래스를 정의하면 새로운 참조형이 하나 생성되는 겁니다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그래서 기본형과 달리 참조형은 그 수가 정해져있지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클래스에 대해서는 나중에 자세히 설명할 것이니까 지금은 참고만 하고 넘어가세요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기본형에는 실제 값을 저장하지만</a:t>
            </a:r>
            <a:r>
              <a:rPr lang="en-US" altLang="ko-KR" sz="900"/>
              <a:t>, </a:t>
            </a:r>
            <a:r>
              <a:rPr lang="ko-KR" altLang="en-US" sz="900"/>
              <a:t>참조형에는 객체의 위치를 알려주는 객체의 주소값을 저장합니다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객체를 생성하고</a:t>
            </a:r>
            <a:r>
              <a:rPr lang="en-US" altLang="ko-KR" sz="900"/>
              <a:t>, </a:t>
            </a:r>
            <a:r>
              <a:rPr lang="ko-KR" altLang="en-US" sz="900"/>
              <a:t>생성된 객체의 주소를 참조형 변수에 저장해서 객체를 다룰 수 있게 되는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 변수들은 타입에 따라서 크기가 다르지만</a:t>
            </a:r>
            <a:r>
              <a:rPr lang="en-US" altLang="ko-KR" sz="900"/>
              <a:t>, </a:t>
            </a:r>
            <a:r>
              <a:rPr lang="ko-KR" altLang="en-US" sz="900"/>
              <a:t>모든 참조형 변수는 </a:t>
            </a:r>
            <a:r>
              <a:rPr lang="en-US" altLang="ko-KR" sz="900"/>
              <a:t>4 byte</a:t>
            </a:r>
            <a:r>
              <a:rPr lang="ko-KR" altLang="en-US" sz="900"/>
              <a:t>로 동일합니다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그래서 참조형이 가질수 있는 값의 범위를 </a:t>
            </a:r>
            <a:r>
              <a:rPr lang="en-US" altLang="ko-KR" sz="900"/>
              <a:t>16</a:t>
            </a:r>
            <a:r>
              <a:rPr lang="ko-KR" altLang="en-US" sz="900"/>
              <a:t>진수로 표시하면 </a:t>
            </a:r>
            <a:r>
              <a:rPr lang="en-US" altLang="ko-KR" sz="900"/>
              <a:t>0</a:t>
            </a:r>
            <a:r>
              <a:rPr lang="ko-KR" altLang="en-US" sz="900"/>
              <a:t>부터 </a:t>
            </a:r>
            <a:r>
              <a:rPr lang="en-US" altLang="ko-KR" sz="900"/>
              <a:t>ffffffff(</a:t>
            </a:r>
            <a:r>
              <a:rPr lang="ko-KR" altLang="en-US" sz="900"/>
              <a:t>에프 * </a:t>
            </a:r>
            <a:r>
              <a:rPr lang="en-US" altLang="ko-KR" sz="900"/>
              <a:t>8)….</a:t>
            </a:r>
          </a:p>
          <a:p>
            <a:r>
              <a:rPr lang="ko-KR" altLang="en-US" sz="900"/>
              <a:t>모두 </a:t>
            </a:r>
            <a:r>
              <a:rPr lang="en-US" altLang="ko-KR" sz="900"/>
              <a:t>8</a:t>
            </a:r>
            <a:r>
              <a:rPr lang="ko-KR" altLang="en-US" sz="900"/>
              <a:t>개의 </a:t>
            </a:r>
            <a:r>
              <a:rPr lang="en-US" altLang="ko-KR" sz="900"/>
              <a:t>f</a:t>
            </a:r>
            <a:r>
              <a:rPr lang="ko-KR" altLang="en-US" sz="900"/>
              <a:t>가 나오는데요</a:t>
            </a:r>
            <a:r>
              <a:rPr lang="en-US" altLang="ko-KR" sz="900"/>
              <a:t>. </a:t>
            </a:r>
          </a:p>
          <a:p>
            <a:endParaRPr lang="en-US" altLang="ko-KR" sz="900"/>
          </a:p>
          <a:p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16</a:t>
            </a:r>
            <a:r>
              <a:rPr lang="ko-KR" altLang="en-US" sz="900"/>
              <a:t>진수로 </a:t>
            </a:r>
            <a:r>
              <a:rPr lang="en-US" altLang="ko-KR" sz="900"/>
              <a:t>15</a:t>
            </a:r>
            <a:r>
              <a:rPr lang="ko-KR" altLang="en-US" sz="900"/>
              <a:t>를 의미하고요</a:t>
            </a:r>
            <a:r>
              <a:rPr lang="en-US" altLang="ko-KR" sz="900"/>
              <a:t>. </a:t>
            </a:r>
            <a:r>
              <a:rPr lang="ko-KR" altLang="en-US" sz="900"/>
              <a:t>하나의 </a:t>
            </a:r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4bit</a:t>
            </a:r>
            <a:r>
              <a:rPr lang="ko-KR" altLang="en-US" sz="900"/>
              <a:t>이므로 </a:t>
            </a:r>
            <a:r>
              <a:rPr lang="en-US" altLang="ko-KR" sz="900"/>
              <a:t>4</a:t>
            </a:r>
            <a:r>
              <a:rPr lang="ko-KR" altLang="en-US" sz="900"/>
              <a:t>곱하기</a:t>
            </a:r>
            <a:r>
              <a:rPr lang="en-US" altLang="ko-KR" sz="900"/>
              <a:t>8</a:t>
            </a:r>
            <a:r>
              <a:rPr lang="ko-KR" altLang="en-US" sz="900"/>
              <a:t>은 </a:t>
            </a:r>
            <a:r>
              <a:rPr lang="en-US" altLang="ko-KR" sz="900"/>
              <a:t>32</a:t>
            </a:r>
            <a:r>
              <a:rPr lang="ko-KR" altLang="en-US" sz="900"/>
              <a:t>이므로 </a:t>
            </a:r>
            <a:r>
              <a:rPr lang="en-US" altLang="ko-KR" sz="900"/>
              <a:t>32</a:t>
            </a:r>
            <a:r>
              <a:rPr lang="ko-KR" altLang="en-US" sz="900"/>
              <a:t>비트 즉 </a:t>
            </a:r>
            <a:r>
              <a:rPr lang="en-US" altLang="ko-KR" sz="900"/>
              <a:t>4</a:t>
            </a:r>
            <a:r>
              <a:rPr lang="ko-KR" altLang="en-US" sz="900"/>
              <a:t>바이트가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752169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6298-96F8-A05F-20C8-DDF3180D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3A06F85-F1B4-24FB-247D-9C53F78A02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17E50-0606-4711-8E14-715106822CA1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D47D0100-E177-7AE9-B729-7758F35EA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B381663E-D258-A87A-1F97-75E24D006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변수의 타입은 크게 기본형과 참조형</a:t>
            </a:r>
            <a:r>
              <a:rPr lang="en-US" altLang="ko-KR" sz="900"/>
              <a:t>… </a:t>
            </a:r>
            <a:r>
              <a:rPr lang="ko-KR" altLang="en-US" sz="900"/>
              <a:t>두 가지로 나눌 수 있는데요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방금 전에 배우신 </a:t>
            </a:r>
            <a:r>
              <a:rPr lang="en-US" altLang="ko-KR" sz="900"/>
              <a:t>8</a:t>
            </a:r>
            <a:r>
              <a:rPr lang="ko-KR" altLang="en-US" sz="900"/>
              <a:t>개의 타입</a:t>
            </a:r>
            <a:r>
              <a:rPr lang="en-US" altLang="ko-KR" sz="900"/>
              <a:t>… boolean, char, byte, short, int, long, float, double</a:t>
            </a:r>
            <a:r>
              <a:rPr lang="ko-KR" altLang="en-US" sz="900"/>
              <a:t>을 말하고요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변수의 타입이 기본형인 경우</a:t>
            </a:r>
            <a:r>
              <a:rPr lang="en-US" altLang="ko-KR" sz="900"/>
              <a:t>, </a:t>
            </a:r>
            <a:r>
              <a:rPr lang="ko-KR" altLang="en-US" sz="900"/>
              <a:t>변수는 실제 값을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참조형은 기본형 </a:t>
            </a:r>
            <a:r>
              <a:rPr lang="en-US" altLang="ko-KR" sz="900"/>
              <a:t>8</a:t>
            </a:r>
            <a:r>
              <a:rPr lang="ko-KR" altLang="en-US" sz="900"/>
              <a:t>개를 제외한 나머지 타입이 모두 해당됩니다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자바를 설계한 사람들이 </a:t>
            </a:r>
            <a:r>
              <a:rPr lang="en-US" altLang="ko-KR" sz="900"/>
              <a:t>8</a:t>
            </a:r>
            <a:r>
              <a:rPr lang="ko-KR" altLang="en-US" sz="900"/>
              <a:t>개로 정해놓았기 때문에 더 추가할 수 없지만</a:t>
            </a:r>
          </a:p>
          <a:p>
            <a:r>
              <a:rPr lang="ko-KR" altLang="en-US" sz="900"/>
              <a:t>참조형은 우리 마음대로 추가할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우리가 새로운 클래스를 정의하면 새로운 참조형이 하나 생성되는 겁니다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그래서 기본형과 달리 참조형은 그 수가 정해져있지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클래스에 대해서는 나중에 자세히 설명할 것이니까 지금은 참고만 하고 넘어가세요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기본형에는 실제 값을 저장하지만</a:t>
            </a:r>
            <a:r>
              <a:rPr lang="en-US" altLang="ko-KR" sz="900"/>
              <a:t>, </a:t>
            </a:r>
            <a:r>
              <a:rPr lang="ko-KR" altLang="en-US" sz="900"/>
              <a:t>참조형에는 객체의 위치를 알려주는 객체의 주소값을 저장합니다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객체를 생성하고</a:t>
            </a:r>
            <a:r>
              <a:rPr lang="en-US" altLang="ko-KR" sz="900"/>
              <a:t>, </a:t>
            </a:r>
            <a:r>
              <a:rPr lang="ko-KR" altLang="en-US" sz="900"/>
              <a:t>생성된 객체의 주소를 참조형 변수에 저장해서 객체를 다룰 수 있게 되는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 변수들은 타입에 따라서 크기가 다르지만</a:t>
            </a:r>
            <a:r>
              <a:rPr lang="en-US" altLang="ko-KR" sz="900"/>
              <a:t>, </a:t>
            </a:r>
            <a:r>
              <a:rPr lang="ko-KR" altLang="en-US" sz="900"/>
              <a:t>모든 참조형 변수는 </a:t>
            </a:r>
            <a:r>
              <a:rPr lang="en-US" altLang="ko-KR" sz="900"/>
              <a:t>4 byte</a:t>
            </a:r>
            <a:r>
              <a:rPr lang="ko-KR" altLang="en-US" sz="900"/>
              <a:t>로 동일합니다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그래서 참조형이 가질수 있는 값의 범위를 </a:t>
            </a:r>
            <a:r>
              <a:rPr lang="en-US" altLang="ko-KR" sz="900"/>
              <a:t>16</a:t>
            </a:r>
            <a:r>
              <a:rPr lang="ko-KR" altLang="en-US" sz="900"/>
              <a:t>진수로 표시하면 </a:t>
            </a:r>
            <a:r>
              <a:rPr lang="en-US" altLang="ko-KR" sz="900"/>
              <a:t>0</a:t>
            </a:r>
            <a:r>
              <a:rPr lang="ko-KR" altLang="en-US" sz="900"/>
              <a:t>부터 </a:t>
            </a:r>
            <a:r>
              <a:rPr lang="en-US" altLang="ko-KR" sz="900"/>
              <a:t>ffffffff(</a:t>
            </a:r>
            <a:r>
              <a:rPr lang="ko-KR" altLang="en-US" sz="900"/>
              <a:t>에프 * </a:t>
            </a:r>
            <a:r>
              <a:rPr lang="en-US" altLang="ko-KR" sz="900"/>
              <a:t>8)….</a:t>
            </a:r>
          </a:p>
          <a:p>
            <a:r>
              <a:rPr lang="ko-KR" altLang="en-US" sz="900"/>
              <a:t>모두 </a:t>
            </a:r>
            <a:r>
              <a:rPr lang="en-US" altLang="ko-KR" sz="900"/>
              <a:t>8</a:t>
            </a:r>
            <a:r>
              <a:rPr lang="ko-KR" altLang="en-US" sz="900"/>
              <a:t>개의 </a:t>
            </a:r>
            <a:r>
              <a:rPr lang="en-US" altLang="ko-KR" sz="900"/>
              <a:t>f</a:t>
            </a:r>
            <a:r>
              <a:rPr lang="ko-KR" altLang="en-US" sz="900"/>
              <a:t>가 나오는데요</a:t>
            </a:r>
            <a:r>
              <a:rPr lang="en-US" altLang="ko-KR" sz="900"/>
              <a:t>. </a:t>
            </a:r>
          </a:p>
          <a:p>
            <a:endParaRPr lang="en-US" altLang="ko-KR" sz="900"/>
          </a:p>
          <a:p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16</a:t>
            </a:r>
            <a:r>
              <a:rPr lang="ko-KR" altLang="en-US" sz="900"/>
              <a:t>진수로 </a:t>
            </a:r>
            <a:r>
              <a:rPr lang="en-US" altLang="ko-KR" sz="900"/>
              <a:t>15</a:t>
            </a:r>
            <a:r>
              <a:rPr lang="ko-KR" altLang="en-US" sz="900"/>
              <a:t>를 의미하고요</a:t>
            </a:r>
            <a:r>
              <a:rPr lang="en-US" altLang="ko-KR" sz="900"/>
              <a:t>. </a:t>
            </a:r>
            <a:r>
              <a:rPr lang="ko-KR" altLang="en-US" sz="900"/>
              <a:t>하나의 </a:t>
            </a:r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4bit</a:t>
            </a:r>
            <a:r>
              <a:rPr lang="ko-KR" altLang="en-US" sz="900"/>
              <a:t>이므로 </a:t>
            </a:r>
            <a:r>
              <a:rPr lang="en-US" altLang="ko-KR" sz="900"/>
              <a:t>4</a:t>
            </a:r>
            <a:r>
              <a:rPr lang="ko-KR" altLang="en-US" sz="900"/>
              <a:t>곱하기</a:t>
            </a:r>
            <a:r>
              <a:rPr lang="en-US" altLang="ko-KR" sz="900"/>
              <a:t>8</a:t>
            </a:r>
            <a:r>
              <a:rPr lang="ko-KR" altLang="en-US" sz="900"/>
              <a:t>은 </a:t>
            </a:r>
            <a:r>
              <a:rPr lang="en-US" altLang="ko-KR" sz="900"/>
              <a:t>32</a:t>
            </a:r>
            <a:r>
              <a:rPr lang="ko-KR" altLang="en-US" sz="900"/>
              <a:t>이므로 </a:t>
            </a:r>
            <a:r>
              <a:rPr lang="en-US" altLang="ko-KR" sz="900"/>
              <a:t>32</a:t>
            </a:r>
            <a:r>
              <a:rPr lang="ko-KR" altLang="en-US" sz="900"/>
              <a:t>비트 즉 </a:t>
            </a:r>
            <a:r>
              <a:rPr lang="en-US" altLang="ko-KR" sz="900"/>
              <a:t>4</a:t>
            </a:r>
            <a:r>
              <a:rPr lang="ko-KR" altLang="en-US" sz="900"/>
              <a:t>바이트가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55603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8E107-62E9-42D0-C008-C125DF01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169055C-1A0D-E565-BC85-863A176E3E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17E50-0606-4711-8E14-715106822CA1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8EEFB69D-0EDA-846B-2DAD-5D76B91535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128213B2-FD11-F006-E9C0-2EB2CF26E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변수의 타입은 크게 기본형과 참조형</a:t>
            </a:r>
            <a:r>
              <a:rPr lang="en-US" altLang="ko-KR" sz="900"/>
              <a:t>… </a:t>
            </a:r>
            <a:r>
              <a:rPr lang="ko-KR" altLang="en-US" sz="900"/>
              <a:t>두 가지로 나눌 수 있는데요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방금 전에 배우신 </a:t>
            </a:r>
            <a:r>
              <a:rPr lang="en-US" altLang="ko-KR" sz="900"/>
              <a:t>8</a:t>
            </a:r>
            <a:r>
              <a:rPr lang="ko-KR" altLang="en-US" sz="900"/>
              <a:t>개의 타입</a:t>
            </a:r>
            <a:r>
              <a:rPr lang="en-US" altLang="ko-KR" sz="900"/>
              <a:t>… boolean, char, byte, short, int, long, float, double</a:t>
            </a:r>
            <a:r>
              <a:rPr lang="ko-KR" altLang="en-US" sz="900"/>
              <a:t>을 말하고요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변수의 타입이 기본형인 경우</a:t>
            </a:r>
            <a:r>
              <a:rPr lang="en-US" altLang="ko-KR" sz="900"/>
              <a:t>, </a:t>
            </a:r>
            <a:r>
              <a:rPr lang="ko-KR" altLang="en-US" sz="900"/>
              <a:t>변수는 실제 값을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참조형은 기본형 </a:t>
            </a:r>
            <a:r>
              <a:rPr lang="en-US" altLang="ko-KR" sz="900"/>
              <a:t>8</a:t>
            </a:r>
            <a:r>
              <a:rPr lang="ko-KR" altLang="en-US" sz="900"/>
              <a:t>개를 제외한 나머지 타입이 모두 해당됩니다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자바를 설계한 사람들이 </a:t>
            </a:r>
            <a:r>
              <a:rPr lang="en-US" altLang="ko-KR" sz="900"/>
              <a:t>8</a:t>
            </a:r>
            <a:r>
              <a:rPr lang="ko-KR" altLang="en-US" sz="900"/>
              <a:t>개로 정해놓았기 때문에 더 추가할 수 없지만</a:t>
            </a:r>
          </a:p>
          <a:p>
            <a:r>
              <a:rPr lang="ko-KR" altLang="en-US" sz="900"/>
              <a:t>참조형은 우리 마음대로 추가할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우리가 새로운 클래스를 정의하면 새로운 참조형이 하나 생성되는 겁니다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그래서 기본형과 달리 참조형은 그 수가 정해져있지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클래스에 대해서는 나중에 자세히 설명할 것이니까 지금은 참고만 하고 넘어가세요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기본형에는 실제 값을 저장하지만</a:t>
            </a:r>
            <a:r>
              <a:rPr lang="en-US" altLang="ko-KR" sz="900"/>
              <a:t>, </a:t>
            </a:r>
            <a:r>
              <a:rPr lang="ko-KR" altLang="en-US" sz="900"/>
              <a:t>참조형에는 객체의 위치를 알려주는 객체의 주소값을 저장합니다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객체를 생성하고</a:t>
            </a:r>
            <a:r>
              <a:rPr lang="en-US" altLang="ko-KR" sz="900"/>
              <a:t>, </a:t>
            </a:r>
            <a:r>
              <a:rPr lang="ko-KR" altLang="en-US" sz="900"/>
              <a:t>생성된 객체의 주소를 참조형 변수에 저장해서 객체를 다룰 수 있게 되는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 변수들은 타입에 따라서 크기가 다르지만</a:t>
            </a:r>
            <a:r>
              <a:rPr lang="en-US" altLang="ko-KR" sz="900"/>
              <a:t>, </a:t>
            </a:r>
            <a:r>
              <a:rPr lang="ko-KR" altLang="en-US" sz="900"/>
              <a:t>모든 참조형 변수는 </a:t>
            </a:r>
            <a:r>
              <a:rPr lang="en-US" altLang="ko-KR" sz="900"/>
              <a:t>4 byte</a:t>
            </a:r>
            <a:r>
              <a:rPr lang="ko-KR" altLang="en-US" sz="900"/>
              <a:t>로 동일합니다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그래서 참조형이 가질수 있는 값의 범위를 </a:t>
            </a:r>
            <a:r>
              <a:rPr lang="en-US" altLang="ko-KR" sz="900"/>
              <a:t>16</a:t>
            </a:r>
            <a:r>
              <a:rPr lang="ko-KR" altLang="en-US" sz="900"/>
              <a:t>진수로 표시하면 </a:t>
            </a:r>
            <a:r>
              <a:rPr lang="en-US" altLang="ko-KR" sz="900"/>
              <a:t>0</a:t>
            </a:r>
            <a:r>
              <a:rPr lang="ko-KR" altLang="en-US" sz="900"/>
              <a:t>부터 </a:t>
            </a:r>
            <a:r>
              <a:rPr lang="en-US" altLang="ko-KR" sz="900"/>
              <a:t>ffffffff(</a:t>
            </a:r>
            <a:r>
              <a:rPr lang="ko-KR" altLang="en-US" sz="900"/>
              <a:t>에프 * </a:t>
            </a:r>
            <a:r>
              <a:rPr lang="en-US" altLang="ko-KR" sz="900"/>
              <a:t>8)….</a:t>
            </a:r>
          </a:p>
          <a:p>
            <a:r>
              <a:rPr lang="ko-KR" altLang="en-US" sz="900"/>
              <a:t>모두 </a:t>
            </a:r>
            <a:r>
              <a:rPr lang="en-US" altLang="ko-KR" sz="900"/>
              <a:t>8</a:t>
            </a:r>
            <a:r>
              <a:rPr lang="ko-KR" altLang="en-US" sz="900"/>
              <a:t>개의 </a:t>
            </a:r>
            <a:r>
              <a:rPr lang="en-US" altLang="ko-KR" sz="900"/>
              <a:t>f</a:t>
            </a:r>
            <a:r>
              <a:rPr lang="ko-KR" altLang="en-US" sz="900"/>
              <a:t>가 나오는데요</a:t>
            </a:r>
            <a:r>
              <a:rPr lang="en-US" altLang="ko-KR" sz="900"/>
              <a:t>. </a:t>
            </a:r>
          </a:p>
          <a:p>
            <a:endParaRPr lang="en-US" altLang="ko-KR" sz="900"/>
          </a:p>
          <a:p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16</a:t>
            </a:r>
            <a:r>
              <a:rPr lang="ko-KR" altLang="en-US" sz="900"/>
              <a:t>진수로 </a:t>
            </a:r>
            <a:r>
              <a:rPr lang="en-US" altLang="ko-KR" sz="900"/>
              <a:t>15</a:t>
            </a:r>
            <a:r>
              <a:rPr lang="ko-KR" altLang="en-US" sz="900"/>
              <a:t>를 의미하고요</a:t>
            </a:r>
            <a:r>
              <a:rPr lang="en-US" altLang="ko-KR" sz="900"/>
              <a:t>. </a:t>
            </a:r>
            <a:r>
              <a:rPr lang="ko-KR" altLang="en-US" sz="900"/>
              <a:t>하나의 </a:t>
            </a:r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4bit</a:t>
            </a:r>
            <a:r>
              <a:rPr lang="ko-KR" altLang="en-US" sz="900"/>
              <a:t>이므로 </a:t>
            </a:r>
            <a:r>
              <a:rPr lang="en-US" altLang="ko-KR" sz="900"/>
              <a:t>4</a:t>
            </a:r>
            <a:r>
              <a:rPr lang="ko-KR" altLang="en-US" sz="900"/>
              <a:t>곱하기</a:t>
            </a:r>
            <a:r>
              <a:rPr lang="en-US" altLang="ko-KR" sz="900"/>
              <a:t>8</a:t>
            </a:r>
            <a:r>
              <a:rPr lang="ko-KR" altLang="en-US" sz="900"/>
              <a:t>은 </a:t>
            </a:r>
            <a:r>
              <a:rPr lang="en-US" altLang="ko-KR" sz="900"/>
              <a:t>32</a:t>
            </a:r>
            <a:r>
              <a:rPr lang="ko-KR" altLang="en-US" sz="900"/>
              <a:t>이므로 </a:t>
            </a:r>
            <a:r>
              <a:rPr lang="en-US" altLang="ko-KR" sz="900"/>
              <a:t>32</a:t>
            </a:r>
            <a:r>
              <a:rPr lang="ko-KR" altLang="en-US" sz="900"/>
              <a:t>비트 즉 </a:t>
            </a:r>
            <a:r>
              <a:rPr lang="en-US" altLang="ko-KR" sz="900"/>
              <a:t>4</a:t>
            </a:r>
            <a:r>
              <a:rPr lang="ko-KR" altLang="en-US" sz="900"/>
              <a:t>바이트가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34899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F28E-F5C2-486B-92A8-29890FB57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BED87A-163E-36CB-DF20-202A740F3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817E50-0606-4711-8E14-715106822CA1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CF2CBFD0-F835-A4DF-E7D0-17DE2EEA00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4076F710-40EF-088D-DD42-A59C3C22B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변수의 타입은 크게 기본형과 참조형</a:t>
            </a:r>
            <a:r>
              <a:rPr lang="en-US" altLang="ko-KR" sz="900"/>
              <a:t>… </a:t>
            </a:r>
            <a:r>
              <a:rPr lang="ko-KR" altLang="en-US" sz="900"/>
              <a:t>두 가지로 나눌 수 있는데요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방금 전에 배우신 </a:t>
            </a:r>
            <a:r>
              <a:rPr lang="en-US" altLang="ko-KR" sz="900"/>
              <a:t>8</a:t>
            </a:r>
            <a:r>
              <a:rPr lang="ko-KR" altLang="en-US" sz="900"/>
              <a:t>개의 타입</a:t>
            </a:r>
            <a:r>
              <a:rPr lang="en-US" altLang="ko-KR" sz="900"/>
              <a:t>… boolean, char, byte, short, int, long, float, double</a:t>
            </a:r>
            <a:r>
              <a:rPr lang="ko-KR" altLang="en-US" sz="900"/>
              <a:t>을 말하고요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ko-KR" altLang="en-US" sz="900"/>
              <a:t>변수의 타입이 기본형인 경우</a:t>
            </a:r>
            <a:r>
              <a:rPr lang="en-US" altLang="ko-KR" sz="900"/>
              <a:t>, </a:t>
            </a:r>
            <a:r>
              <a:rPr lang="ko-KR" altLang="en-US" sz="900"/>
              <a:t>변수는 실제 값을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참조형은 기본형 </a:t>
            </a:r>
            <a:r>
              <a:rPr lang="en-US" altLang="ko-KR" sz="900"/>
              <a:t>8</a:t>
            </a:r>
            <a:r>
              <a:rPr lang="ko-KR" altLang="en-US" sz="900"/>
              <a:t>개를 제외한 나머지 타입이 모두 해당됩니다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자바를 설계한 사람들이 </a:t>
            </a:r>
            <a:r>
              <a:rPr lang="en-US" altLang="ko-KR" sz="900"/>
              <a:t>8</a:t>
            </a:r>
            <a:r>
              <a:rPr lang="ko-KR" altLang="en-US" sz="900"/>
              <a:t>개로 정해놓았기 때문에 더 추가할 수 없지만</a:t>
            </a:r>
          </a:p>
          <a:p>
            <a:r>
              <a:rPr lang="ko-KR" altLang="en-US" sz="900"/>
              <a:t>참조형은 우리 마음대로 추가할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우리가 새로운 클래스를 정의하면 새로운 참조형이 하나 생성되는 겁니다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그래서 기본형과 달리 참조형은 그 수가 정해져있지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클래스에 대해서는 나중에 자세히 설명할 것이니까 지금은 참고만 하고 넘어가세요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기본형에는 실제 값을 저장하지만</a:t>
            </a:r>
            <a:r>
              <a:rPr lang="en-US" altLang="ko-KR" sz="900"/>
              <a:t>, </a:t>
            </a:r>
            <a:r>
              <a:rPr lang="ko-KR" altLang="en-US" sz="900"/>
              <a:t>참조형에는 객체의 위치를 알려주는 객체의 주소값을 저장합니다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객체를 생성하고</a:t>
            </a:r>
            <a:r>
              <a:rPr lang="en-US" altLang="ko-KR" sz="900"/>
              <a:t>, </a:t>
            </a:r>
            <a:r>
              <a:rPr lang="ko-KR" altLang="en-US" sz="900"/>
              <a:t>생성된 객체의 주소를 참조형 변수에 저장해서 객체를 다룰 수 있게 되는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 변수들은 타입에 따라서 크기가 다르지만</a:t>
            </a:r>
            <a:r>
              <a:rPr lang="en-US" altLang="ko-KR" sz="900"/>
              <a:t>, </a:t>
            </a:r>
            <a:r>
              <a:rPr lang="ko-KR" altLang="en-US" sz="900"/>
              <a:t>모든 참조형 변수는 </a:t>
            </a:r>
            <a:r>
              <a:rPr lang="en-US" altLang="ko-KR" sz="900"/>
              <a:t>4 byte</a:t>
            </a:r>
            <a:r>
              <a:rPr lang="ko-KR" altLang="en-US" sz="900"/>
              <a:t>로 동일합니다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그래서 참조형이 가질수 있는 값의 범위를 </a:t>
            </a:r>
            <a:r>
              <a:rPr lang="en-US" altLang="ko-KR" sz="900"/>
              <a:t>16</a:t>
            </a:r>
            <a:r>
              <a:rPr lang="ko-KR" altLang="en-US" sz="900"/>
              <a:t>진수로 표시하면 </a:t>
            </a:r>
            <a:r>
              <a:rPr lang="en-US" altLang="ko-KR" sz="900"/>
              <a:t>0</a:t>
            </a:r>
            <a:r>
              <a:rPr lang="ko-KR" altLang="en-US" sz="900"/>
              <a:t>부터 </a:t>
            </a:r>
            <a:r>
              <a:rPr lang="en-US" altLang="ko-KR" sz="900"/>
              <a:t>ffffffff(</a:t>
            </a:r>
            <a:r>
              <a:rPr lang="ko-KR" altLang="en-US" sz="900"/>
              <a:t>에프 * </a:t>
            </a:r>
            <a:r>
              <a:rPr lang="en-US" altLang="ko-KR" sz="900"/>
              <a:t>8)….</a:t>
            </a:r>
          </a:p>
          <a:p>
            <a:r>
              <a:rPr lang="ko-KR" altLang="en-US" sz="900"/>
              <a:t>모두 </a:t>
            </a:r>
            <a:r>
              <a:rPr lang="en-US" altLang="ko-KR" sz="900"/>
              <a:t>8</a:t>
            </a:r>
            <a:r>
              <a:rPr lang="ko-KR" altLang="en-US" sz="900"/>
              <a:t>개의 </a:t>
            </a:r>
            <a:r>
              <a:rPr lang="en-US" altLang="ko-KR" sz="900"/>
              <a:t>f</a:t>
            </a:r>
            <a:r>
              <a:rPr lang="ko-KR" altLang="en-US" sz="900"/>
              <a:t>가 나오는데요</a:t>
            </a:r>
            <a:r>
              <a:rPr lang="en-US" altLang="ko-KR" sz="900"/>
              <a:t>. </a:t>
            </a:r>
          </a:p>
          <a:p>
            <a:endParaRPr lang="en-US" altLang="ko-KR" sz="900"/>
          </a:p>
          <a:p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16</a:t>
            </a:r>
            <a:r>
              <a:rPr lang="ko-KR" altLang="en-US" sz="900"/>
              <a:t>진수로 </a:t>
            </a:r>
            <a:r>
              <a:rPr lang="en-US" altLang="ko-KR" sz="900"/>
              <a:t>15</a:t>
            </a:r>
            <a:r>
              <a:rPr lang="ko-KR" altLang="en-US" sz="900"/>
              <a:t>를 의미하고요</a:t>
            </a:r>
            <a:r>
              <a:rPr lang="en-US" altLang="ko-KR" sz="900"/>
              <a:t>. </a:t>
            </a:r>
            <a:r>
              <a:rPr lang="ko-KR" altLang="en-US" sz="900"/>
              <a:t>하나의 </a:t>
            </a:r>
            <a:r>
              <a:rPr lang="en-US" altLang="ko-KR" sz="900"/>
              <a:t>f</a:t>
            </a:r>
            <a:r>
              <a:rPr lang="ko-KR" altLang="en-US" sz="900"/>
              <a:t>는 </a:t>
            </a:r>
            <a:r>
              <a:rPr lang="en-US" altLang="ko-KR" sz="900"/>
              <a:t>4bit</a:t>
            </a:r>
            <a:r>
              <a:rPr lang="ko-KR" altLang="en-US" sz="900"/>
              <a:t>이므로 </a:t>
            </a:r>
            <a:r>
              <a:rPr lang="en-US" altLang="ko-KR" sz="900"/>
              <a:t>4</a:t>
            </a:r>
            <a:r>
              <a:rPr lang="ko-KR" altLang="en-US" sz="900"/>
              <a:t>곱하기</a:t>
            </a:r>
            <a:r>
              <a:rPr lang="en-US" altLang="ko-KR" sz="900"/>
              <a:t>8</a:t>
            </a:r>
            <a:r>
              <a:rPr lang="ko-KR" altLang="en-US" sz="900"/>
              <a:t>은 </a:t>
            </a:r>
            <a:r>
              <a:rPr lang="en-US" altLang="ko-KR" sz="900"/>
              <a:t>32</a:t>
            </a:r>
            <a:r>
              <a:rPr lang="ko-KR" altLang="en-US" sz="900"/>
              <a:t>이므로 </a:t>
            </a:r>
            <a:r>
              <a:rPr lang="en-US" altLang="ko-KR" sz="900"/>
              <a:t>32</a:t>
            </a:r>
            <a:r>
              <a:rPr lang="ko-KR" altLang="en-US" sz="900"/>
              <a:t>비트 즉 </a:t>
            </a:r>
            <a:r>
              <a:rPr lang="en-US" altLang="ko-KR" sz="900"/>
              <a:t>4</a:t>
            </a:r>
            <a:r>
              <a:rPr lang="ko-KR" altLang="en-US" sz="900"/>
              <a:t>바이트가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602592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A026D2-6410-4BF4-AE19-B4539D96A090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이제 기본형에 대해서 자세히 알아보도록 하겠습니다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크게 논리형</a:t>
            </a:r>
            <a:r>
              <a:rPr lang="en-US" altLang="ko-KR" sz="900"/>
              <a:t>, </a:t>
            </a:r>
            <a:r>
              <a:rPr lang="ko-KR" altLang="en-US" sz="900"/>
              <a:t>문자형</a:t>
            </a:r>
            <a:r>
              <a:rPr lang="en-US" altLang="ko-KR" sz="900"/>
              <a:t>, </a:t>
            </a:r>
            <a:r>
              <a:rPr lang="ko-KR" altLang="en-US" sz="900"/>
              <a:t>정수형</a:t>
            </a:r>
            <a:r>
              <a:rPr lang="en-US" altLang="ko-KR" sz="900"/>
              <a:t>, </a:t>
            </a:r>
            <a:r>
              <a:rPr lang="ko-KR" altLang="en-US" sz="900"/>
              <a:t>실수형으로 나눌 수 있고요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논리형은</a:t>
            </a:r>
            <a:r>
              <a:rPr lang="en-US" altLang="ko-KR" sz="900"/>
              <a:t>… boolean</a:t>
            </a:r>
            <a:r>
              <a:rPr lang="ko-KR" altLang="en-US" sz="900"/>
              <a:t>하나 밖에 없고요</a:t>
            </a:r>
            <a:r>
              <a:rPr lang="en-US" altLang="ko-KR" sz="900"/>
              <a:t>. True</a:t>
            </a:r>
            <a:r>
              <a:rPr lang="ko-KR" altLang="en-US" sz="900"/>
              <a:t>와 </a:t>
            </a:r>
            <a:r>
              <a:rPr lang="en-US" altLang="ko-KR" sz="900"/>
              <a:t>false </a:t>
            </a:r>
            <a:r>
              <a:rPr lang="ko-KR" altLang="en-US" sz="900"/>
              <a:t>중 하나를 값으로 갖으며</a:t>
            </a:r>
            <a:r>
              <a:rPr lang="en-US" altLang="ko-KR" sz="900"/>
              <a:t>, </a:t>
            </a:r>
            <a:r>
              <a:rPr lang="ko-KR" altLang="en-US" sz="900"/>
              <a:t>조건식과 논리적 계산에 사용됩니다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문자형도 </a:t>
            </a:r>
            <a:r>
              <a:rPr lang="en-US" altLang="ko-KR" sz="900"/>
              <a:t>char</a:t>
            </a:r>
            <a:r>
              <a:rPr lang="ko-KR" altLang="en-US" sz="900"/>
              <a:t>하나 밖에 없고요</a:t>
            </a:r>
            <a:r>
              <a:rPr lang="en-US" altLang="ko-KR" sz="900"/>
              <a:t>. </a:t>
            </a:r>
            <a:r>
              <a:rPr lang="ko-KR" altLang="en-US" sz="900"/>
              <a:t>문자를 저장하는데 사용됩니다</a:t>
            </a:r>
            <a:r>
              <a:rPr lang="en-US" altLang="ko-KR" sz="900"/>
              <a:t>. </a:t>
            </a:r>
          </a:p>
          <a:p>
            <a:r>
              <a:rPr lang="ko-KR" altLang="en-US" sz="900"/>
              <a:t>그런데</a:t>
            </a:r>
            <a:r>
              <a:rPr lang="en-US" altLang="ko-KR" sz="900"/>
              <a:t>, char</a:t>
            </a:r>
            <a:r>
              <a:rPr lang="ko-KR" altLang="en-US" sz="900"/>
              <a:t>타입의 변수는 단 한 개의 문자밖에 저장할 수 없습니다</a:t>
            </a:r>
            <a:r>
              <a:rPr lang="en-US" altLang="ko-KR" sz="900"/>
              <a:t>. </a:t>
            </a:r>
            <a:r>
              <a:rPr lang="ko-KR" altLang="en-US" sz="900"/>
              <a:t>여러문자를 저장하려면 </a:t>
            </a:r>
            <a:r>
              <a:rPr lang="en-US" altLang="ko-KR" sz="900"/>
              <a:t>String</a:t>
            </a:r>
            <a:r>
              <a:rPr lang="ko-KR" altLang="en-US" sz="900"/>
              <a:t>을 사용해야하는데요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String</a:t>
            </a:r>
            <a:r>
              <a:rPr lang="ko-KR" altLang="en-US" sz="900"/>
              <a:t>에 대해서는 잠시후에 다시 설명 드리겠습니다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정수형은 </a:t>
            </a:r>
            <a:r>
              <a:rPr lang="en-US" altLang="ko-KR" sz="900"/>
              <a:t>byte, short, int, long</a:t>
            </a:r>
            <a:r>
              <a:rPr lang="ko-KR" altLang="en-US" sz="900"/>
              <a:t>이 있는데</a:t>
            </a:r>
            <a:r>
              <a:rPr lang="en-US" altLang="ko-KR" sz="900"/>
              <a:t>… </a:t>
            </a:r>
            <a:r>
              <a:rPr lang="ko-KR" altLang="en-US" sz="900"/>
              <a:t>주로 사용되는 것은 </a:t>
            </a:r>
            <a:r>
              <a:rPr lang="en-US" altLang="ko-KR" sz="900"/>
              <a:t>int</a:t>
            </a:r>
            <a:r>
              <a:rPr lang="ko-KR" altLang="en-US" sz="900"/>
              <a:t>와 </a:t>
            </a:r>
            <a:r>
              <a:rPr lang="en-US" altLang="ko-KR" sz="900"/>
              <a:t>long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는 이진데이터를 다루는데 사용되고요</a:t>
            </a:r>
            <a:r>
              <a:rPr lang="en-US" altLang="ko-KR" sz="900"/>
              <a:t>. Short</a:t>
            </a:r>
            <a:r>
              <a:rPr lang="ko-KR" altLang="en-US" sz="900"/>
              <a:t>은 </a:t>
            </a:r>
            <a:r>
              <a:rPr lang="en-US" altLang="ko-KR" sz="900"/>
              <a:t>C</a:t>
            </a:r>
            <a:r>
              <a:rPr lang="ko-KR" altLang="en-US" sz="900"/>
              <a:t>언어와의 호환을 위해 추가하였지만</a:t>
            </a:r>
            <a:r>
              <a:rPr lang="en-US" altLang="ko-KR" sz="900"/>
              <a:t>, </a:t>
            </a:r>
            <a:r>
              <a:rPr lang="ko-KR" altLang="en-US" sz="900"/>
              <a:t>잘 사용되지 않습니다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마지막으로 실수형에는 </a:t>
            </a:r>
            <a:r>
              <a:rPr lang="en-US" altLang="ko-KR" sz="900"/>
              <a:t>float</a:t>
            </a:r>
            <a:r>
              <a:rPr lang="ko-KR" altLang="en-US" sz="900"/>
              <a:t>와 </a:t>
            </a:r>
            <a:r>
              <a:rPr lang="en-US" altLang="ko-KR" sz="900"/>
              <a:t>double</a:t>
            </a:r>
            <a:r>
              <a:rPr lang="ko-KR" altLang="en-US" sz="900"/>
              <a:t>이 있죠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기본형을 종류와 크기로 분류해서 표를 그려보겠습니다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크기는 </a:t>
            </a:r>
            <a:r>
              <a:rPr lang="en-US" altLang="ko-KR" sz="900"/>
              <a:t>1</a:t>
            </a:r>
            <a:r>
              <a:rPr lang="ko-KR" altLang="en-US" sz="900"/>
              <a:t>부터 시작해서 두배로 올라갑니다</a:t>
            </a:r>
            <a:r>
              <a:rPr lang="en-US" altLang="ko-KR" sz="900"/>
              <a:t>. 1, 2, 4, 8 </a:t>
            </a:r>
            <a:r>
              <a:rPr lang="ko-KR" altLang="en-US" sz="900"/>
              <a:t>바이트</a:t>
            </a:r>
            <a:r>
              <a:rPr lang="en-US" altLang="ko-KR" sz="900"/>
              <a:t>… </a:t>
            </a:r>
            <a:r>
              <a:rPr lang="ko-KR" altLang="en-US" sz="900"/>
              <a:t>제일 큰 자료형이 </a:t>
            </a:r>
            <a:r>
              <a:rPr lang="en-US" altLang="ko-KR" sz="900"/>
              <a:t>8</a:t>
            </a:r>
            <a:r>
              <a:rPr lang="ko-KR" altLang="en-US" sz="900"/>
              <a:t>바이트입니다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논리형 </a:t>
            </a:r>
            <a:r>
              <a:rPr lang="en-US" altLang="ko-KR" sz="900"/>
              <a:t>boolean</a:t>
            </a:r>
            <a:r>
              <a:rPr lang="ko-KR" altLang="en-US" sz="900"/>
              <a:t>은 </a:t>
            </a:r>
            <a:r>
              <a:rPr lang="en-US" altLang="ko-KR" sz="900"/>
              <a:t>1</a:t>
            </a:r>
            <a:r>
              <a:rPr lang="ko-KR" altLang="en-US" sz="900"/>
              <a:t>바이트이고요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문자형 </a:t>
            </a:r>
            <a:r>
              <a:rPr lang="en-US" altLang="ko-KR" sz="900"/>
              <a:t>char</a:t>
            </a:r>
            <a:r>
              <a:rPr lang="ko-KR" altLang="en-US" sz="900"/>
              <a:t>는 </a:t>
            </a:r>
            <a:r>
              <a:rPr lang="en-US" altLang="ko-KR" sz="900"/>
              <a:t>2</a:t>
            </a:r>
            <a:r>
              <a:rPr lang="ko-KR" altLang="en-US" sz="900"/>
              <a:t>바이트</a:t>
            </a:r>
            <a:r>
              <a:rPr lang="en-US" altLang="ko-KR" sz="900"/>
              <a:t>, byte</a:t>
            </a:r>
            <a:r>
              <a:rPr lang="ko-KR" altLang="en-US" sz="900"/>
              <a:t>는 </a:t>
            </a:r>
            <a:r>
              <a:rPr lang="en-US" altLang="ko-KR" sz="900"/>
              <a:t>1</a:t>
            </a:r>
            <a:r>
              <a:rPr lang="ko-KR" altLang="en-US" sz="900"/>
              <a:t>바이트 </a:t>
            </a:r>
            <a:r>
              <a:rPr lang="en-US" altLang="ko-KR" sz="900"/>
              <a:t>short</a:t>
            </a:r>
            <a:r>
              <a:rPr lang="ko-KR" altLang="en-US" sz="900"/>
              <a:t>은 </a:t>
            </a:r>
            <a:r>
              <a:rPr lang="en-US" altLang="ko-KR" sz="900"/>
              <a:t>2</a:t>
            </a:r>
            <a:r>
              <a:rPr lang="ko-KR" altLang="en-US" sz="900"/>
              <a:t>바이트 </a:t>
            </a:r>
            <a:r>
              <a:rPr lang="en-US" altLang="ko-KR" sz="900"/>
              <a:t>int</a:t>
            </a:r>
            <a:r>
              <a:rPr lang="ko-KR" altLang="en-US" sz="900"/>
              <a:t>는 </a:t>
            </a:r>
            <a:r>
              <a:rPr lang="en-US" altLang="ko-KR" sz="900"/>
              <a:t>4</a:t>
            </a:r>
            <a:r>
              <a:rPr lang="ko-KR" altLang="en-US" sz="900"/>
              <a:t>바이트 </a:t>
            </a:r>
            <a:r>
              <a:rPr lang="en-US" altLang="ko-KR" sz="900"/>
              <a:t>long</a:t>
            </a:r>
            <a:r>
              <a:rPr lang="ko-KR" altLang="en-US" sz="900"/>
              <a:t>은 </a:t>
            </a:r>
            <a:r>
              <a:rPr lang="en-US" altLang="ko-KR" sz="900"/>
              <a:t>8</a:t>
            </a:r>
            <a:r>
              <a:rPr lang="ko-KR" altLang="en-US" sz="900"/>
              <a:t>바이트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는 </a:t>
            </a:r>
            <a:r>
              <a:rPr lang="en-US" altLang="ko-KR" sz="900"/>
              <a:t>4</a:t>
            </a:r>
            <a:r>
              <a:rPr lang="ko-KR" altLang="en-US" sz="900"/>
              <a:t>바이트 </a:t>
            </a:r>
            <a:r>
              <a:rPr lang="en-US" altLang="ko-KR" sz="900"/>
              <a:t>double</a:t>
            </a:r>
            <a:r>
              <a:rPr lang="ko-KR" altLang="en-US" sz="900"/>
              <a:t>은 </a:t>
            </a:r>
            <a:r>
              <a:rPr lang="en-US" altLang="ko-KR" sz="900"/>
              <a:t>8</a:t>
            </a:r>
            <a:r>
              <a:rPr lang="ko-KR" altLang="en-US" sz="900"/>
              <a:t>바이트입니다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이 표는 여러분들이 직접 여러 번 그려서</a:t>
            </a:r>
            <a:r>
              <a:rPr lang="en-US" altLang="ko-KR" sz="900"/>
              <a:t>… </a:t>
            </a:r>
            <a:r>
              <a:rPr lang="ko-KR" altLang="en-US" sz="900"/>
              <a:t>완전히 외워야하는 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제 설명을 듣고 나면 외우기가 좀 쉬워지실 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en-US" altLang="ko-KR" sz="900"/>
              <a:t>Boolean</a:t>
            </a:r>
            <a:r>
              <a:rPr lang="ko-KR" altLang="en-US" sz="900"/>
              <a:t>은 </a:t>
            </a:r>
            <a:r>
              <a:rPr lang="en-US" altLang="ko-KR" sz="900"/>
              <a:t>true</a:t>
            </a:r>
            <a:r>
              <a:rPr lang="ko-KR" altLang="en-US" sz="900"/>
              <a:t>와 </a:t>
            </a:r>
            <a:r>
              <a:rPr lang="en-US" altLang="ko-KR" sz="900"/>
              <a:t>false </a:t>
            </a:r>
            <a:r>
              <a:rPr lang="ko-KR" altLang="en-US" sz="900"/>
              <a:t>두가지 값 밖에 없기 때문에</a:t>
            </a:r>
            <a:r>
              <a:rPr lang="en-US" altLang="ko-KR" sz="900"/>
              <a:t>… 1 bit</a:t>
            </a:r>
            <a:r>
              <a:rPr lang="ko-KR" altLang="en-US" sz="900"/>
              <a:t>만으로도 충분히 저장이 가능하지만</a:t>
            </a:r>
          </a:p>
          <a:p>
            <a:r>
              <a:rPr lang="ko-KR" altLang="en-US" sz="900"/>
              <a:t>자바에서 데이터를 다루는 최소단위가 </a:t>
            </a:r>
            <a:r>
              <a:rPr lang="en-US" altLang="ko-KR" sz="900"/>
              <a:t>byte</a:t>
            </a:r>
            <a:r>
              <a:rPr lang="ko-KR" altLang="en-US" sz="900"/>
              <a:t>이기 때문에 좀 낭비같지만 </a:t>
            </a:r>
            <a:r>
              <a:rPr lang="en-US" altLang="ko-KR" sz="900"/>
              <a:t>1 byte</a:t>
            </a:r>
            <a:r>
              <a:rPr lang="ko-KR" altLang="en-US" sz="900"/>
              <a:t>를 사용합니다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자바에서는 </a:t>
            </a:r>
            <a:r>
              <a:rPr lang="en-US" altLang="ko-KR" sz="900"/>
              <a:t>2</a:t>
            </a:r>
            <a:r>
              <a:rPr lang="ko-KR" altLang="en-US" sz="900"/>
              <a:t>바이트 문자체계인 유니코드를 사용하기 때문에 </a:t>
            </a:r>
            <a:r>
              <a:rPr lang="en-US" altLang="ko-KR" sz="900"/>
              <a:t>char</a:t>
            </a:r>
            <a:r>
              <a:rPr lang="ko-KR" altLang="en-US" sz="900"/>
              <a:t>의 크기는 </a:t>
            </a:r>
            <a:r>
              <a:rPr lang="en-US" altLang="ko-KR" sz="900"/>
              <a:t>2byte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en-US" altLang="ko-KR" sz="900"/>
              <a:t>Byte</a:t>
            </a:r>
            <a:r>
              <a:rPr lang="ko-KR" altLang="en-US" sz="900"/>
              <a:t>는 크기가 </a:t>
            </a:r>
            <a:r>
              <a:rPr lang="en-US" altLang="ko-KR" sz="900"/>
              <a:t>1 byte</a:t>
            </a:r>
            <a:r>
              <a:rPr lang="ko-KR" altLang="en-US" sz="900"/>
              <a:t>라서 </a:t>
            </a:r>
            <a:r>
              <a:rPr lang="en-US" altLang="ko-KR" sz="900"/>
              <a:t>byte</a:t>
            </a:r>
            <a:r>
              <a:rPr lang="ko-KR" altLang="en-US" sz="900"/>
              <a:t>이고요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int</a:t>
            </a:r>
            <a:r>
              <a:rPr lang="ko-KR" altLang="en-US" sz="900"/>
              <a:t>를 기준으로 짧아서 </a:t>
            </a:r>
            <a:r>
              <a:rPr lang="en-US" altLang="ko-KR" sz="900"/>
              <a:t>short</a:t>
            </a:r>
            <a:r>
              <a:rPr lang="ko-KR" altLang="en-US" sz="900"/>
              <a:t>이고 길어서 </a:t>
            </a:r>
            <a:r>
              <a:rPr lang="en-US" altLang="ko-KR" sz="900"/>
              <a:t>long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은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Int</a:t>
            </a:r>
            <a:r>
              <a:rPr lang="ko-KR" altLang="en-US" sz="900"/>
              <a:t>보다 작으니까 </a:t>
            </a:r>
            <a:r>
              <a:rPr lang="en-US" altLang="ko-KR" sz="900"/>
              <a:t>2 byte</a:t>
            </a:r>
            <a:r>
              <a:rPr lang="ko-KR" altLang="en-US" sz="900"/>
              <a:t>이고요</a:t>
            </a:r>
            <a:r>
              <a:rPr lang="en-US" altLang="ko-KR" sz="900"/>
              <a:t>. Long</a:t>
            </a:r>
            <a:r>
              <a:rPr lang="ko-KR" altLang="en-US" sz="900"/>
              <a:t>은 크니까 </a:t>
            </a:r>
            <a:r>
              <a:rPr lang="en-US" altLang="ko-KR" sz="900"/>
              <a:t>8 </a:t>
            </a:r>
            <a:r>
              <a:rPr lang="ko-KR" altLang="en-US" sz="900"/>
              <a:t>바이트 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long</a:t>
            </a:r>
            <a:r>
              <a:rPr lang="ko-KR" altLang="en-US" sz="900"/>
              <a:t>은 서로 반대말이니까 외우기 쉽죠</a:t>
            </a:r>
            <a:r>
              <a:rPr lang="en-US" altLang="ko-KR" sz="900"/>
              <a:t>?</a:t>
            </a:r>
          </a:p>
          <a:p>
            <a:endParaRPr lang="en-US" altLang="ko-KR" sz="900"/>
          </a:p>
          <a:p>
            <a:r>
              <a:rPr lang="en-US" altLang="ko-KR" sz="900"/>
              <a:t>Float</a:t>
            </a:r>
            <a:r>
              <a:rPr lang="ko-KR" altLang="en-US" sz="900"/>
              <a:t>는 실수를 부동 소수점 방식</a:t>
            </a:r>
            <a:r>
              <a:rPr lang="en-US" altLang="ko-KR" sz="900"/>
              <a:t>… floating-point</a:t>
            </a:r>
            <a:r>
              <a:rPr lang="ko-KR" altLang="en-US" sz="900"/>
              <a:t>방식으로 저장하기 때문에 </a:t>
            </a:r>
            <a:r>
              <a:rPr lang="en-US" altLang="ko-KR" sz="900"/>
              <a:t>float</a:t>
            </a:r>
            <a:r>
              <a:rPr lang="ko-KR" altLang="en-US" sz="900"/>
              <a:t>이고요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Double</a:t>
            </a:r>
            <a:r>
              <a:rPr lang="ko-KR" altLang="en-US" sz="900"/>
              <a:t>은 </a:t>
            </a:r>
            <a:r>
              <a:rPr lang="en-US" altLang="ko-KR" sz="900"/>
              <a:t>float</a:t>
            </a:r>
            <a:r>
              <a:rPr lang="ko-KR" altLang="en-US" sz="900"/>
              <a:t>보다 두배의 정밀도를 갖기 때문에 </a:t>
            </a:r>
            <a:r>
              <a:rPr lang="en-US" altLang="ko-KR" sz="900"/>
              <a:t>double</a:t>
            </a:r>
            <a:r>
              <a:rPr lang="ko-KR" altLang="en-US" sz="900"/>
              <a:t>입니다</a:t>
            </a:r>
            <a:r>
              <a:rPr lang="en-US" altLang="ko-KR" sz="900"/>
              <a:t>. </a:t>
            </a:r>
            <a:r>
              <a:rPr lang="ko-KR" altLang="en-US" sz="900"/>
              <a:t>크기도 </a:t>
            </a:r>
            <a:r>
              <a:rPr lang="en-US" altLang="ko-KR" sz="900"/>
              <a:t>float</a:t>
            </a:r>
            <a:r>
              <a:rPr lang="ko-KR" altLang="en-US" sz="900"/>
              <a:t>의 두배인 </a:t>
            </a:r>
            <a:r>
              <a:rPr lang="en-US" altLang="ko-KR" sz="900"/>
              <a:t>8</a:t>
            </a:r>
            <a:r>
              <a:rPr lang="ko-KR" altLang="en-US" sz="900"/>
              <a:t>바이트죠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정수형 중에는 </a:t>
            </a:r>
            <a:r>
              <a:rPr lang="en-US" altLang="ko-KR" sz="900"/>
              <a:t>int</a:t>
            </a:r>
            <a:r>
              <a:rPr lang="ko-KR" altLang="en-US" sz="900"/>
              <a:t>가 </a:t>
            </a:r>
            <a:r>
              <a:rPr lang="en-US" altLang="ko-KR" sz="900"/>
              <a:t>default</a:t>
            </a:r>
            <a:r>
              <a:rPr lang="ko-KR" altLang="en-US" sz="900"/>
              <a:t>타입이고요</a:t>
            </a:r>
            <a:r>
              <a:rPr lang="en-US" altLang="ko-KR" sz="900"/>
              <a:t>. </a:t>
            </a:r>
            <a:r>
              <a:rPr lang="ko-KR" altLang="en-US" sz="900"/>
              <a:t>실수형 중에는 </a:t>
            </a:r>
            <a:r>
              <a:rPr lang="en-US" altLang="ko-KR" sz="900"/>
              <a:t>double</a:t>
            </a:r>
            <a:r>
              <a:rPr lang="ko-KR" altLang="en-US" sz="900"/>
              <a:t>이 </a:t>
            </a:r>
            <a:r>
              <a:rPr lang="en-US" altLang="ko-KR" sz="900"/>
              <a:t>default</a:t>
            </a:r>
            <a:r>
              <a:rPr lang="ko-KR" altLang="en-US" sz="900"/>
              <a:t>타입입니다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Default</a:t>
            </a:r>
            <a:r>
              <a:rPr lang="ko-KR" altLang="en-US" sz="900"/>
              <a:t>타입에 대해서는 나중에 다시 설명하겠습니다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164407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887F-9DD1-956D-37F0-60F15F0D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4BA8C47-4F48-4BE2-BE61-F17D704110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A026D2-6410-4BF4-AE19-B4539D96A090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492CBB2-9ADD-B9EB-A305-39E7B1093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E236FC4-E748-8DEA-0879-F142F4BB9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이제 기본형에 대해서 자세히 알아보도록 하겠습니다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기본형은 크게 논리형</a:t>
            </a:r>
            <a:r>
              <a:rPr lang="en-US" altLang="ko-KR" sz="900"/>
              <a:t>, </a:t>
            </a:r>
            <a:r>
              <a:rPr lang="ko-KR" altLang="en-US" sz="900"/>
              <a:t>문자형</a:t>
            </a:r>
            <a:r>
              <a:rPr lang="en-US" altLang="ko-KR" sz="900"/>
              <a:t>, </a:t>
            </a:r>
            <a:r>
              <a:rPr lang="ko-KR" altLang="en-US" sz="900"/>
              <a:t>정수형</a:t>
            </a:r>
            <a:r>
              <a:rPr lang="en-US" altLang="ko-KR" sz="900"/>
              <a:t>, </a:t>
            </a:r>
            <a:r>
              <a:rPr lang="ko-KR" altLang="en-US" sz="900"/>
              <a:t>실수형으로 나눌 수 있고요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논리형은</a:t>
            </a:r>
            <a:r>
              <a:rPr lang="en-US" altLang="ko-KR" sz="900"/>
              <a:t>… boolean</a:t>
            </a:r>
            <a:r>
              <a:rPr lang="ko-KR" altLang="en-US" sz="900"/>
              <a:t>하나 밖에 없고요</a:t>
            </a:r>
            <a:r>
              <a:rPr lang="en-US" altLang="ko-KR" sz="900"/>
              <a:t>. True</a:t>
            </a:r>
            <a:r>
              <a:rPr lang="ko-KR" altLang="en-US" sz="900"/>
              <a:t>와 </a:t>
            </a:r>
            <a:r>
              <a:rPr lang="en-US" altLang="ko-KR" sz="900"/>
              <a:t>false </a:t>
            </a:r>
            <a:r>
              <a:rPr lang="ko-KR" altLang="en-US" sz="900"/>
              <a:t>중 하나를 값으로 갖으며</a:t>
            </a:r>
            <a:r>
              <a:rPr lang="en-US" altLang="ko-KR" sz="900"/>
              <a:t>, </a:t>
            </a:r>
            <a:r>
              <a:rPr lang="ko-KR" altLang="en-US" sz="900"/>
              <a:t>조건식과 논리적 계산에 사용됩니다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문자형도 </a:t>
            </a:r>
            <a:r>
              <a:rPr lang="en-US" altLang="ko-KR" sz="900"/>
              <a:t>char</a:t>
            </a:r>
            <a:r>
              <a:rPr lang="ko-KR" altLang="en-US" sz="900"/>
              <a:t>하나 밖에 없고요</a:t>
            </a:r>
            <a:r>
              <a:rPr lang="en-US" altLang="ko-KR" sz="900"/>
              <a:t>. </a:t>
            </a:r>
            <a:r>
              <a:rPr lang="ko-KR" altLang="en-US" sz="900"/>
              <a:t>문자를 저장하는데 사용됩니다</a:t>
            </a:r>
            <a:r>
              <a:rPr lang="en-US" altLang="ko-KR" sz="900"/>
              <a:t>. </a:t>
            </a:r>
          </a:p>
          <a:p>
            <a:r>
              <a:rPr lang="ko-KR" altLang="en-US" sz="900"/>
              <a:t>그런데</a:t>
            </a:r>
            <a:r>
              <a:rPr lang="en-US" altLang="ko-KR" sz="900"/>
              <a:t>, char</a:t>
            </a:r>
            <a:r>
              <a:rPr lang="ko-KR" altLang="en-US" sz="900"/>
              <a:t>타입의 변수는 단 한 개의 문자밖에 저장할 수 없습니다</a:t>
            </a:r>
            <a:r>
              <a:rPr lang="en-US" altLang="ko-KR" sz="900"/>
              <a:t>. </a:t>
            </a:r>
            <a:r>
              <a:rPr lang="ko-KR" altLang="en-US" sz="900"/>
              <a:t>여러문자를 저장하려면 </a:t>
            </a:r>
            <a:r>
              <a:rPr lang="en-US" altLang="ko-KR" sz="900"/>
              <a:t>String</a:t>
            </a:r>
            <a:r>
              <a:rPr lang="ko-KR" altLang="en-US" sz="900"/>
              <a:t>을 사용해야하는데요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String</a:t>
            </a:r>
            <a:r>
              <a:rPr lang="ko-KR" altLang="en-US" sz="900"/>
              <a:t>에 대해서는 잠시후에 다시 설명 드리겠습니다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정수형은 </a:t>
            </a:r>
            <a:r>
              <a:rPr lang="en-US" altLang="ko-KR" sz="900"/>
              <a:t>byte, short, int, long</a:t>
            </a:r>
            <a:r>
              <a:rPr lang="ko-KR" altLang="en-US" sz="900"/>
              <a:t>이 있는데</a:t>
            </a:r>
            <a:r>
              <a:rPr lang="en-US" altLang="ko-KR" sz="900"/>
              <a:t>… </a:t>
            </a:r>
            <a:r>
              <a:rPr lang="ko-KR" altLang="en-US" sz="900"/>
              <a:t>주로 사용되는 것은 </a:t>
            </a:r>
            <a:r>
              <a:rPr lang="en-US" altLang="ko-KR" sz="900"/>
              <a:t>int</a:t>
            </a:r>
            <a:r>
              <a:rPr lang="ko-KR" altLang="en-US" sz="900"/>
              <a:t>와 </a:t>
            </a:r>
            <a:r>
              <a:rPr lang="en-US" altLang="ko-KR" sz="900"/>
              <a:t>long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는 이진데이터를 다루는데 사용되고요</a:t>
            </a:r>
            <a:r>
              <a:rPr lang="en-US" altLang="ko-KR" sz="900"/>
              <a:t>. Short</a:t>
            </a:r>
            <a:r>
              <a:rPr lang="ko-KR" altLang="en-US" sz="900"/>
              <a:t>은 </a:t>
            </a:r>
            <a:r>
              <a:rPr lang="en-US" altLang="ko-KR" sz="900"/>
              <a:t>C</a:t>
            </a:r>
            <a:r>
              <a:rPr lang="ko-KR" altLang="en-US" sz="900"/>
              <a:t>언어와의 호환을 위해 추가하였지만</a:t>
            </a:r>
            <a:r>
              <a:rPr lang="en-US" altLang="ko-KR" sz="900"/>
              <a:t>, </a:t>
            </a:r>
            <a:r>
              <a:rPr lang="ko-KR" altLang="en-US" sz="900"/>
              <a:t>잘 사용되지 않습니다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마지막으로 실수형에는 </a:t>
            </a:r>
            <a:r>
              <a:rPr lang="en-US" altLang="ko-KR" sz="900"/>
              <a:t>float</a:t>
            </a:r>
            <a:r>
              <a:rPr lang="ko-KR" altLang="en-US" sz="900"/>
              <a:t>와 </a:t>
            </a:r>
            <a:r>
              <a:rPr lang="en-US" altLang="ko-KR" sz="900"/>
              <a:t>double</a:t>
            </a:r>
            <a:r>
              <a:rPr lang="ko-KR" altLang="en-US" sz="900"/>
              <a:t>이 있죠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기본형을 종류와 크기로 분류해서 표를 그려보겠습니다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크기는 </a:t>
            </a:r>
            <a:r>
              <a:rPr lang="en-US" altLang="ko-KR" sz="900"/>
              <a:t>1</a:t>
            </a:r>
            <a:r>
              <a:rPr lang="ko-KR" altLang="en-US" sz="900"/>
              <a:t>부터 시작해서 두배로 올라갑니다</a:t>
            </a:r>
            <a:r>
              <a:rPr lang="en-US" altLang="ko-KR" sz="900"/>
              <a:t>. 1, 2, 4, 8 </a:t>
            </a:r>
            <a:r>
              <a:rPr lang="ko-KR" altLang="en-US" sz="900"/>
              <a:t>바이트</a:t>
            </a:r>
            <a:r>
              <a:rPr lang="en-US" altLang="ko-KR" sz="900"/>
              <a:t>… </a:t>
            </a:r>
            <a:r>
              <a:rPr lang="ko-KR" altLang="en-US" sz="900"/>
              <a:t>제일 큰 자료형이 </a:t>
            </a:r>
            <a:r>
              <a:rPr lang="en-US" altLang="ko-KR" sz="900"/>
              <a:t>8</a:t>
            </a:r>
            <a:r>
              <a:rPr lang="ko-KR" altLang="en-US" sz="900"/>
              <a:t>바이트입니다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논리형 </a:t>
            </a:r>
            <a:r>
              <a:rPr lang="en-US" altLang="ko-KR" sz="900"/>
              <a:t>boolean</a:t>
            </a:r>
            <a:r>
              <a:rPr lang="ko-KR" altLang="en-US" sz="900"/>
              <a:t>은 </a:t>
            </a:r>
            <a:r>
              <a:rPr lang="en-US" altLang="ko-KR" sz="900"/>
              <a:t>1</a:t>
            </a:r>
            <a:r>
              <a:rPr lang="ko-KR" altLang="en-US" sz="900"/>
              <a:t>바이트이고요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문자형 </a:t>
            </a:r>
            <a:r>
              <a:rPr lang="en-US" altLang="ko-KR" sz="900"/>
              <a:t>char</a:t>
            </a:r>
            <a:r>
              <a:rPr lang="ko-KR" altLang="en-US" sz="900"/>
              <a:t>는 </a:t>
            </a:r>
            <a:r>
              <a:rPr lang="en-US" altLang="ko-KR" sz="900"/>
              <a:t>2</a:t>
            </a:r>
            <a:r>
              <a:rPr lang="ko-KR" altLang="en-US" sz="900"/>
              <a:t>바이트</a:t>
            </a:r>
            <a:r>
              <a:rPr lang="en-US" altLang="ko-KR" sz="900"/>
              <a:t>, byte</a:t>
            </a:r>
            <a:r>
              <a:rPr lang="ko-KR" altLang="en-US" sz="900"/>
              <a:t>는 </a:t>
            </a:r>
            <a:r>
              <a:rPr lang="en-US" altLang="ko-KR" sz="900"/>
              <a:t>1</a:t>
            </a:r>
            <a:r>
              <a:rPr lang="ko-KR" altLang="en-US" sz="900"/>
              <a:t>바이트 </a:t>
            </a:r>
            <a:r>
              <a:rPr lang="en-US" altLang="ko-KR" sz="900"/>
              <a:t>short</a:t>
            </a:r>
            <a:r>
              <a:rPr lang="ko-KR" altLang="en-US" sz="900"/>
              <a:t>은 </a:t>
            </a:r>
            <a:r>
              <a:rPr lang="en-US" altLang="ko-KR" sz="900"/>
              <a:t>2</a:t>
            </a:r>
            <a:r>
              <a:rPr lang="ko-KR" altLang="en-US" sz="900"/>
              <a:t>바이트 </a:t>
            </a:r>
            <a:r>
              <a:rPr lang="en-US" altLang="ko-KR" sz="900"/>
              <a:t>int</a:t>
            </a:r>
            <a:r>
              <a:rPr lang="ko-KR" altLang="en-US" sz="900"/>
              <a:t>는 </a:t>
            </a:r>
            <a:r>
              <a:rPr lang="en-US" altLang="ko-KR" sz="900"/>
              <a:t>4</a:t>
            </a:r>
            <a:r>
              <a:rPr lang="ko-KR" altLang="en-US" sz="900"/>
              <a:t>바이트 </a:t>
            </a:r>
            <a:r>
              <a:rPr lang="en-US" altLang="ko-KR" sz="900"/>
              <a:t>long</a:t>
            </a:r>
            <a:r>
              <a:rPr lang="ko-KR" altLang="en-US" sz="900"/>
              <a:t>은 </a:t>
            </a:r>
            <a:r>
              <a:rPr lang="en-US" altLang="ko-KR" sz="900"/>
              <a:t>8</a:t>
            </a:r>
            <a:r>
              <a:rPr lang="ko-KR" altLang="en-US" sz="900"/>
              <a:t>바이트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는 </a:t>
            </a:r>
            <a:r>
              <a:rPr lang="en-US" altLang="ko-KR" sz="900"/>
              <a:t>4</a:t>
            </a:r>
            <a:r>
              <a:rPr lang="ko-KR" altLang="en-US" sz="900"/>
              <a:t>바이트 </a:t>
            </a:r>
            <a:r>
              <a:rPr lang="en-US" altLang="ko-KR" sz="900"/>
              <a:t>double</a:t>
            </a:r>
            <a:r>
              <a:rPr lang="ko-KR" altLang="en-US" sz="900"/>
              <a:t>은 </a:t>
            </a:r>
            <a:r>
              <a:rPr lang="en-US" altLang="ko-KR" sz="900"/>
              <a:t>8</a:t>
            </a:r>
            <a:r>
              <a:rPr lang="ko-KR" altLang="en-US" sz="900"/>
              <a:t>바이트입니다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이 표는 여러분들이 직접 여러 번 그려서</a:t>
            </a:r>
            <a:r>
              <a:rPr lang="en-US" altLang="ko-KR" sz="900"/>
              <a:t>… </a:t>
            </a:r>
            <a:r>
              <a:rPr lang="ko-KR" altLang="en-US" sz="900"/>
              <a:t>완전히 외워야하는 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제 설명을 듣고 나면 외우기가 좀 쉬워지실 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en-US" altLang="ko-KR" sz="900"/>
              <a:t>Boolean</a:t>
            </a:r>
            <a:r>
              <a:rPr lang="ko-KR" altLang="en-US" sz="900"/>
              <a:t>은 </a:t>
            </a:r>
            <a:r>
              <a:rPr lang="en-US" altLang="ko-KR" sz="900"/>
              <a:t>true</a:t>
            </a:r>
            <a:r>
              <a:rPr lang="ko-KR" altLang="en-US" sz="900"/>
              <a:t>와 </a:t>
            </a:r>
            <a:r>
              <a:rPr lang="en-US" altLang="ko-KR" sz="900"/>
              <a:t>false </a:t>
            </a:r>
            <a:r>
              <a:rPr lang="ko-KR" altLang="en-US" sz="900"/>
              <a:t>두가지 값 밖에 없기 때문에</a:t>
            </a:r>
            <a:r>
              <a:rPr lang="en-US" altLang="ko-KR" sz="900"/>
              <a:t>… 1 bit</a:t>
            </a:r>
            <a:r>
              <a:rPr lang="ko-KR" altLang="en-US" sz="900"/>
              <a:t>만으로도 충분히 저장이 가능하지만</a:t>
            </a:r>
          </a:p>
          <a:p>
            <a:r>
              <a:rPr lang="ko-KR" altLang="en-US" sz="900"/>
              <a:t>자바에서 데이터를 다루는 최소단위가 </a:t>
            </a:r>
            <a:r>
              <a:rPr lang="en-US" altLang="ko-KR" sz="900"/>
              <a:t>byte</a:t>
            </a:r>
            <a:r>
              <a:rPr lang="ko-KR" altLang="en-US" sz="900"/>
              <a:t>이기 때문에 좀 낭비같지만 </a:t>
            </a:r>
            <a:r>
              <a:rPr lang="en-US" altLang="ko-KR" sz="900"/>
              <a:t>1 byte</a:t>
            </a:r>
            <a:r>
              <a:rPr lang="ko-KR" altLang="en-US" sz="900"/>
              <a:t>를 사용합니다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자바에서는 </a:t>
            </a:r>
            <a:r>
              <a:rPr lang="en-US" altLang="ko-KR" sz="900"/>
              <a:t>2</a:t>
            </a:r>
            <a:r>
              <a:rPr lang="ko-KR" altLang="en-US" sz="900"/>
              <a:t>바이트 문자체계인 유니코드를 사용하기 때문에 </a:t>
            </a:r>
            <a:r>
              <a:rPr lang="en-US" altLang="ko-KR" sz="900"/>
              <a:t>char</a:t>
            </a:r>
            <a:r>
              <a:rPr lang="ko-KR" altLang="en-US" sz="900"/>
              <a:t>의 크기는 </a:t>
            </a:r>
            <a:r>
              <a:rPr lang="en-US" altLang="ko-KR" sz="900"/>
              <a:t>2byte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en-US" altLang="ko-KR" sz="900"/>
              <a:t>Byte</a:t>
            </a:r>
            <a:r>
              <a:rPr lang="ko-KR" altLang="en-US" sz="900"/>
              <a:t>는 크기가 </a:t>
            </a:r>
            <a:r>
              <a:rPr lang="en-US" altLang="ko-KR" sz="900"/>
              <a:t>1 byte</a:t>
            </a:r>
            <a:r>
              <a:rPr lang="ko-KR" altLang="en-US" sz="900"/>
              <a:t>라서 </a:t>
            </a:r>
            <a:r>
              <a:rPr lang="en-US" altLang="ko-KR" sz="900"/>
              <a:t>byte</a:t>
            </a:r>
            <a:r>
              <a:rPr lang="ko-KR" altLang="en-US" sz="900"/>
              <a:t>이고요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int</a:t>
            </a:r>
            <a:r>
              <a:rPr lang="ko-KR" altLang="en-US" sz="900"/>
              <a:t>를 기준으로 짧아서 </a:t>
            </a:r>
            <a:r>
              <a:rPr lang="en-US" altLang="ko-KR" sz="900"/>
              <a:t>short</a:t>
            </a:r>
            <a:r>
              <a:rPr lang="ko-KR" altLang="en-US" sz="900"/>
              <a:t>이고 길어서 </a:t>
            </a:r>
            <a:r>
              <a:rPr lang="en-US" altLang="ko-KR" sz="900"/>
              <a:t>long</a:t>
            </a:r>
            <a:r>
              <a:rPr lang="ko-KR" altLang="en-US" sz="900"/>
              <a:t>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은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Int</a:t>
            </a:r>
            <a:r>
              <a:rPr lang="ko-KR" altLang="en-US" sz="900"/>
              <a:t>보다 작으니까 </a:t>
            </a:r>
            <a:r>
              <a:rPr lang="en-US" altLang="ko-KR" sz="900"/>
              <a:t>2 byte</a:t>
            </a:r>
            <a:r>
              <a:rPr lang="ko-KR" altLang="en-US" sz="900"/>
              <a:t>이고요</a:t>
            </a:r>
            <a:r>
              <a:rPr lang="en-US" altLang="ko-KR" sz="900"/>
              <a:t>. Long</a:t>
            </a:r>
            <a:r>
              <a:rPr lang="ko-KR" altLang="en-US" sz="900"/>
              <a:t>은 크니까 </a:t>
            </a:r>
            <a:r>
              <a:rPr lang="en-US" altLang="ko-KR" sz="900"/>
              <a:t>8 </a:t>
            </a:r>
            <a:r>
              <a:rPr lang="ko-KR" altLang="en-US" sz="900"/>
              <a:t>바이트 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long</a:t>
            </a:r>
            <a:r>
              <a:rPr lang="ko-KR" altLang="en-US" sz="900"/>
              <a:t>은 서로 반대말이니까 외우기 쉽죠</a:t>
            </a:r>
            <a:r>
              <a:rPr lang="en-US" altLang="ko-KR" sz="900"/>
              <a:t>?</a:t>
            </a:r>
          </a:p>
          <a:p>
            <a:endParaRPr lang="en-US" altLang="ko-KR" sz="900"/>
          </a:p>
          <a:p>
            <a:r>
              <a:rPr lang="en-US" altLang="ko-KR" sz="900"/>
              <a:t>Float</a:t>
            </a:r>
            <a:r>
              <a:rPr lang="ko-KR" altLang="en-US" sz="900"/>
              <a:t>는 실수를 부동 소수점 방식</a:t>
            </a:r>
            <a:r>
              <a:rPr lang="en-US" altLang="ko-KR" sz="900"/>
              <a:t>… floating-point</a:t>
            </a:r>
            <a:r>
              <a:rPr lang="ko-KR" altLang="en-US" sz="900"/>
              <a:t>방식으로 저장하기 때문에 </a:t>
            </a:r>
            <a:r>
              <a:rPr lang="en-US" altLang="ko-KR" sz="900"/>
              <a:t>float</a:t>
            </a:r>
            <a:r>
              <a:rPr lang="ko-KR" altLang="en-US" sz="900"/>
              <a:t>이고요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Double</a:t>
            </a:r>
            <a:r>
              <a:rPr lang="ko-KR" altLang="en-US" sz="900"/>
              <a:t>은 </a:t>
            </a:r>
            <a:r>
              <a:rPr lang="en-US" altLang="ko-KR" sz="900"/>
              <a:t>float</a:t>
            </a:r>
            <a:r>
              <a:rPr lang="ko-KR" altLang="en-US" sz="900"/>
              <a:t>보다 두배의 정밀도를 갖기 때문에 </a:t>
            </a:r>
            <a:r>
              <a:rPr lang="en-US" altLang="ko-KR" sz="900"/>
              <a:t>double</a:t>
            </a:r>
            <a:r>
              <a:rPr lang="ko-KR" altLang="en-US" sz="900"/>
              <a:t>입니다</a:t>
            </a:r>
            <a:r>
              <a:rPr lang="en-US" altLang="ko-KR" sz="900"/>
              <a:t>. </a:t>
            </a:r>
            <a:r>
              <a:rPr lang="ko-KR" altLang="en-US" sz="900"/>
              <a:t>크기도 </a:t>
            </a:r>
            <a:r>
              <a:rPr lang="en-US" altLang="ko-KR" sz="900"/>
              <a:t>float</a:t>
            </a:r>
            <a:r>
              <a:rPr lang="ko-KR" altLang="en-US" sz="900"/>
              <a:t>의 두배인 </a:t>
            </a:r>
            <a:r>
              <a:rPr lang="en-US" altLang="ko-KR" sz="900"/>
              <a:t>8</a:t>
            </a:r>
            <a:r>
              <a:rPr lang="ko-KR" altLang="en-US" sz="900"/>
              <a:t>바이트죠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정수형 중에는 </a:t>
            </a:r>
            <a:r>
              <a:rPr lang="en-US" altLang="ko-KR" sz="900"/>
              <a:t>int</a:t>
            </a:r>
            <a:r>
              <a:rPr lang="ko-KR" altLang="en-US" sz="900"/>
              <a:t>가 </a:t>
            </a:r>
            <a:r>
              <a:rPr lang="en-US" altLang="ko-KR" sz="900"/>
              <a:t>default</a:t>
            </a:r>
            <a:r>
              <a:rPr lang="ko-KR" altLang="en-US" sz="900"/>
              <a:t>타입이고요</a:t>
            </a:r>
            <a:r>
              <a:rPr lang="en-US" altLang="ko-KR" sz="900"/>
              <a:t>. </a:t>
            </a:r>
            <a:r>
              <a:rPr lang="ko-KR" altLang="en-US" sz="900"/>
              <a:t>실수형 중에는 </a:t>
            </a:r>
            <a:r>
              <a:rPr lang="en-US" altLang="ko-KR" sz="900"/>
              <a:t>double</a:t>
            </a:r>
            <a:r>
              <a:rPr lang="ko-KR" altLang="en-US" sz="900"/>
              <a:t>이 </a:t>
            </a:r>
            <a:r>
              <a:rPr lang="en-US" altLang="ko-KR" sz="900"/>
              <a:t>default</a:t>
            </a:r>
            <a:r>
              <a:rPr lang="ko-KR" altLang="en-US" sz="900"/>
              <a:t>타입입니다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Default</a:t>
            </a:r>
            <a:r>
              <a:rPr lang="ko-KR" altLang="en-US" sz="900"/>
              <a:t>타입에 대해서는 나중에 다시 설명하겠습니다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532347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FF330E-73FE-4DDF-B9F4-889C9B59B358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명명규칙이라는 것은 이름을 짓는 규칙을 말합니다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변수나 클래스</a:t>
            </a:r>
            <a:r>
              <a:rPr lang="en-US" altLang="ko-KR" sz="900"/>
              <a:t>, </a:t>
            </a:r>
            <a:r>
              <a:rPr lang="ko-KR" altLang="en-US" sz="900"/>
              <a:t>메서드 등의 이름을 지을 때 지켜야하는 몇가지 규칙이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첫번째</a:t>
            </a:r>
            <a:r>
              <a:rPr lang="en-US" altLang="ko-KR" sz="900"/>
              <a:t>, </a:t>
            </a:r>
            <a:r>
              <a:rPr lang="ko-KR" altLang="en-US" sz="900"/>
              <a:t>대소문자가 구분되며 길이에 제한이 없다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처음에 자바를 배울때 제일 실수를 많이 하는 것이 대소문자인데요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자바는 대소문자를 구분하기 때문에 주의를 많이 기울이셔야합니다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이름을 지을 때 길이에 제한이 없다고는 하지만 전혀 제한이 없는 것은 아니고요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의미를 이해하기 쉬울정도의 적당한 길이로 하면 되겠습니다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두번째로 예약어를 사용해서는 안된다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자바에서 자체적으로 사용하는 단어들이 있습니다</a:t>
            </a:r>
            <a:r>
              <a:rPr lang="en-US" altLang="ko-KR" sz="900"/>
              <a:t>. </a:t>
            </a:r>
            <a:r>
              <a:rPr lang="ko-KR" altLang="en-US" sz="900"/>
              <a:t>이 단어들을 예약어 또는 키워드라고도 하는데요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예를 들어 </a:t>
            </a:r>
            <a:r>
              <a:rPr lang="en-US" altLang="ko-KR" sz="900"/>
              <a:t>int</a:t>
            </a:r>
            <a:r>
              <a:rPr lang="ko-KR" altLang="en-US" sz="900"/>
              <a:t>나 </a:t>
            </a:r>
            <a:r>
              <a:rPr lang="en-US" altLang="ko-KR" sz="900"/>
              <a:t>long</a:t>
            </a:r>
            <a:r>
              <a:rPr lang="ko-KR" altLang="en-US" sz="900"/>
              <a:t>과 같은 것들이 모두 예약어입니다</a:t>
            </a:r>
            <a:r>
              <a:rPr lang="en-US" altLang="ko-KR" sz="900"/>
              <a:t>. </a:t>
            </a:r>
          </a:p>
          <a:p>
            <a:r>
              <a:rPr lang="en-US" altLang="ko-KR" sz="900"/>
              <a:t>Int</a:t>
            </a:r>
            <a:r>
              <a:rPr lang="ko-KR" altLang="en-US" sz="900"/>
              <a:t>나 </a:t>
            </a:r>
            <a:r>
              <a:rPr lang="en-US" altLang="ko-KR" sz="900"/>
              <a:t>long</a:t>
            </a:r>
            <a:r>
              <a:rPr lang="ko-KR" altLang="en-US" sz="900"/>
              <a:t>을 변수나 메서드의 이름으로 사용해서는 안된다는 얘깁니다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책에 보면 예약어 목록이 나와있긴 한데요</a:t>
            </a:r>
            <a:r>
              <a:rPr lang="en-US" altLang="ko-KR" sz="900"/>
              <a:t>. </a:t>
            </a:r>
            <a:r>
              <a:rPr lang="ko-KR" altLang="en-US" sz="900"/>
              <a:t>굳이 따로 외우실 필요는 없고요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진도를 나가면서 하나씩 배워나가면 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에딧플러스와 같은 에디터에서 예약어는 따로 구별할 수 있도록 색깔로 표시해주기도 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세번째</a:t>
            </a:r>
            <a:r>
              <a:rPr lang="en-US" altLang="ko-KR" sz="900"/>
              <a:t>, </a:t>
            </a:r>
            <a:r>
              <a:rPr lang="ko-KR" altLang="en-US" sz="900"/>
              <a:t>숫자로 시작해서는 안된다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네번째로 특수문자는 </a:t>
            </a:r>
            <a:r>
              <a:rPr lang="en-US" altLang="ko-KR" sz="900"/>
              <a:t>_</a:t>
            </a:r>
            <a:r>
              <a:rPr lang="ko-KR" altLang="en-US" sz="900"/>
              <a:t>와 </a:t>
            </a:r>
            <a:r>
              <a:rPr lang="en-US" altLang="ko-KR" sz="900"/>
              <a:t>$</a:t>
            </a:r>
            <a:r>
              <a:rPr lang="ko-KR" altLang="en-US" sz="900"/>
              <a:t>만을 허용한다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자바는 유니코드를 지원하기 때문에 변수의 이름을 지을 때 한글을 사용할 수도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특수기호는 사용할 수 없습니다</a:t>
            </a:r>
            <a:r>
              <a:rPr lang="en-US" altLang="ko-KR" sz="900"/>
              <a:t>. </a:t>
            </a:r>
            <a:r>
              <a:rPr lang="ko-KR" altLang="en-US" sz="900"/>
              <a:t>단지 언더스코어와 달러표시만을 허용합니다</a:t>
            </a:r>
            <a:r>
              <a:rPr lang="en-US" altLang="ko-KR" sz="9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3747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6EEBA-DAF4-490C-AA9B-9B769FAE7D95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1323882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E37445-8BEA-46F5-BEB6-C33C0D10DBD2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개행문자는 </a:t>
            </a:r>
            <a:r>
              <a:rPr lang="ko-KR" altLang="en-US">
                <a:latin typeface="Arial" panose="020B0604020202020204" pitchFamily="34" charset="0"/>
              </a:rPr>
              <a:t>‘</a:t>
            </a:r>
            <a:r>
              <a:rPr lang="en-US" altLang="ko-KR"/>
              <a:t>\n</a:t>
            </a:r>
            <a:r>
              <a:rPr lang="en-US" altLang="ko-KR">
                <a:latin typeface="Arial" panose="020B0604020202020204" pitchFamily="34" charset="0"/>
              </a:rPr>
              <a:t>’</a:t>
            </a:r>
            <a:r>
              <a:rPr lang="ko-KR" altLang="en-US"/>
              <a:t>이라고 설명한다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855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E31ED-CE7F-4813-A46E-9E2DD708273B}" type="slidenum">
              <a:rPr lang="en-US" altLang="ko-KR"/>
              <a:pPr/>
              <a:t>17</a:t>
            </a:fld>
            <a:endParaRPr lang="en-US" altLang="ko-KR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변수의 초기화란 변수에 처음으로 값을 저장하는 것을 초기화라고 하는데요</a:t>
            </a:r>
            <a:r>
              <a:rPr lang="en-US" altLang="ko-KR"/>
              <a:t>.</a:t>
            </a:r>
          </a:p>
          <a:p>
            <a:r>
              <a:rPr lang="ko-KR" altLang="en-US"/>
              <a:t>변수의 선언과 동시에 적절한 값으로 초기화 해주는 것이 좋습니다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변수의 종류에 따라서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r>
              <a:rPr lang="en-US" altLang="ko-KR"/>
              <a:t> </a:t>
            </a:r>
            <a:r>
              <a:rPr lang="ko-KR" altLang="en-US"/>
              <a:t>각 타입의 기본값으로 자동 초기화되기도 하는데요</a:t>
            </a:r>
            <a:r>
              <a:rPr lang="en-US" altLang="ko-KR"/>
              <a:t>.</a:t>
            </a:r>
          </a:p>
          <a:p>
            <a:r>
              <a:rPr lang="ko-KR" altLang="en-US"/>
              <a:t>지역변수는 자동초기화가 되지 않습니다</a:t>
            </a:r>
            <a:r>
              <a:rPr lang="en-US" altLang="ko-KR"/>
              <a:t>.</a:t>
            </a:r>
          </a:p>
          <a:p>
            <a:r>
              <a:rPr lang="ko-KR" altLang="en-US"/>
              <a:t>여러분들이 </a:t>
            </a:r>
            <a:r>
              <a:rPr lang="en-US" altLang="ko-KR"/>
              <a:t>6</a:t>
            </a:r>
            <a:r>
              <a:rPr lang="ko-KR" altLang="en-US"/>
              <a:t>장 객체지향개념에 들어가기 전까지 선언할 변수는 모두 지역변수이기</a:t>
            </a:r>
          </a:p>
          <a:p>
            <a:r>
              <a:rPr lang="ko-KR" altLang="en-US"/>
              <a:t>때문에 변수를 선언하고 나면 반드시 직접 초기화를 해주셔야 합니다</a:t>
            </a:r>
            <a:r>
              <a:rPr lang="en-US" altLang="ko-KR"/>
              <a:t>.</a:t>
            </a:r>
          </a:p>
          <a:p>
            <a:r>
              <a:rPr lang="ko-KR" altLang="en-US"/>
              <a:t>그렇지 않으면 컴파일 할 때 에러가 발생합니다</a:t>
            </a:r>
            <a:r>
              <a:rPr lang="en-US" altLang="ko-KR"/>
              <a:t>.</a:t>
            </a:r>
          </a:p>
          <a:p>
            <a:r>
              <a:rPr lang="ko-KR" altLang="en-US"/>
              <a:t>오른쪽 코드와 같이 선언과 동시에 초기화 해주도록 하세요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먼저 왼쪽의 표를 보시면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r>
              <a:rPr lang="en-US" altLang="ko-KR"/>
              <a:t> </a:t>
            </a:r>
            <a:r>
              <a:rPr lang="ko-KR" altLang="en-US"/>
              <a:t>각 변수 타입의 기본값이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 값들은 변수가 자동초기화 될 때 사용되는 값인데요</a:t>
            </a:r>
            <a:r>
              <a:rPr lang="en-US" altLang="ko-KR"/>
              <a:t>.</a:t>
            </a:r>
          </a:p>
          <a:p>
            <a:r>
              <a:rPr lang="ko-KR" altLang="en-US"/>
              <a:t>자동초기화에 대해서는 나중에 자세히 설명할 것이고요</a:t>
            </a:r>
            <a:r>
              <a:rPr lang="en-US" altLang="ko-KR"/>
              <a:t>.</a:t>
            </a:r>
          </a:p>
          <a:p>
            <a:r>
              <a:rPr lang="ko-KR" altLang="en-US"/>
              <a:t>지금은 각 타입의 기본값을 가볍게 확인하고 넘어가시면 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Boolean</a:t>
            </a:r>
            <a:r>
              <a:rPr lang="ko-KR" altLang="en-US"/>
              <a:t>의 기본값이 </a:t>
            </a:r>
            <a:r>
              <a:rPr lang="en-US" altLang="ko-KR"/>
              <a:t>false</a:t>
            </a:r>
            <a:r>
              <a:rPr lang="ko-KR" altLang="en-US"/>
              <a:t>라는 것 눈여겨 보시고요</a:t>
            </a:r>
            <a:r>
              <a:rPr lang="en-US" altLang="ko-KR"/>
              <a:t>.</a:t>
            </a:r>
          </a:p>
          <a:p>
            <a:r>
              <a:rPr lang="ko-KR" altLang="en-US"/>
              <a:t>숫자타입은 다 </a:t>
            </a:r>
            <a:r>
              <a:rPr lang="en-US" altLang="ko-KR"/>
              <a:t>0</a:t>
            </a:r>
            <a:r>
              <a:rPr lang="ko-KR" altLang="en-US"/>
              <a:t>인데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r>
              <a:rPr lang="en-US" altLang="ko-KR"/>
              <a:t> long</a:t>
            </a:r>
            <a:r>
              <a:rPr lang="ko-KR" altLang="en-US"/>
              <a:t>은 </a:t>
            </a:r>
            <a:r>
              <a:rPr lang="en-US" altLang="ko-KR"/>
              <a:t>0</a:t>
            </a:r>
            <a:r>
              <a:rPr lang="ko-KR" altLang="en-US"/>
              <a:t>이 아니라 </a:t>
            </a:r>
            <a:r>
              <a:rPr lang="en-US" altLang="ko-KR"/>
              <a:t>0L</a:t>
            </a:r>
            <a:r>
              <a:rPr lang="ko-KR" altLang="en-US"/>
              <a:t>이라는 것</a:t>
            </a:r>
            <a:r>
              <a:rPr lang="en-US" altLang="ko-KR"/>
              <a:t>.</a:t>
            </a:r>
          </a:p>
          <a:p>
            <a:r>
              <a:rPr lang="ko-KR" altLang="en-US"/>
              <a:t>그리고 </a:t>
            </a:r>
            <a:r>
              <a:rPr lang="en-US" altLang="ko-KR"/>
              <a:t>float</a:t>
            </a:r>
            <a:r>
              <a:rPr lang="ko-KR" altLang="en-US"/>
              <a:t>의 경우 반드시 접미사 </a:t>
            </a:r>
            <a:r>
              <a:rPr lang="en-US" altLang="ko-KR"/>
              <a:t>f</a:t>
            </a:r>
            <a:r>
              <a:rPr lang="ko-KR" altLang="en-US"/>
              <a:t>를 붙여줘야 한다는 것에 주의 하시면 되겠습니다</a:t>
            </a:r>
            <a:r>
              <a:rPr lang="en-US" altLang="ko-KR"/>
              <a:t>.</a:t>
            </a:r>
          </a:p>
          <a:p>
            <a:r>
              <a:rPr lang="ko-KR" altLang="en-US"/>
              <a:t>그리고 모든 참조형 변수의 기본값은 </a:t>
            </a:r>
            <a:r>
              <a:rPr lang="en-US" altLang="ko-KR"/>
              <a:t>null</a:t>
            </a:r>
            <a:r>
              <a:rPr lang="ko-KR" altLang="en-US"/>
              <a:t>입니다</a:t>
            </a:r>
            <a:r>
              <a:rPr lang="en-US" altLang="ko-KR"/>
              <a:t>. Null</a:t>
            </a:r>
            <a:r>
              <a:rPr lang="ko-KR" altLang="en-US"/>
              <a:t>은 어떠한 객체도 참조하지 않고 있다는 것을 의미합니다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0358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90EF99-5B00-45F0-B128-A06F3A141F91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정수의 오버플로우라는 것은 정수에 저장할 수 있는 최대값을 넘는 것을 의미합니다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먼저 다음과 같이 </a:t>
            </a:r>
            <a:r>
              <a:rPr lang="en-US" altLang="ko-KR" sz="900"/>
              <a:t>byte</a:t>
            </a:r>
            <a:r>
              <a:rPr lang="ko-KR" altLang="en-US" sz="900"/>
              <a:t>타입의 변수 </a:t>
            </a:r>
            <a:r>
              <a:rPr lang="en-US" altLang="ko-KR" sz="900"/>
              <a:t>b</a:t>
            </a:r>
            <a:r>
              <a:rPr lang="ko-KR" altLang="en-US" sz="900"/>
              <a:t>에 </a:t>
            </a:r>
            <a:r>
              <a:rPr lang="en-US" altLang="ko-KR" sz="900"/>
              <a:t>byte</a:t>
            </a:r>
            <a:r>
              <a:rPr lang="ko-KR" altLang="en-US" sz="900"/>
              <a:t>타입의 최대값인 </a:t>
            </a:r>
            <a:r>
              <a:rPr lang="en-US" altLang="ko-KR" sz="900"/>
              <a:t>127</a:t>
            </a:r>
            <a:r>
              <a:rPr lang="ko-KR" altLang="en-US" sz="900"/>
              <a:t>을 저장합니다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만일 </a:t>
            </a:r>
            <a:r>
              <a:rPr lang="en-US" altLang="ko-KR" sz="900"/>
              <a:t>byte</a:t>
            </a:r>
            <a:r>
              <a:rPr lang="ko-KR" altLang="en-US" sz="900"/>
              <a:t>타입의 최대값을 넘는 </a:t>
            </a:r>
            <a:r>
              <a:rPr lang="en-US" altLang="ko-KR" sz="900"/>
              <a:t>128</a:t>
            </a:r>
            <a:r>
              <a:rPr lang="ko-KR" altLang="en-US" sz="900"/>
              <a:t>로 초기화 하려고 하면 에러가 발생합니다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그러면</a:t>
            </a:r>
            <a:r>
              <a:rPr lang="en-US" altLang="ko-KR" sz="900"/>
              <a:t>… b</a:t>
            </a:r>
            <a:r>
              <a:rPr lang="ko-KR" altLang="en-US" sz="900"/>
              <a:t>에 </a:t>
            </a:r>
            <a:r>
              <a:rPr lang="en-US" altLang="ko-KR" sz="900"/>
              <a:t>127</a:t>
            </a:r>
            <a:r>
              <a:rPr lang="ko-KR" altLang="en-US" sz="900"/>
              <a:t>이 저장되어 있을 때 </a:t>
            </a:r>
            <a:r>
              <a:rPr lang="en-US" altLang="ko-KR" sz="900"/>
              <a:t>b</a:t>
            </a:r>
            <a:r>
              <a:rPr lang="ko-KR" altLang="en-US" sz="900"/>
              <a:t>의 값을 </a:t>
            </a:r>
            <a:r>
              <a:rPr lang="en-US" altLang="ko-KR" sz="900"/>
              <a:t>1 </a:t>
            </a:r>
            <a:r>
              <a:rPr lang="ko-KR" altLang="en-US" sz="900"/>
              <a:t>증가시키면 어떤 결과가 나올까요</a:t>
            </a:r>
            <a:r>
              <a:rPr lang="en-US" altLang="ko-KR" sz="900"/>
              <a:t>…</a:t>
            </a:r>
          </a:p>
          <a:p>
            <a:endParaRPr lang="en-US" altLang="ko-KR" sz="900"/>
          </a:p>
          <a:p>
            <a:r>
              <a:rPr lang="en-US" altLang="ko-KR" sz="900"/>
              <a:t>Byte</a:t>
            </a:r>
            <a:r>
              <a:rPr lang="ko-KR" altLang="en-US" sz="900"/>
              <a:t>가 저장할 수있는 최대값을 넘었지만 에러가 발생하지 않습니다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우리가 예상한 것과 달리 </a:t>
            </a:r>
            <a:r>
              <a:rPr lang="en-US" altLang="ko-KR" sz="900"/>
              <a:t>128</a:t>
            </a:r>
            <a:r>
              <a:rPr lang="ko-KR" altLang="en-US" sz="900"/>
              <a:t>이 아닌 </a:t>
            </a:r>
            <a:r>
              <a:rPr lang="en-US" altLang="ko-KR" sz="900"/>
              <a:t>-128</a:t>
            </a:r>
            <a:r>
              <a:rPr lang="ko-KR" altLang="en-US" sz="900"/>
              <a:t>을 결과로 얻습니다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왜냐면</a:t>
            </a:r>
            <a:r>
              <a:rPr lang="en-US" altLang="ko-KR" sz="900"/>
              <a:t>… </a:t>
            </a:r>
            <a:r>
              <a:rPr lang="ko-KR" altLang="en-US" sz="900"/>
              <a:t>최대값을 넘어서면 최소값이 되기 때문입니다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이해하기 쉽게 제가 그림을 그려봤습니다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긴 종이에 </a:t>
            </a:r>
            <a:r>
              <a:rPr lang="en-US" altLang="ko-KR" sz="900"/>
              <a:t>Byte</a:t>
            </a:r>
            <a:r>
              <a:rPr lang="ko-KR" altLang="en-US" sz="900"/>
              <a:t>의 최소값 부터 최대값을 순서대로 적은 다음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양 끝을 붙이면</a:t>
            </a:r>
            <a:r>
              <a:rPr lang="en-US" altLang="ko-KR" sz="900"/>
              <a:t>… </a:t>
            </a:r>
            <a:r>
              <a:rPr lang="ko-KR" altLang="en-US" sz="900"/>
              <a:t>이런 모양이 될 것입니다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최대값인 </a:t>
            </a:r>
            <a:r>
              <a:rPr lang="en-US" altLang="ko-KR" sz="900"/>
              <a:t>127</a:t>
            </a:r>
            <a:r>
              <a:rPr lang="ko-KR" altLang="en-US" sz="900"/>
              <a:t>에서 </a:t>
            </a:r>
            <a:r>
              <a:rPr lang="en-US" altLang="ko-KR" sz="900"/>
              <a:t>1</a:t>
            </a:r>
            <a:r>
              <a:rPr lang="ko-KR" altLang="en-US" sz="900"/>
              <a:t>증가하면 최소값인 </a:t>
            </a:r>
            <a:r>
              <a:rPr lang="en-US" altLang="ko-KR" sz="900"/>
              <a:t>-128</a:t>
            </a:r>
            <a:r>
              <a:rPr lang="ko-KR" altLang="en-US" sz="900"/>
              <a:t>이 되고 최소값인 </a:t>
            </a:r>
            <a:r>
              <a:rPr lang="en-US" altLang="ko-KR" sz="900"/>
              <a:t>-128</a:t>
            </a:r>
            <a:r>
              <a:rPr lang="ko-KR" altLang="en-US" sz="900"/>
              <a:t>에서 </a:t>
            </a:r>
            <a:r>
              <a:rPr lang="en-US" altLang="ko-KR" sz="900"/>
              <a:t>1</a:t>
            </a:r>
            <a:r>
              <a:rPr lang="ko-KR" altLang="en-US" sz="900"/>
              <a:t>이 감소하면 최대값인 </a:t>
            </a:r>
            <a:r>
              <a:rPr lang="en-US" altLang="ko-KR" sz="900"/>
              <a:t>127</a:t>
            </a:r>
            <a:r>
              <a:rPr lang="ko-KR" altLang="en-US" sz="900"/>
              <a:t>이 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이 것은 마치 자동차 주행거리 메터기와 같이 </a:t>
            </a:r>
            <a:r>
              <a:rPr lang="en-US" altLang="ko-KR" sz="900"/>
              <a:t>0</a:t>
            </a:r>
            <a:r>
              <a:rPr lang="ko-KR" altLang="en-US" sz="900"/>
              <a:t>부터 시작해서 최대값이 넘어가면 다시 </a:t>
            </a:r>
            <a:r>
              <a:rPr lang="en-US" altLang="ko-KR" sz="900"/>
              <a:t>0</a:t>
            </a:r>
            <a:r>
              <a:rPr lang="ko-KR" altLang="en-US" sz="900"/>
              <a:t>이 되는 것과 같은 이치입니다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비교해보면 쉽게 이해가 가실 겁니다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24515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4D8449-9473-4D85-9CA9-DCEA5B6A18DE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형변환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endParaRPr lang="en-US" altLang="ko-KR"/>
          </a:p>
          <a:p>
            <a:r>
              <a:rPr lang="ko-KR" altLang="en-US"/>
              <a:t>형변환이란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r>
              <a:rPr lang="en-US" altLang="ko-KR"/>
              <a:t> </a:t>
            </a:r>
            <a:r>
              <a:rPr lang="ko-KR" altLang="en-US"/>
              <a:t>값의 타입을 다른 타입으로 변환하는 것입니다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프로그래밍을 하다보면 서로 다른 타입의 값들을 계산해야하는 경우가 자주 발생합니다</a:t>
            </a:r>
            <a:r>
              <a:rPr lang="en-US" altLang="ko-KR"/>
              <a:t>.</a:t>
            </a:r>
          </a:p>
          <a:p>
            <a:r>
              <a:rPr lang="ko-KR" altLang="en-US"/>
              <a:t>우리가 덧셈을 할 때 자리수를 맞춰주는 것 처럼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endParaRPr lang="en-US" altLang="ko-KR"/>
          </a:p>
          <a:p>
            <a:r>
              <a:rPr lang="ko-KR" altLang="en-US"/>
              <a:t>계산을 하기전에 값의 타입을 맞춰준 다음에 계산을 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형변환하는 방법은 아주 간단합니다</a:t>
            </a:r>
            <a:r>
              <a:rPr lang="en-US" altLang="ko-KR"/>
              <a:t>. </a:t>
            </a:r>
            <a:r>
              <a:rPr lang="ko-KR" altLang="en-US"/>
              <a:t>형변환 하려는 타입을 괄호안에 적어서 </a:t>
            </a:r>
          </a:p>
          <a:p>
            <a:r>
              <a:rPr lang="ko-KR" altLang="en-US"/>
              <a:t>리터럴이나 변수 앞에 붙여주기만 하면 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기본형과 참조형간에는 형변환이 안되고요</a:t>
            </a:r>
            <a:r>
              <a:rPr lang="en-US" altLang="ko-KR"/>
              <a:t>.</a:t>
            </a:r>
          </a:p>
          <a:p>
            <a:r>
              <a:rPr lang="ko-KR" altLang="en-US"/>
              <a:t>기본형 중에는 </a:t>
            </a:r>
            <a:r>
              <a:rPr lang="en-US" altLang="ko-KR"/>
              <a:t>boolean</a:t>
            </a:r>
            <a:r>
              <a:rPr lang="ko-KR" altLang="en-US"/>
              <a:t>을 제외한 </a:t>
            </a:r>
            <a:r>
              <a:rPr lang="en-US" altLang="ko-KR"/>
              <a:t>7</a:t>
            </a:r>
            <a:r>
              <a:rPr lang="ko-KR" altLang="en-US"/>
              <a:t>개의 타입은 형변환이 가능합니다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정수를 </a:t>
            </a:r>
            <a:r>
              <a:rPr lang="en-US" altLang="ko-KR"/>
              <a:t>char</a:t>
            </a:r>
            <a:r>
              <a:rPr lang="ko-KR" altLang="en-US"/>
              <a:t>타입으로 변환하면</a:t>
            </a:r>
            <a:r>
              <a:rPr lang="en-US" altLang="ko-KR"/>
              <a:t>, </a:t>
            </a:r>
            <a:r>
              <a:rPr lang="ko-KR" altLang="en-US"/>
              <a:t>정수값에 해당하는 유니코드의 문자가 되고</a:t>
            </a:r>
          </a:p>
          <a:p>
            <a:r>
              <a:rPr lang="ko-KR" altLang="en-US"/>
              <a:t>문자를 </a:t>
            </a:r>
            <a:r>
              <a:rPr lang="en-US" altLang="ko-KR"/>
              <a:t>int</a:t>
            </a:r>
            <a:r>
              <a:rPr lang="ko-KR" altLang="en-US"/>
              <a:t>타입으로 변환하면</a:t>
            </a:r>
            <a:r>
              <a:rPr lang="en-US" altLang="ko-KR"/>
              <a:t>, </a:t>
            </a:r>
            <a:r>
              <a:rPr lang="ko-KR" altLang="en-US"/>
              <a:t>문자의 유니코드값을 얻을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그리고</a:t>
            </a:r>
            <a:r>
              <a:rPr lang="en-US" altLang="ko-KR"/>
              <a:t>. </a:t>
            </a:r>
            <a:r>
              <a:rPr lang="ko-KR" altLang="en-US"/>
              <a:t>실수값을 정수로 형변환 할 때 반올림이 아닌 버림이 된다는 점</a:t>
            </a:r>
            <a:r>
              <a:rPr lang="en-US" altLang="ko-KR">
                <a:latin typeface="Arial" panose="020B0604020202020204" pitchFamily="34" charset="0"/>
              </a:rPr>
              <a:t>…</a:t>
            </a:r>
            <a:r>
              <a:rPr lang="en-US" altLang="ko-KR"/>
              <a:t> </a:t>
            </a:r>
            <a:r>
              <a:rPr lang="ko-KR" altLang="en-US"/>
              <a:t>주의하시기 바랍니다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5010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093129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796607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22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73272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23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740140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160725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25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8779435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6828009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5107326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1109922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225773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9512207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567007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32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567069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33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847729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67922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7605F0A3-DE87-467B-8A8C-37C432902C9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44059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0EF228-1B49-4A3E-AE7A-BD1B45B1C680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20A2BD-7C5D-48BC-A35F-9317F8AB80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youtube.com/@survcode" TargetMode="Externa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2. </a:t>
            </a:r>
            <a:r>
              <a:rPr lang="ko-KR" altLang="en-US" sz="2400" dirty="0"/>
              <a:t>저장공간</a:t>
            </a:r>
            <a:r>
              <a:rPr lang="en-US" altLang="ko-KR" sz="2400" dirty="0"/>
              <a:t> </a:t>
            </a:r>
            <a:r>
              <a:rPr lang="ko-KR" altLang="en-US" sz="2400"/>
              <a:t>변수를 </a:t>
            </a:r>
            <a:r>
              <a:rPr lang="ko-KR" altLang="en-US" sz="2400" dirty="0"/>
              <a:t>알아보자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055704" y="5084763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2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704" y="5102373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2D19B6-3E69-9E2C-5175-91A22F9A2825}"/>
              </a:ext>
            </a:extLst>
          </p:cNvPr>
          <p:cNvSpPr txBox="1"/>
          <p:nvPr/>
        </p:nvSpPr>
        <p:spPr>
          <a:xfrm>
            <a:off x="2475940" y="3259723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2025-&gt; 2</a:t>
            </a:r>
            <a:r>
              <a:rPr lang="ko-KR" altLang="en-US" dirty="0"/>
              <a:t>강 많이 수정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1140502" y="818917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2000" dirty="0"/>
              <a:t>저장공간인 변수</a:t>
            </a:r>
          </a:p>
          <a:p>
            <a:pPr marL="342900" indent="-3429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400" dirty="0"/>
              <a:t>변수</a:t>
            </a:r>
            <a:endParaRPr lang="en-US" altLang="ko-KR" sz="1400" dirty="0"/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ko-KR" altLang="en-US" sz="1400" dirty="0"/>
              <a:t>숫자와 문자형태</a:t>
            </a:r>
            <a:endParaRPr lang="en-US" altLang="ko-KR" sz="1400" dirty="0"/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ko-KR" altLang="en-US" sz="1400" dirty="0"/>
              <a:t>변수의 타입 </a:t>
            </a:r>
            <a:r>
              <a:rPr lang="en-US" altLang="ko-KR" sz="1400" dirty="0"/>
              <a:t>(</a:t>
            </a:r>
            <a:r>
              <a:rPr lang="ko-KR" altLang="en-US" sz="1400" dirty="0"/>
              <a:t>숫자</a:t>
            </a:r>
            <a:r>
              <a:rPr lang="en-US" altLang="ko-KR" sz="1400" dirty="0"/>
              <a:t>-</a:t>
            </a:r>
            <a:r>
              <a:rPr lang="ko-KR" altLang="en-US" sz="1400" dirty="0"/>
              <a:t>정수</a:t>
            </a:r>
            <a:r>
              <a:rPr lang="en-US" altLang="ko-KR" sz="1400" dirty="0"/>
              <a:t>/</a:t>
            </a:r>
            <a:r>
              <a:rPr lang="ko-KR" altLang="en-US" sz="1400" dirty="0"/>
              <a:t>실수 문자</a:t>
            </a:r>
            <a:r>
              <a:rPr lang="en-US" altLang="ko-KR" sz="1400" dirty="0"/>
              <a:t>-</a:t>
            </a:r>
            <a:r>
              <a:rPr lang="ko-KR" altLang="en-US" sz="1400" dirty="0"/>
              <a:t>영문</a:t>
            </a:r>
            <a:r>
              <a:rPr lang="en-US" altLang="ko-KR" sz="1400" dirty="0"/>
              <a:t>/</a:t>
            </a:r>
            <a:r>
              <a:rPr lang="ko-KR" altLang="en-US" sz="1400" dirty="0"/>
              <a:t>한글</a:t>
            </a:r>
            <a:r>
              <a:rPr lang="en-US" altLang="ko-KR" sz="1400" dirty="0"/>
              <a:t>)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ko-KR" altLang="en-US" sz="1400" dirty="0" err="1"/>
              <a:t>오버플로우</a:t>
            </a:r>
            <a:endParaRPr lang="en-US" altLang="ko-KR" sz="1400" dirty="0"/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en-US" altLang="ko-KR" sz="1400" dirty="0"/>
              <a:t>Typecasting </a:t>
            </a:r>
            <a:r>
              <a:rPr lang="ko-KR" altLang="en-US" sz="1400" dirty="0" err="1"/>
              <a:t>형변환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매우중요</a:t>
            </a:r>
            <a:r>
              <a:rPr lang="en-US" altLang="ko-KR" sz="1400" dirty="0"/>
              <a:t>)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ko-KR" altLang="en-US" sz="1400" dirty="0"/>
              <a:t>예제로</a:t>
            </a:r>
            <a:r>
              <a:rPr lang="en-US" altLang="ko-KR" sz="1400" dirty="0"/>
              <a:t> </a:t>
            </a:r>
            <a:r>
              <a:rPr lang="ko-KR" altLang="en-US" sz="1400" dirty="0"/>
              <a:t>배우기</a:t>
            </a:r>
            <a:r>
              <a:rPr lang="en-US" altLang="ko-KR" sz="1400" dirty="0"/>
              <a:t> 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endParaRPr lang="en-US" altLang="ko-KR" sz="1400" dirty="0"/>
          </a:p>
          <a:p>
            <a:pPr marL="342900" indent="-3429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endParaRPr lang="en-US" altLang="ko-KR" sz="14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2568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자바에서 변수에 대하여 사용할 수 있다</a:t>
            </a:r>
            <a:r>
              <a:rPr lang="en-US" altLang="ko-KR" sz="120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자바에서 변수의 주의점</a:t>
            </a:r>
            <a:r>
              <a:rPr lang="en-US" altLang="ko-KR" sz="1200" dirty="0"/>
              <a:t>(</a:t>
            </a:r>
            <a:r>
              <a:rPr lang="ko-KR" altLang="en-US" sz="1200" dirty="0"/>
              <a:t>인쇄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형변환</a:t>
            </a:r>
            <a:r>
              <a:rPr lang="en-US" altLang="ko-KR" sz="1200" dirty="0"/>
              <a:t>,</a:t>
            </a:r>
            <a:r>
              <a:rPr lang="ko-KR" altLang="en-US" sz="1200" dirty="0" err="1"/>
              <a:t>오버플로우등을</a:t>
            </a:r>
            <a:r>
              <a:rPr lang="en-US" altLang="ko-KR" sz="1200" dirty="0"/>
              <a:t>) </a:t>
            </a:r>
            <a:r>
              <a:rPr lang="ko-KR" altLang="en-US" sz="1200" dirty="0"/>
              <a:t>고려하여 프로그래밍 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처음 이라 변수부분은 교재 중심으로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함</a:t>
            </a:r>
            <a:r>
              <a:rPr lang="en-US" altLang="ko-KR" sz="1200">
                <a:solidFill>
                  <a:srgbClr val="FF0000"/>
                </a:solidFill>
              </a:rPr>
              <a:t>.(</a:t>
            </a:r>
            <a:r>
              <a:rPr lang="ko-KR" altLang="en-US" sz="1200">
                <a:solidFill>
                  <a:srgbClr val="FF0000"/>
                </a:solidFill>
              </a:rPr>
              <a:t>책을 </a:t>
            </a:r>
            <a:r>
              <a:rPr lang="ko-KR" altLang="en-US" sz="1200" dirty="0">
                <a:solidFill>
                  <a:srgbClr val="FF0000"/>
                </a:solidFill>
              </a:rPr>
              <a:t>읽고 참고 많이 할 것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교재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할 수 있으면 전날 교안 읽어보고 실습도 다해놓고 수업</a:t>
            </a:r>
            <a:r>
              <a:rPr lang="en-US" altLang="ko-KR" sz="1200" dirty="0"/>
              <a:t>,</a:t>
            </a:r>
            <a:r>
              <a:rPr lang="ko-KR" altLang="en-US" sz="1200" dirty="0"/>
              <a:t>실습시간에 만화보고 있어도 환영함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하지만 진도 밀리면 큰일 나니</a:t>
            </a:r>
            <a:r>
              <a:rPr lang="en-US" altLang="ko-KR" sz="1200" dirty="0"/>
              <a:t>, </a:t>
            </a:r>
            <a:r>
              <a:rPr lang="ko-KR" altLang="en-US" sz="1200" dirty="0"/>
              <a:t>강의실에서 밤 새울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</a:t>
            </a:r>
            <a:r>
              <a:rPr lang="en-US" altLang="ko-KR" sz="1200" dirty="0"/>
              <a:t> variable</a:t>
            </a:r>
            <a:r>
              <a:rPr lang="ko-KR" altLang="en-US" sz="1200" dirty="0"/>
              <a:t> </a:t>
            </a:r>
            <a:r>
              <a:rPr lang="en-US" altLang="ko-KR" sz="1200" dirty="0"/>
              <a:t>,</a:t>
            </a:r>
            <a:r>
              <a:rPr lang="ko-KR" altLang="en-US" sz="1200" dirty="0"/>
              <a:t>숫자</a:t>
            </a:r>
            <a:r>
              <a:rPr lang="en-US" altLang="ko-KR" sz="1200" dirty="0"/>
              <a:t>-</a:t>
            </a:r>
            <a:r>
              <a:rPr lang="ko-KR" altLang="en-US" sz="1200" dirty="0"/>
              <a:t>문자</a:t>
            </a:r>
            <a:r>
              <a:rPr lang="en-US" altLang="ko-KR" sz="1200" dirty="0"/>
              <a:t>-</a:t>
            </a:r>
            <a:r>
              <a:rPr lang="ko-KR" altLang="en-US" sz="1200" dirty="0" err="1"/>
              <a:t>사람과컴퓨터</a:t>
            </a:r>
            <a:r>
              <a:rPr lang="en-US" altLang="ko-KR" sz="1200" dirty="0"/>
              <a:t>, </a:t>
            </a:r>
            <a:r>
              <a:rPr lang="ko-KR" altLang="en-US" sz="1200" dirty="0"/>
              <a:t>선언 </a:t>
            </a:r>
            <a:r>
              <a:rPr lang="en-US" altLang="ko-KR" sz="1200" dirty="0"/>
              <a:t>define</a:t>
            </a:r>
            <a:r>
              <a:rPr lang="ko-KR" altLang="en-US" sz="1200" dirty="0"/>
              <a:t> </a:t>
            </a:r>
            <a:r>
              <a:rPr lang="en-US" altLang="ko-KR" sz="1200" dirty="0"/>
              <a:t>, </a:t>
            </a:r>
            <a:r>
              <a:rPr lang="ko-KR" altLang="en-US" sz="1200" dirty="0"/>
              <a:t>형 변환 </a:t>
            </a:r>
            <a:r>
              <a:rPr lang="en-US" altLang="ko-KR" sz="1200" dirty="0"/>
              <a:t>type casting, overflow, exception, truncation </a:t>
            </a:r>
            <a:r>
              <a:rPr lang="ko-KR" altLang="en-US" sz="1200" dirty="0"/>
              <a:t>이 무엇인가</a:t>
            </a:r>
            <a:r>
              <a:rPr lang="en-US" altLang="ko-KR" sz="1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변수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선언을 하고 쓴다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타입</a:t>
            </a:r>
            <a:r>
              <a:rPr lang="en-US" altLang="ko-KR" sz="1200" dirty="0"/>
              <a:t>(</a:t>
            </a:r>
            <a:r>
              <a:rPr lang="ko-KR" altLang="en-US" sz="1200" dirty="0"/>
              <a:t>숫자</a:t>
            </a:r>
            <a:r>
              <a:rPr lang="en-US" altLang="ko-KR" sz="1200" dirty="0"/>
              <a:t>,</a:t>
            </a:r>
            <a:r>
              <a:rPr lang="ko-KR" altLang="en-US" sz="1200" dirty="0"/>
              <a:t>문자</a:t>
            </a:r>
            <a:r>
              <a:rPr lang="en-US" altLang="ko-KR" sz="1200" dirty="0"/>
              <a:t>)</a:t>
            </a:r>
            <a:r>
              <a:rPr lang="ko-KR" altLang="en-US" sz="1200" dirty="0"/>
              <a:t>이 있다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제한사항</a:t>
            </a:r>
            <a:r>
              <a:rPr lang="en-US" altLang="ko-KR" sz="1200" dirty="0"/>
              <a:t>(</a:t>
            </a:r>
            <a:r>
              <a:rPr lang="ko-KR" altLang="en-US" sz="1200" dirty="0"/>
              <a:t>길이</a:t>
            </a:r>
            <a:r>
              <a:rPr lang="en-US" altLang="ko-KR" sz="1200" dirty="0"/>
              <a:t>,</a:t>
            </a:r>
            <a:r>
              <a:rPr lang="ko-KR" altLang="en-US" sz="1200" dirty="0"/>
              <a:t>사용법</a:t>
            </a:r>
            <a:r>
              <a:rPr lang="en-US" altLang="ko-KR" sz="1200" dirty="0"/>
              <a:t>,</a:t>
            </a:r>
            <a:r>
              <a:rPr lang="ko-KR" altLang="en-US" sz="1200" dirty="0"/>
              <a:t>지역전역</a:t>
            </a:r>
            <a:r>
              <a:rPr lang="en-US" altLang="ko-KR" sz="1200" dirty="0"/>
              <a:t>,static/</a:t>
            </a:r>
            <a:r>
              <a:rPr lang="en-US" altLang="ko-KR" sz="1200" dirty="0" err="1"/>
              <a:t>danamic</a:t>
            </a:r>
            <a:r>
              <a:rPr lang="en-US" altLang="ko-KR" sz="1200" dirty="0"/>
              <a:t>)</a:t>
            </a:r>
            <a:r>
              <a:rPr lang="ko-KR" altLang="en-US" sz="1200" dirty="0"/>
              <a:t>이 있다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서로 타입이 달라서 맞춰 줘야 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r>
              <a:rPr lang="en-US" altLang="ko-KR" sz="1200" dirty="0"/>
              <a:t>(type casting)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95569" y="1511188"/>
            <a:ext cx="4953000" cy="30285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2000" dirty="0"/>
              <a:t>변수</a:t>
            </a:r>
            <a:endParaRPr lang="en-US" altLang="ko-KR" sz="2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저장 공간</a:t>
            </a:r>
            <a:r>
              <a:rPr lang="en-US" altLang="ko-KR" dirty="0"/>
              <a:t>- </a:t>
            </a:r>
            <a:r>
              <a:rPr lang="ko-KR" altLang="en-US" dirty="0" err="1"/>
              <a:t>연산저장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선언을 하고 쓴다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타입</a:t>
            </a:r>
            <a:r>
              <a:rPr lang="en-US" altLang="ko-KR" dirty="0"/>
              <a:t>(</a:t>
            </a:r>
            <a:r>
              <a:rPr lang="ko-KR" altLang="en-US" dirty="0"/>
              <a:t>숫자</a:t>
            </a:r>
            <a:r>
              <a:rPr lang="en-US" altLang="ko-KR" dirty="0"/>
              <a:t>,</a:t>
            </a:r>
            <a:r>
              <a:rPr lang="ko-KR" altLang="en-US" dirty="0"/>
              <a:t>문자</a:t>
            </a:r>
            <a:r>
              <a:rPr lang="en-US" altLang="ko-KR" dirty="0"/>
              <a:t>)</a:t>
            </a:r>
            <a:r>
              <a:rPr lang="ko-KR" altLang="en-US" dirty="0"/>
              <a:t>이 있다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제한사항</a:t>
            </a:r>
            <a:r>
              <a:rPr lang="en-US" altLang="ko-KR" dirty="0"/>
              <a:t>(</a:t>
            </a:r>
            <a:r>
              <a:rPr lang="ko-KR" altLang="en-US" dirty="0"/>
              <a:t>길이</a:t>
            </a:r>
            <a:r>
              <a:rPr lang="en-US" altLang="ko-KR" dirty="0"/>
              <a:t>,</a:t>
            </a:r>
            <a:r>
              <a:rPr lang="ko-KR" altLang="en-US" dirty="0"/>
              <a:t>사용법</a:t>
            </a:r>
            <a:r>
              <a:rPr lang="en-US" altLang="ko-KR" dirty="0"/>
              <a:t>,</a:t>
            </a:r>
            <a:r>
              <a:rPr lang="ko-KR" altLang="en-US" dirty="0"/>
              <a:t>지역</a:t>
            </a:r>
            <a:r>
              <a:rPr lang="en-US" altLang="ko-KR" dirty="0"/>
              <a:t>,</a:t>
            </a:r>
            <a:r>
              <a:rPr lang="ko-KR" altLang="en-US" dirty="0"/>
              <a:t>전역</a:t>
            </a:r>
            <a:r>
              <a:rPr lang="en-US" altLang="ko-KR" dirty="0"/>
              <a:t>,static/dynamic)</a:t>
            </a:r>
            <a:r>
              <a:rPr lang="ko-KR" altLang="en-US" dirty="0"/>
              <a:t>이 있다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서로 타입이 달라서 맞춰 줘야 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(type casting)</a:t>
            </a:r>
          </a:p>
        </p:txBody>
      </p:sp>
    </p:spTree>
    <p:extLst>
      <p:ext uri="{BB962C8B-B14F-4D97-AF65-F5344CB8AC3E}">
        <p14:creationId xmlns:p14="http://schemas.microsoft.com/office/powerpoint/2010/main" val="3250554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713232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숫자와</a:t>
            </a:r>
            <a:r>
              <a:rPr lang="en-US" altLang="ko-KR" sz="1600" dirty="0"/>
              <a:t> </a:t>
            </a:r>
            <a:r>
              <a:rPr lang="ko-KR" altLang="en-US" sz="1600" dirty="0"/>
              <a:t>문자는 저장방식이 다르다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크게 숫자와 문자는 구분하여 저장하며</a:t>
            </a:r>
            <a:r>
              <a:rPr lang="en-US" altLang="ko-KR" sz="1200" dirty="0"/>
              <a:t>,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C, Java</a:t>
            </a:r>
            <a:r>
              <a:rPr lang="ko-KR" altLang="en-US" sz="1200" dirty="0"/>
              <a:t>는 선언 </a:t>
            </a:r>
            <a:r>
              <a:rPr lang="en-US" altLang="ko-KR" sz="1200" dirty="0"/>
              <a:t>Python</a:t>
            </a:r>
            <a:r>
              <a:rPr lang="ko-KR" altLang="en-US" sz="1200" dirty="0"/>
              <a:t>은 처음 지정되는 자료형에 따라 자동 선언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24" name="직사각형 23"/>
          <p:cNvSpPr/>
          <p:nvPr/>
        </p:nvSpPr>
        <p:spPr>
          <a:xfrm>
            <a:off x="731014" y="759348"/>
            <a:ext cx="6401306" cy="2106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2000" dirty="0"/>
              <a:t>숫자와 문자형태</a:t>
            </a:r>
            <a:endParaRPr lang="en-US" altLang="ko-KR" sz="2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숫자변수형 </a:t>
            </a:r>
            <a:r>
              <a:rPr lang="en-US" altLang="ko-KR" dirty="0"/>
              <a:t>: </a:t>
            </a:r>
            <a:r>
              <a:rPr lang="ko-KR" altLang="en-US" dirty="0"/>
              <a:t>계산을 위한 목적의 저장공간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dirty="0"/>
              <a:t>문자변수형 </a:t>
            </a:r>
            <a:r>
              <a:rPr lang="en-US" altLang="ko-KR" dirty="0"/>
              <a:t>: </a:t>
            </a:r>
            <a:r>
              <a:rPr lang="ko-KR" altLang="en-US" dirty="0"/>
              <a:t>문자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) </a:t>
            </a:r>
            <a:r>
              <a:rPr lang="ko-KR" altLang="en-US" dirty="0"/>
              <a:t>처리를 위한 저장공간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숫자는 계산을</a:t>
            </a:r>
            <a:r>
              <a:rPr lang="en-US" altLang="ko-KR" dirty="0"/>
              <a:t>(</a:t>
            </a:r>
            <a:r>
              <a:rPr lang="ko-KR" altLang="en-US" dirty="0"/>
              <a:t>숫자 바로 지정</a:t>
            </a:r>
            <a:r>
              <a:rPr lang="en-US" altLang="ko-KR" dirty="0"/>
              <a:t>), </a:t>
            </a:r>
            <a:r>
              <a:rPr lang="ko-KR" altLang="en-US" dirty="0"/>
              <a:t>문자는 문자열 가공을</a:t>
            </a:r>
            <a:r>
              <a:rPr lang="en-US" altLang="ko-KR" dirty="0"/>
              <a:t>(</a:t>
            </a:r>
            <a:r>
              <a:rPr lang="ko-KR" altLang="en-US" dirty="0"/>
              <a:t>따옴표로 지정</a:t>
            </a:r>
            <a:r>
              <a:rPr lang="en-US" altLang="ko-KR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24508C-65B1-DE31-676D-5BAE4A7C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40" y="2989254"/>
            <a:ext cx="6226080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2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91789-7739-516A-27CA-B6979FC5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>
            <a:extLst>
              <a:ext uri="{FF2B5EF4-FFF2-40B4-BE49-F238E27FC236}">
                <a16:creationId xmlns:a16="http://schemas.microsoft.com/office/drawing/2014/main" id="{C54AC699-DD14-0A19-0973-88D228CDF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970545C-AFC7-E291-D43F-01E7BC688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숫자와</a:t>
            </a:r>
            <a:r>
              <a:rPr lang="en-US" altLang="ko-KR" sz="1600" dirty="0"/>
              <a:t> </a:t>
            </a:r>
            <a:r>
              <a:rPr lang="ko-KR" altLang="en-US" sz="1600" dirty="0"/>
              <a:t>문자는 저장방식이 다르다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문자는 약속된 숫자로 저장된다</a:t>
            </a:r>
            <a:r>
              <a:rPr lang="en-US" altLang="ko-KR" sz="1200" dirty="0"/>
              <a:t>. (ASCII 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숫자는 컴퓨터의 기본 연산크기</a:t>
            </a:r>
            <a:r>
              <a:rPr lang="en-US" altLang="ko-KR" sz="1200" dirty="0"/>
              <a:t>(8/16/32/64bit machine) </a:t>
            </a:r>
            <a:r>
              <a:rPr lang="ko-KR" altLang="en-US" sz="1200" dirty="0"/>
              <a:t>에 따라 정수형이 생긴 것이고</a:t>
            </a:r>
            <a:r>
              <a:rPr lang="en-US" altLang="ko-KR" sz="1200" dirty="0"/>
              <a:t>.. </a:t>
            </a:r>
            <a:r>
              <a:rPr lang="ko-KR" altLang="en-US" sz="1200" dirty="0"/>
              <a:t>더 큰 숫자를 넣기 위해</a:t>
            </a:r>
            <a:r>
              <a:rPr lang="en-US" altLang="ko-KR" sz="1200" dirty="0"/>
              <a:t> double/float</a:t>
            </a:r>
            <a:r>
              <a:rPr lang="ko-KR" altLang="en-US" sz="1200" dirty="0"/>
              <a:t>가 생겼다</a:t>
            </a:r>
            <a:r>
              <a:rPr lang="en-US" altLang="ko-KR" sz="1200" dirty="0"/>
              <a:t>. </a:t>
            </a:r>
            <a:r>
              <a:rPr lang="ko-KR" altLang="en-US" sz="1200" dirty="0"/>
              <a:t>더블이 더 유효숫자를 표현한다</a:t>
            </a:r>
            <a:r>
              <a:rPr lang="en-US" altLang="ko-KR" sz="1200" dirty="0"/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FB6836-34D9-B8C1-F579-91401D907810}"/>
              </a:ext>
            </a:extLst>
          </p:cNvPr>
          <p:cNvSpPr/>
          <p:nvPr/>
        </p:nvSpPr>
        <p:spPr>
          <a:xfrm>
            <a:off x="668433" y="728868"/>
            <a:ext cx="6238601" cy="5342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2000" dirty="0"/>
              <a:t>변수의 타입</a:t>
            </a:r>
            <a:endParaRPr lang="en-US" altLang="ko-KR" sz="2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문자 </a:t>
            </a:r>
            <a:r>
              <a:rPr lang="en-US" altLang="ko-KR" dirty="0"/>
              <a:t>:  String,</a:t>
            </a:r>
            <a:r>
              <a:rPr lang="ko-KR" altLang="en-US" dirty="0"/>
              <a:t> </a:t>
            </a:r>
            <a:r>
              <a:rPr lang="en-US" altLang="ko-KR" b="0" dirty="0"/>
              <a:t>char[]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숫자 </a:t>
            </a: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dirty="0"/>
              <a:t>  - </a:t>
            </a:r>
            <a:r>
              <a:rPr lang="ko-KR" altLang="en-US" dirty="0"/>
              <a:t>정수</a:t>
            </a:r>
            <a:r>
              <a:rPr lang="en-US" altLang="ko-KR" dirty="0"/>
              <a:t>: int, </a:t>
            </a:r>
            <a:r>
              <a:rPr lang="en-US" altLang="ko-KR" b="0" dirty="0"/>
              <a:t>long, short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dirty="0"/>
              <a:t>  - </a:t>
            </a:r>
            <a:r>
              <a:rPr lang="ko-KR" altLang="en-US" dirty="0"/>
              <a:t>실수</a:t>
            </a:r>
            <a:r>
              <a:rPr lang="en-US" altLang="ko-KR" dirty="0"/>
              <a:t>: float</a:t>
            </a:r>
            <a:r>
              <a:rPr lang="ko-KR" altLang="en-US" dirty="0"/>
              <a:t> </a:t>
            </a:r>
            <a:r>
              <a:rPr lang="en-US" altLang="ko-KR" dirty="0"/>
              <a:t>, Double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논리 </a:t>
            </a:r>
            <a:r>
              <a:rPr lang="en-US" altLang="ko-KR" dirty="0"/>
              <a:t>: Boolean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dirty="0"/>
              <a:t>저장공간을 생각하며 </a:t>
            </a:r>
            <a:r>
              <a:rPr lang="en-US" altLang="ko-KR" dirty="0"/>
              <a:t>: Byte, Char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 </a:t>
            </a:r>
            <a:r>
              <a:rPr lang="ko-KR" altLang="en-US" sz="1400" b="0" dirty="0"/>
              <a:t>스트링</a:t>
            </a:r>
            <a:r>
              <a:rPr lang="en-US" altLang="ko-KR" sz="1400" b="0" dirty="0"/>
              <a:t> (String) , Byte ,Integer </a:t>
            </a:r>
            <a:r>
              <a:rPr lang="ko-KR" altLang="en-US" sz="1400" b="0" dirty="0"/>
              <a:t>는 변수 형 처럼 사용되나 엄밀하게는 클래스형이다</a:t>
            </a:r>
            <a:r>
              <a:rPr lang="en-US" altLang="ko-KR" sz="1400" b="0" dirty="0"/>
              <a:t>.(</a:t>
            </a:r>
            <a:r>
              <a:rPr lang="ko-KR" altLang="en-US" sz="1400" b="0" dirty="0"/>
              <a:t>즉 주요기능을 가져다 쓸 수 있다</a:t>
            </a:r>
            <a:r>
              <a:rPr lang="en-US" altLang="ko-KR" sz="1400" b="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400" b="0" dirty="0"/>
              <a:t>자바에서 변수는 변수다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그냥 저장만 하는 기능이다</a:t>
            </a:r>
            <a:r>
              <a:rPr lang="en-US" altLang="ko-KR" sz="1400" b="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400" b="0" dirty="0"/>
              <a:t>String</a:t>
            </a:r>
            <a:r>
              <a:rPr lang="ko-KR" altLang="en-US" sz="1400" b="0" dirty="0"/>
              <a:t>은 </a:t>
            </a:r>
            <a:r>
              <a:rPr lang="en-US" altLang="ko-KR" sz="1400" b="0" dirty="0"/>
              <a:t>C</a:t>
            </a:r>
            <a:r>
              <a:rPr lang="ko-KR" altLang="en-US" sz="1400" b="0" dirty="0"/>
              <a:t>에서 </a:t>
            </a:r>
            <a:r>
              <a:rPr lang="en-US" altLang="ko-KR" sz="1400" b="0" dirty="0"/>
              <a:t>char*, char[10] </a:t>
            </a:r>
            <a:r>
              <a:rPr lang="ko-KR" altLang="en-US" sz="1400" b="0" dirty="0"/>
              <a:t>과 같이 스트링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문자열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을 위하여 사용하는 것인데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이놈은 변수가 아니라 클래스이다 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클래스는 나중에</a:t>
            </a:r>
            <a:r>
              <a:rPr lang="en-US" altLang="ko-KR" sz="1400" b="0" dirty="0"/>
              <a:t> </a:t>
            </a:r>
            <a:r>
              <a:rPr lang="ko-KR" altLang="en-US" sz="1400" b="0" dirty="0"/>
              <a:t>배움</a:t>
            </a:r>
            <a:r>
              <a:rPr lang="en-US" altLang="ko-KR" sz="1400" b="0" dirty="0"/>
              <a:t>)</a:t>
            </a:r>
            <a:endParaRPr lang="en-US" altLang="ko-KR" b="0" dirty="0"/>
          </a:p>
        </p:txBody>
      </p:sp>
    </p:spTree>
    <p:extLst>
      <p:ext uri="{BB962C8B-B14F-4D97-AF65-F5344CB8AC3E}">
        <p14:creationId xmlns:p14="http://schemas.microsoft.com/office/powerpoint/2010/main" val="377586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580235" y="838590"/>
            <a:ext cx="5947740" cy="377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숫자형 </a:t>
            </a:r>
            <a:r>
              <a:rPr lang="en-US" altLang="ko-KR" dirty="0"/>
              <a:t> - </a:t>
            </a:r>
            <a:r>
              <a:rPr lang="ko-KR" altLang="en-US" dirty="0"/>
              <a:t>연산자에서 보다 많이 배움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EB70B1-53F2-159D-0583-2FF53AE1E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39" y="1337601"/>
            <a:ext cx="4328535" cy="4915326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E280FF0C-E0DC-112F-519A-DE26AAD60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다음을 따라 작성하고 결과가 왜 이렇게 나왔는지 코멘트를 달아보자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응용</a:t>
            </a:r>
            <a:r>
              <a:rPr lang="en-US" altLang="ko-KR" sz="1200" dirty="0"/>
              <a:t>1) 1</a:t>
            </a:r>
            <a:r>
              <a:rPr lang="ko-KR" altLang="en-US" sz="1200" dirty="0"/>
              <a:t>부터 </a:t>
            </a:r>
            <a:r>
              <a:rPr lang="en-US" altLang="ko-KR" sz="1200" dirty="0"/>
              <a:t>10</a:t>
            </a:r>
            <a:r>
              <a:rPr lang="ko-KR" altLang="en-US" sz="1200" dirty="0"/>
              <a:t>까지 곱해보자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응용</a:t>
            </a:r>
            <a:r>
              <a:rPr lang="en-US" altLang="ko-KR" sz="1200" dirty="0"/>
              <a:t>2) 1 + (1*2) + (1*2*3) +…+(1*2*3*4*…*10)</a:t>
            </a:r>
            <a:r>
              <a:rPr lang="ko-KR" altLang="en-US" sz="1200" dirty="0"/>
              <a:t>을</a:t>
            </a:r>
            <a:r>
              <a:rPr lang="en-US" altLang="ko-KR" sz="1200" dirty="0"/>
              <a:t> </a:t>
            </a:r>
            <a:r>
              <a:rPr lang="ko-KR" altLang="en-US" sz="1200" dirty="0"/>
              <a:t>구해보자</a:t>
            </a:r>
            <a:endParaRPr lang="en-US" altLang="ko-KR" sz="1200" dirty="0"/>
          </a:p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endParaRPr lang="en-US" altLang="ko-KR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D3E615-66D2-9D10-FDC4-BBE293104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297256">
            <a:off x="7454349" y="3952239"/>
            <a:ext cx="2201186" cy="63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89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1C6E-433D-25FC-F401-7C8D2459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>
            <a:extLst>
              <a:ext uri="{FF2B5EF4-FFF2-40B4-BE49-F238E27FC236}">
                <a16:creationId xmlns:a16="http://schemas.microsoft.com/office/drawing/2014/main" id="{11603CFC-F0A5-216C-6899-740927969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999471-8667-1434-5EC4-2F690704AF14}"/>
              </a:ext>
            </a:extLst>
          </p:cNvPr>
          <p:cNvSpPr/>
          <p:nvPr/>
        </p:nvSpPr>
        <p:spPr>
          <a:xfrm>
            <a:off x="580235" y="838590"/>
            <a:ext cx="5947740" cy="1383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숫자형 </a:t>
            </a:r>
            <a:r>
              <a:rPr lang="en-US" altLang="ko-KR" dirty="0"/>
              <a:t> - </a:t>
            </a:r>
            <a:r>
              <a:rPr lang="ko-KR" altLang="en-US" dirty="0"/>
              <a:t>숫자는 정수</a:t>
            </a:r>
            <a:r>
              <a:rPr lang="en-US" altLang="ko-KR" dirty="0"/>
              <a:t>(int :</a:t>
            </a:r>
            <a:r>
              <a:rPr lang="ko-KR" altLang="en-US" dirty="0" err="1"/>
              <a:t>소숫점없는</a:t>
            </a:r>
            <a:r>
              <a:rPr lang="ko-KR" altLang="en-US" dirty="0"/>
              <a:t> 숫자</a:t>
            </a:r>
            <a:r>
              <a:rPr lang="en-US" altLang="ko-KR" dirty="0"/>
              <a:t>)</a:t>
            </a:r>
            <a:r>
              <a:rPr lang="ko-KR" altLang="en-US" dirty="0"/>
              <a:t>와 실수형</a:t>
            </a:r>
            <a:r>
              <a:rPr lang="en-US" altLang="ko-KR" dirty="0"/>
              <a:t>(double)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컴퓨터 공간상 한계가 있다</a:t>
            </a:r>
            <a:r>
              <a:rPr lang="en-US" altLang="ko-KR" sz="1200" dirty="0"/>
              <a:t>. -&gt; </a:t>
            </a:r>
            <a:r>
              <a:rPr lang="ko-KR" altLang="en-US" sz="1200" dirty="0" err="1"/>
              <a:t>예측못한</a:t>
            </a:r>
            <a:r>
              <a:rPr lang="ko-KR" altLang="en-US" sz="1200" dirty="0"/>
              <a:t> 결과 </a:t>
            </a:r>
            <a:r>
              <a:rPr lang="ko-KR" altLang="en-US" sz="1200" dirty="0" err="1"/>
              <a:t>오버플로우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정수형 </a:t>
            </a:r>
            <a:r>
              <a:rPr lang="en-US" altLang="ko-KR" sz="1200" dirty="0"/>
              <a:t>: 32</a:t>
            </a:r>
            <a:r>
              <a:rPr lang="ko-KR" altLang="en-US" sz="1200" dirty="0"/>
              <a:t>비트 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첫비트</a:t>
            </a:r>
            <a:r>
              <a:rPr lang="ko-KR" altLang="en-US" sz="1200" dirty="0"/>
              <a:t> 부호</a:t>
            </a:r>
            <a:r>
              <a:rPr lang="en-US" altLang="ko-KR" sz="1200" dirty="0"/>
              <a:t>.. </a:t>
            </a:r>
            <a:r>
              <a:rPr lang="ko-KR" altLang="en-US" sz="1200" dirty="0"/>
              <a:t>즉 </a:t>
            </a:r>
            <a:r>
              <a:rPr lang="en-US" altLang="ko-KR" sz="1200" dirty="0"/>
              <a:t>2</a:t>
            </a:r>
            <a:r>
              <a:rPr lang="ko-KR" altLang="en-US" sz="1200" dirty="0"/>
              <a:t>의 </a:t>
            </a:r>
            <a:r>
              <a:rPr lang="en-US" altLang="ko-KR" sz="1200" dirty="0"/>
              <a:t>31</a:t>
            </a:r>
            <a:r>
              <a:rPr lang="ko-KR" altLang="en-US" sz="1200" dirty="0"/>
              <a:t>승 숫자 표현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실수형 </a:t>
            </a:r>
            <a:r>
              <a:rPr lang="en-US" altLang="ko-KR" sz="1200" dirty="0"/>
              <a:t>: </a:t>
            </a:r>
            <a:r>
              <a:rPr lang="ko-KR" altLang="en-US" sz="1200" dirty="0"/>
              <a:t>유효숫자 와 지수로 저장</a:t>
            </a:r>
            <a:endParaRPr lang="en-US" altLang="ko-KR" sz="1200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814A11-D336-8806-B760-E3C27C546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다음을 따라 작성하고 결과가 왜 이렇게 나왔는지 코멘트를 달아보자</a:t>
            </a:r>
            <a:endParaRPr lang="en-US" altLang="ko-KR" sz="1600" dirty="0"/>
          </a:p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FB99DB-710D-6930-2138-A7DFB721C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38" y="2494934"/>
            <a:ext cx="4991533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1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D1886-7264-8E94-2406-17E0A8FB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>
            <a:extLst>
              <a:ext uri="{FF2B5EF4-FFF2-40B4-BE49-F238E27FC236}">
                <a16:creationId xmlns:a16="http://schemas.microsoft.com/office/drawing/2014/main" id="{B4155087-23F1-2CA3-5955-0D9F8B152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5FBDCD9-2A5D-B39A-E876-8C1A2C6EF127}"/>
              </a:ext>
            </a:extLst>
          </p:cNvPr>
          <p:cNvSpPr/>
          <p:nvPr/>
        </p:nvSpPr>
        <p:spPr>
          <a:xfrm>
            <a:off x="580235" y="838590"/>
            <a:ext cx="5947740" cy="377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문자형 </a:t>
            </a:r>
            <a:r>
              <a:rPr lang="en-US" altLang="ko-KR" dirty="0"/>
              <a:t>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44C4C7D-474A-27DA-7F06-C013539C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다음을 따라 작성하고 결과가 왜 이렇게 나왔는지 코멘트를 달아보자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응용</a:t>
            </a:r>
            <a:r>
              <a:rPr lang="en-US" altLang="ko-KR" sz="1200" dirty="0"/>
              <a:t>1) </a:t>
            </a:r>
            <a:r>
              <a:rPr lang="ko-KR" altLang="en-US" sz="1200" dirty="0"/>
              <a:t>별을</a:t>
            </a:r>
            <a:r>
              <a:rPr lang="en-US" altLang="ko-KR" sz="1200" dirty="0"/>
              <a:t> 10</a:t>
            </a:r>
            <a:r>
              <a:rPr lang="ko-KR" altLang="en-US" sz="1200" dirty="0"/>
              <a:t>개</a:t>
            </a:r>
            <a:r>
              <a:rPr lang="en-US" altLang="ko-KR" sz="1200" dirty="0"/>
              <a:t>,9</a:t>
            </a:r>
            <a:r>
              <a:rPr lang="ko-KR" altLang="en-US" sz="1200" dirty="0"/>
              <a:t>개</a:t>
            </a:r>
            <a:r>
              <a:rPr lang="en-US" altLang="ko-KR" sz="1200" dirty="0"/>
              <a:t>,8</a:t>
            </a:r>
            <a:r>
              <a:rPr lang="ko-KR" altLang="en-US" sz="1200" dirty="0"/>
              <a:t>개</a:t>
            </a:r>
            <a:r>
              <a:rPr lang="en-US" altLang="ko-KR" sz="1200" dirty="0"/>
              <a:t>,7</a:t>
            </a:r>
            <a:r>
              <a:rPr lang="ko-KR" altLang="en-US" sz="1200" dirty="0"/>
              <a:t>개씩 찍는 예제를 만들어 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응용</a:t>
            </a:r>
            <a:r>
              <a:rPr lang="en-US" altLang="ko-KR" sz="1200" dirty="0"/>
              <a:t>2) @#*@#*</a:t>
            </a:r>
            <a:r>
              <a:rPr lang="ko-KR" altLang="en-US" sz="1200" dirty="0"/>
              <a:t>순서의</a:t>
            </a:r>
            <a:r>
              <a:rPr lang="en-US" altLang="ko-KR" sz="1200" dirty="0"/>
              <a:t> </a:t>
            </a:r>
            <a:r>
              <a:rPr lang="ko-KR" altLang="en-US" sz="1200" dirty="0"/>
              <a:t>문자열을 만들어 보자 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</a:t>
            </a:r>
            <a:r>
              <a:rPr lang="ko-KR" altLang="en-US" sz="1200" dirty="0"/>
              <a:t>부터  </a:t>
            </a:r>
            <a:r>
              <a:rPr lang="en-US" altLang="ko-KR" sz="1200" dirty="0"/>
              <a:t>50 </a:t>
            </a:r>
            <a:r>
              <a:rPr lang="ko-KR" altLang="en-US" sz="1200" dirty="0"/>
              <a:t>까지 찍어라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힌트</a:t>
            </a:r>
            <a:r>
              <a:rPr lang="en-US" altLang="ko-KR" sz="1200" dirty="0"/>
              <a:t> if(i%3==0) , if(i%3==1), else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69F4AF-4C0B-F21B-AEBB-36BA93900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15" y="1470712"/>
            <a:ext cx="435139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1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0543-293B-D392-9CA0-3C1F8EF1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>
            <a:extLst>
              <a:ext uri="{FF2B5EF4-FFF2-40B4-BE49-F238E27FC236}">
                <a16:creationId xmlns:a16="http://schemas.microsoft.com/office/drawing/2014/main" id="{3A8CC505-BA8D-7F1D-A8C5-49CF7D66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9C1F51-89A3-C447-1075-28F28446E89C}"/>
              </a:ext>
            </a:extLst>
          </p:cNvPr>
          <p:cNvSpPr/>
          <p:nvPr/>
        </p:nvSpPr>
        <p:spPr>
          <a:xfrm>
            <a:off x="580235" y="838590"/>
            <a:ext cx="5947740" cy="697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문자는 코드로 저장된다</a:t>
            </a:r>
            <a:r>
              <a:rPr lang="en-US" altLang="ko-KR" dirty="0"/>
              <a:t>.. </a:t>
            </a:r>
            <a:r>
              <a:rPr lang="ko-KR" altLang="en-US" dirty="0"/>
              <a:t>일반 영숫자는 </a:t>
            </a:r>
            <a:r>
              <a:rPr lang="en-US" altLang="ko-KR" dirty="0"/>
              <a:t>1byte, </a:t>
            </a:r>
            <a:r>
              <a:rPr lang="ko-KR" altLang="en-US" dirty="0" err="1"/>
              <a:t>한글등</a:t>
            </a:r>
            <a:r>
              <a:rPr lang="ko-KR" altLang="en-US" dirty="0"/>
              <a:t> 외국문자는 </a:t>
            </a:r>
            <a:r>
              <a:rPr lang="en-US" altLang="ko-KR" dirty="0"/>
              <a:t>2byte</a:t>
            </a:r>
            <a:r>
              <a:rPr lang="ko-KR" altLang="en-US" dirty="0"/>
              <a:t>이상</a:t>
            </a:r>
            <a:r>
              <a:rPr lang="en-US" altLang="ko-KR" dirty="0"/>
              <a:t>(MS949-2byte, UTF-8-3byte)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00E68D4-CD2B-0B28-332E-21D2905BB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다음을 따라 작성하고 결과가 왜 이렇게 나왔는지 코멘트를 달아보자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 smtClean="0"/>
              <a:t>szText.substring</a:t>
            </a:r>
            <a:r>
              <a:rPr lang="en-US" altLang="ko-KR" sz="1200" dirty="0" smtClean="0"/>
              <a:t>(0,1)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 err="1" smtClean="0"/>
              <a:t>szText.substring</a:t>
            </a:r>
            <a:r>
              <a:rPr lang="en-US" altLang="ko-KR" sz="1200" dirty="0" smtClean="0"/>
              <a:t>(1,1)</a:t>
            </a: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A6FC54-E046-55BB-9CE1-6BB6C398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525" y="1663280"/>
            <a:ext cx="3467400" cy="13107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B4E718-B0B6-7431-B154-0E08B1BB5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54" y="3261567"/>
            <a:ext cx="7186283" cy="19813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37" y="3747237"/>
            <a:ext cx="4363792" cy="27406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435" y="3635477"/>
            <a:ext cx="2072272" cy="298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2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B391-0F0A-9895-230D-FEA39A17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>
            <a:extLst>
              <a:ext uri="{FF2B5EF4-FFF2-40B4-BE49-F238E27FC236}">
                <a16:creationId xmlns:a16="http://schemas.microsoft.com/office/drawing/2014/main" id="{16155EF6-C6C8-54B0-2A0C-D8F652148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C60706-215D-0462-1C4B-62826C3733B3}"/>
              </a:ext>
            </a:extLst>
          </p:cNvPr>
          <p:cNvSpPr/>
          <p:nvPr/>
        </p:nvSpPr>
        <p:spPr>
          <a:xfrm>
            <a:off x="580234" y="838590"/>
            <a:ext cx="8778369" cy="4439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한글과 영어</a:t>
            </a:r>
            <a:r>
              <a:rPr lang="en-US" altLang="ko-KR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 </a:t>
            </a:r>
            <a:r>
              <a:rPr lang="ko-KR" altLang="en-US" dirty="0" err="1"/>
              <a:t>글자갯수</a:t>
            </a:r>
            <a:r>
              <a:rPr lang="en-US" altLang="ko-KR" dirty="0"/>
              <a:t>, </a:t>
            </a:r>
            <a:r>
              <a:rPr lang="ko-KR" altLang="en-US" dirty="0" err="1"/>
              <a:t>글자인쇄칸수</a:t>
            </a:r>
            <a:r>
              <a:rPr lang="en-US" altLang="ko-KR" dirty="0"/>
              <a:t>, </a:t>
            </a:r>
            <a:r>
              <a:rPr lang="ko-KR" altLang="en-US" dirty="0"/>
              <a:t>메모리에 저장용량</a:t>
            </a:r>
            <a:r>
              <a:rPr lang="en-US" altLang="ko-KR" dirty="0"/>
              <a:t>…*</a:t>
            </a:r>
            <a:r>
              <a:rPr lang="ko-KR" altLang="en-US" dirty="0"/>
              <a:t>음</a:t>
            </a:r>
            <a:r>
              <a:rPr lang="en-US" altLang="ko-KR" dirty="0"/>
              <a:t>..</a:t>
            </a:r>
            <a:r>
              <a:rPr lang="ko-KR" altLang="en-US" dirty="0"/>
              <a:t>이렇게 구분해서 알아보자</a:t>
            </a:r>
            <a:r>
              <a:rPr lang="en-US" altLang="ko-KR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메모리에 저장되는 </a:t>
            </a:r>
            <a:r>
              <a:rPr lang="ko-KR" altLang="en-US" dirty="0" err="1"/>
              <a:t>코드값의</a:t>
            </a:r>
            <a:r>
              <a:rPr lang="ko-KR" altLang="en-US" dirty="0"/>
              <a:t> 단위는 </a:t>
            </a:r>
            <a:r>
              <a:rPr lang="en-US" altLang="ko-KR" dirty="0"/>
              <a:t>1byte(8bit)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u="sng" dirty="0">
                <a:solidFill>
                  <a:srgbClr val="FF0000"/>
                </a:solidFill>
              </a:rPr>
              <a:t>한글은 두 칸</a:t>
            </a:r>
            <a:r>
              <a:rPr lang="en-US" altLang="ko-KR" u="sng" dirty="0">
                <a:solidFill>
                  <a:srgbClr val="FF0000"/>
                </a:solidFill>
              </a:rPr>
              <a:t>(</a:t>
            </a:r>
            <a:r>
              <a:rPr lang="ko-KR" altLang="en-US" u="sng" dirty="0">
                <a:solidFill>
                  <a:srgbClr val="FF0000"/>
                </a:solidFill>
              </a:rPr>
              <a:t>영어 </a:t>
            </a:r>
            <a:r>
              <a:rPr lang="en-US" altLang="ko-KR" u="sng" dirty="0">
                <a:solidFill>
                  <a:srgbClr val="FF0000"/>
                </a:solidFill>
              </a:rPr>
              <a:t>2</a:t>
            </a:r>
            <a:r>
              <a:rPr lang="ko-KR" altLang="en-US" u="sng" dirty="0">
                <a:solidFill>
                  <a:srgbClr val="FF0000"/>
                </a:solidFill>
              </a:rPr>
              <a:t>자</a:t>
            </a:r>
            <a:r>
              <a:rPr lang="en-US" altLang="ko-KR" u="sng" dirty="0">
                <a:solidFill>
                  <a:srgbClr val="FF0000"/>
                </a:solidFill>
              </a:rPr>
              <a:t>)</a:t>
            </a:r>
            <a:r>
              <a:rPr lang="ko-KR" altLang="en-US" u="sng" dirty="0">
                <a:solidFill>
                  <a:srgbClr val="FF0000"/>
                </a:solidFill>
              </a:rPr>
              <a:t>에 한글자가 인쇄된다</a:t>
            </a:r>
            <a:r>
              <a:rPr lang="en-US" altLang="ko-KR" u="sng" dirty="0">
                <a:solidFill>
                  <a:srgbClr val="FF0000"/>
                </a:solidFill>
              </a:rPr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처음 한글을 컴퓨터에 저장 하는데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2byte</a:t>
            </a:r>
            <a:r>
              <a:rPr lang="ko-KR" altLang="en-US" dirty="0">
                <a:solidFill>
                  <a:srgbClr val="FF0000"/>
                </a:solidFill>
              </a:rPr>
              <a:t>가</a:t>
            </a:r>
            <a:r>
              <a:rPr lang="ko-KR" altLang="en-US" dirty="0"/>
              <a:t> 필요하였고</a:t>
            </a:r>
            <a:r>
              <a:rPr lang="en-US" altLang="ko-KR" dirty="0"/>
              <a:t>, </a:t>
            </a:r>
            <a:r>
              <a:rPr lang="ko-KR" altLang="en-US" dirty="0"/>
              <a:t>이 표준은 </a:t>
            </a:r>
            <a:r>
              <a:rPr lang="en-US" altLang="ko-KR" dirty="0"/>
              <a:t>ANSI, MS949, ISO-8859</a:t>
            </a:r>
            <a:r>
              <a:rPr lang="ko-KR" altLang="en-US" dirty="0"/>
              <a:t>이다</a:t>
            </a:r>
            <a:r>
              <a:rPr lang="en-US" altLang="ko-KR" dirty="0"/>
              <a:t>.  (</a:t>
            </a:r>
            <a:r>
              <a:rPr lang="ko-KR" altLang="en-US" dirty="0"/>
              <a:t>서로 비슷하나 조금씩 차이</a:t>
            </a:r>
            <a:r>
              <a:rPr lang="en-US" altLang="ko-KR" dirty="0"/>
              <a:t>. </a:t>
            </a:r>
            <a:r>
              <a:rPr lang="ko-KR" altLang="en-US" dirty="0"/>
              <a:t>미국표준</a:t>
            </a:r>
            <a:r>
              <a:rPr lang="en-US" altLang="ko-KR" dirty="0"/>
              <a:t>, </a:t>
            </a:r>
            <a:r>
              <a:rPr lang="ko-KR" altLang="en-US" dirty="0"/>
              <a:t>마소표준</a:t>
            </a:r>
            <a:r>
              <a:rPr lang="en-US" altLang="ko-KR" dirty="0"/>
              <a:t>, </a:t>
            </a:r>
            <a:r>
              <a:rPr lang="ko-KR" altLang="en-US" dirty="0"/>
              <a:t>국제 </a:t>
            </a:r>
            <a:r>
              <a:rPr lang="ko-KR" altLang="en-US" dirty="0" err="1"/>
              <a:t>표준일뿐</a:t>
            </a:r>
            <a:r>
              <a:rPr lang="en-US" altLang="ko-KR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웹기술이 뜨면서 모든 나라의 글자</a:t>
            </a:r>
            <a:r>
              <a:rPr lang="en-US" altLang="ko-KR" dirty="0"/>
              <a:t>(</a:t>
            </a:r>
            <a:r>
              <a:rPr lang="ko-KR" altLang="en-US" dirty="0"/>
              <a:t>아랍어 </a:t>
            </a:r>
            <a:r>
              <a:rPr lang="en-US" altLang="ko-KR" dirty="0"/>
              <a:t>,</a:t>
            </a:r>
            <a:r>
              <a:rPr lang="ko-KR" altLang="en-US" dirty="0" err="1"/>
              <a:t>태국어등</a:t>
            </a:r>
            <a:r>
              <a:rPr lang="ko-KR" altLang="en-US" dirty="0"/>
              <a:t> </a:t>
            </a:r>
            <a:r>
              <a:rPr lang="ko-KR" altLang="en-US" dirty="0" err="1"/>
              <a:t>라면뿌스러기</a:t>
            </a:r>
            <a:r>
              <a:rPr lang="ko-KR" altLang="en-US" dirty="0"/>
              <a:t> 글자 등</a:t>
            </a:r>
            <a:r>
              <a:rPr lang="en-US" altLang="ko-KR" dirty="0"/>
              <a:t>)</a:t>
            </a:r>
            <a:r>
              <a:rPr lang="ko-KR" altLang="en-US" dirty="0"/>
              <a:t>를 모두 포함하여 표시하는 </a:t>
            </a:r>
            <a:r>
              <a:rPr lang="en-US" altLang="ko-KR" dirty="0"/>
              <a:t>UTF-8,UTF-16</a:t>
            </a:r>
            <a:r>
              <a:rPr lang="ko-KR" altLang="en-US" dirty="0"/>
              <a:t>등이 쓰이기 시작하였다</a:t>
            </a:r>
            <a:r>
              <a:rPr lang="en-US" altLang="ko-KR" dirty="0"/>
              <a:t>. </a:t>
            </a:r>
            <a:r>
              <a:rPr lang="en-US" altLang="ko-KR" dirty="0">
                <a:solidFill>
                  <a:srgbClr val="FF0000"/>
                </a:solidFill>
              </a:rPr>
              <a:t>UTF-8</a:t>
            </a:r>
            <a:r>
              <a:rPr lang="ko-KR" altLang="en-US" dirty="0">
                <a:solidFill>
                  <a:srgbClr val="FF0000"/>
                </a:solidFill>
              </a:rPr>
              <a:t>은 </a:t>
            </a:r>
            <a:r>
              <a:rPr lang="en-US" altLang="ko-KR" dirty="0">
                <a:solidFill>
                  <a:srgbClr val="FF0000"/>
                </a:solidFill>
              </a:rPr>
              <a:t>3byte,</a:t>
            </a:r>
            <a:r>
              <a:rPr lang="en-US" altLang="ko-KR" dirty="0"/>
              <a:t> UTF-16</a:t>
            </a:r>
            <a:r>
              <a:rPr lang="ko-KR" altLang="en-US" dirty="0"/>
              <a:t>은 </a:t>
            </a:r>
            <a:r>
              <a:rPr lang="en-US" altLang="ko-KR" dirty="0"/>
              <a:t>4byte</a:t>
            </a:r>
            <a:r>
              <a:rPr lang="ko-KR" altLang="en-US" dirty="0"/>
              <a:t>로 저장된다</a:t>
            </a:r>
            <a:r>
              <a:rPr lang="en-US" altLang="ko-KR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035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6380247" y="927543"/>
            <a:ext cx="339546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다음으로 기억하라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"</a:t>
            </a:r>
            <a:r>
              <a:rPr lang="ko-KR" altLang="en-US" sz="1200" dirty="0"/>
              <a:t>안녕</a:t>
            </a:r>
            <a:r>
              <a:rPr lang="en-US" altLang="ko-KR" sz="1200" dirty="0" err="1"/>
              <a:t>aaa</a:t>
            </a:r>
            <a:r>
              <a:rPr lang="ko-KR" altLang="en-US" sz="1200" dirty="0" err="1"/>
              <a:t>녕안</a:t>
            </a:r>
            <a:r>
              <a:rPr lang="en-US" altLang="ko-KR" sz="1200" dirty="0"/>
              <a:t>“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- </a:t>
            </a:r>
            <a:r>
              <a:rPr lang="ko-KR" altLang="en-US" sz="1200" dirty="0"/>
              <a:t>몇 글자 인가</a:t>
            </a:r>
            <a:r>
              <a:rPr lang="en-US" altLang="ko-KR" sz="1200" dirty="0"/>
              <a:t>?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- MS949</a:t>
            </a:r>
            <a:r>
              <a:rPr lang="ko-KR" altLang="en-US" sz="1200" dirty="0"/>
              <a:t>로 한글을 저장하라고 하면 얼마의 공간이 필요한가</a:t>
            </a:r>
            <a:r>
              <a:rPr lang="en-US" altLang="ko-KR" sz="1200" dirty="0"/>
              <a:t>?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- UTF-8 </a:t>
            </a:r>
            <a:r>
              <a:rPr lang="ko-KR" altLang="en-US" sz="1200" dirty="0"/>
              <a:t>로 한글을 저장하라고 하면 얼마의 공간이 필요한가</a:t>
            </a:r>
            <a:r>
              <a:rPr lang="en-US" altLang="ko-KR" sz="1200" dirty="0"/>
              <a:t>?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- </a:t>
            </a:r>
            <a:r>
              <a:rPr lang="ko-KR" altLang="en-US" sz="1200" dirty="0"/>
              <a:t>문자열에 한글이 몇 개 포함되었는가</a:t>
            </a:r>
            <a:r>
              <a:rPr lang="en-US" altLang="ko-KR" sz="1200" dirty="0"/>
              <a:t>?</a:t>
            </a:r>
            <a:endParaRPr lang="en-US" altLang="ko-KR" sz="1200" u="sng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“</a:t>
            </a:r>
            <a:r>
              <a:rPr lang="en-US" altLang="ko-KR" sz="1200" dirty="0" err="1"/>
              <a:t>abcdefabc</a:t>
            </a:r>
            <a:r>
              <a:rPr lang="en-US" altLang="ko-KR" sz="1200" dirty="0"/>
              <a:t>“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- </a:t>
            </a:r>
            <a:r>
              <a:rPr lang="ko-KR" altLang="en-US" sz="1200" dirty="0"/>
              <a:t>몇 글자 인가</a:t>
            </a:r>
            <a:r>
              <a:rPr lang="en-US" altLang="ko-KR" sz="1200" dirty="0"/>
              <a:t>?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- MS949</a:t>
            </a:r>
            <a:r>
              <a:rPr lang="ko-KR" altLang="en-US" sz="1200" dirty="0"/>
              <a:t>로 한글을 저장하라고 하면 얼마의 공간이 필요한가</a:t>
            </a:r>
            <a:r>
              <a:rPr lang="en-US" altLang="ko-KR" sz="1200" dirty="0"/>
              <a:t>?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- UTF-8 </a:t>
            </a:r>
            <a:r>
              <a:rPr lang="ko-KR" altLang="en-US" sz="1200" dirty="0"/>
              <a:t>로 한글을 저장하라고 하면 얼마의 공간이 필요한가</a:t>
            </a:r>
            <a:r>
              <a:rPr lang="en-US" altLang="ko-KR" sz="1200" dirty="0"/>
              <a:t>?</a:t>
            </a:r>
            <a:r>
              <a:rPr lang="en-US" altLang="ko-KR" sz="1200" u="sng" dirty="0"/>
              <a:t> 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- </a:t>
            </a:r>
            <a:r>
              <a:rPr lang="ko-KR" altLang="en-US" sz="1200" dirty="0"/>
              <a:t>문자열에 한글이 몇 개 포함되었는가</a:t>
            </a:r>
            <a:r>
              <a:rPr lang="en-US" altLang="ko-KR" sz="1200" dirty="0"/>
              <a:t>?</a:t>
            </a:r>
            <a:endParaRPr lang="en-US" altLang="ko-KR" sz="1200" u="sng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u="sng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u="sng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5BC769-B403-1B26-CE83-11442F03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31" y="1064271"/>
            <a:ext cx="5700254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D201B-BB1D-D93B-F3AB-C0AA8BBF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D813C4E8-3976-84AD-FD23-D9FFD59C5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35" name="Text Box 5">
            <a:extLst>
              <a:ext uri="{FF2B5EF4-FFF2-40B4-BE49-F238E27FC236}">
                <a16:creationId xmlns:a16="http://schemas.microsoft.com/office/drawing/2014/main" id="{8EDF07CE-C764-4480-31E9-C1A790D89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0247" y="927543"/>
            <a:ext cx="339546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다음으로 기억하라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어느것이</a:t>
            </a:r>
            <a:r>
              <a:rPr lang="ko-KR" altLang="en-US" sz="1200" dirty="0"/>
              <a:t> 더 큰 저장장소인지 정도 알고</a:t>
            </a:r>
            <a:r>
              <a:rPr lang="en-US" altLang="ko-KR" sz="1200" dirty="0"/>
              <a:t> </a:t>
            </a:r>
            <a:r>
              <a:rPr lang="ko-KR" altLang="en-US" sz="1200" dirty="0"/>
              <a:t>에러</a:t>
            </a:r>
            <a:r>
              <a:rPr lang="en-US" altLang="ko-KR" sz="1200" dirty="0"/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트렁케이션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 err="1">
                <a:solidFill>
                  <a:srgbClr val="FF0000"/>
                </a:solidFill>
              </a:rPr>
              <a:t>오버플로우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 err="1">
                <a:solidFill>
                  <a:srgbClr val="FF0000"/>
                </a:solidFill>
              </a:rPr>
              <a:t>익셉션</a:t>
            </a:r>
            <a:r>
              <a:rPr lang="en-US" altLang="ko-KR" sz="1200" dirty="0"/>
              <a:t>)</a:t>
            </a:r>
            <a:r>
              <a:rPr lang="ko-KR" altLang="en-US" sz="1200" dirty="0"/>
              <a:t> 주의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 dirty="0"/>
              <a:t>기본으로</a:t>
            </a:r>
            <a:r>
              <a:rPr lang="en-US" altLang="ko-KR" sz="1200" u="sng" dirty="0"/>
              <a:t> </a:t>
            </a:r>
            <a:r>
              <a:rPr lang="ko-KR" altLang="en-US" sz="1200" u="sng" dirty="0"/>
              <a:t> </a:t>
            </a:r>
            <a:r>
              <a:rPr lang="en-US" altLang="ko-KR" sz="1200" u="sng" dirty="0"/>
              <a:t>string, int</a:t>
            </a:r>
            <a:r>
              <a:rPr lang="ko-KR" altLang="en-US" sz="1200" u="sng" dirty="0"/>
              <a:t>로 선언</a:t>
            </a:r>
            <a:endParaRPr lang="en-US" altLang="ko-KR" sz="1200" u="sng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숫자가 크면 </a:t>
            </a:r>
            <a:r>
              <a:rPr lang="en-US" altLang="ko-KR" sz="1200" dirty="0"/>
              <a:t>double, </a:t>
            </a:r>
            <a:r>
              <a:rPr lang="ko-KR" altLang="en-US" sz="1200" dirty="0" err="1"/>
              <a:t>득별히</a:t>
            </a:r>
            <a:r>
              <a:rPr lang="ko-KR" altLang="en-US" sz="1200" dirty="0"/>
              <a:t> 공학계산으로 소수점 자리가 중요하면 </a:t>
            </a:r>
            <a:r>
              <a:rPr lang="en-US" altLang="ko-KR" sz="1200" dirty="0"/>
              <a:t>float, short</a:t>
            </a:r>
            <a:r>
              <a:rPr lang="ko-KR" altLang="en-US" sz="1200" dirty="0"/>
              <a:t>은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문자하나하나는</a:t>
            </a:r>
            <a:r>
              <a:rPr lang="ko-KR" altLang="en-US" sz="1200" dirty="0"/>
              <a:t> </a:t>
            </a:r>
            <a:r>
              <a:rPr lang="en-US" altLang="ko-KR" sz="1200" dirty="0"/>
              <a:t>char, </a:t>
            </a:r>
            <a:r>
              <a:rPr lang="ko-KR" altLang="en-US" sz="1200" dirty="0"/>
              <a:t>문자열은 </a:t>
            </a:r>
            <a:r>
              <a:rPr lang="en-US" altLang="ko-KR" sz="1200" dirty="0"/>
              <a:t>String(</a:t>
            </a:r>
            <a:r>
              <a:rPr lang="ko-KR" altLang="en-US" sz="1200" dirty="0"/>
              <a:t>클래스</a:t>
            </a:r>
            <a:r>
              <a:rPr lang="en-US" altLang="ko-KR" sz="1200" dirty="0"/>
              <a:t>)(c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char* char[10]), </a:t>
            </a:r>
            <a:r>
              <a:rPr lang="ko-KR" altLang="en-US" sz="1200" dirty="0"/>
              <a:t>문자를 무언가 컴퓨터 메모리차원으로 접근하려면 </a:t>
            </a:r>
            <a:r>
              <a:rPr lang="en-US" altLang="ko-KR" sz="1200" dirty="0"/>
              <a:t>byte(</a:t>
            </a:r>
            <a:r>
              <a:rPr lang="ko-KR" altLang="en-US" sz="1200" dirty="0"/>
              <a:t>때로는</a:t>
            </a:r>
            <a:r>
              <a:rPr lang="en-US" altLang="ko-KR" sz="1200" dirty="0"/>
              <a:t> char)</a:t>
            </a:r>
            <a:r>
              <a:rPr lang="ko-KR" altLang="en-US" sz="1200" dirty="0"/>
              <a:t>로 사용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한글은 여러 방식으로 표현됨</a:t>
            </a:r>
            <a:r>
              <a:rPr lang="en-US" altLang="ko-KR" sz="1200" dirty="0"/>
              <a:t>(MS949,KSC5601,ISO8801,UTF-8) </a:t>
            </a:r>
            <a:r>
              <a:rPr lang="ko-KR" altLang="en-US" sz="1200" dirty="0"/>
              <a:t>유니코드</a:t>
            </a:r>
            <a:r>
              <a:rPr lang="en-US" altLang="ko-KR" sz="1200" dirty="0"/>
              <a:t>(UTF-8,UTF-16)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한글이나 유니코드를 처리시 컴퓨터 메모리 차원으로 생각하여 </a:t>
            </a:r>
            <a:r>
              <a:rPr lang="en-US" altLang="ko-KR" sz="1200" dirty="0"/>
              <a:t>byte</a:t>
            </a:r>
            <a:r>
              <a:rPr lang="ko-KR" altLang="en-US" sz="1200" dirty="0" err="1"/>
              <a:t>형변환하여</a:t>
            </a:r>
            <a:r>
              <a:rPr lang="ko-KR" altLang="en-US" sz="1200" dirty="0"/>
              <a:t> 처리하여야 한다</a:t>
            </a:r>
            <a:r>
              <a:rPr lang="en-US" altLang="ko-KR" sz="1200" dirty="0"/>
              <a:t>.</a:t>
            </a:r>
          </a:p>
        </p:txBody>
      </p:sp>
      <p:sp>
        <p:nvSpPr>
          <p:cNvPr id="30" name="Text Box 5">
            <a:extLst>
              <a:ext uri="{FF2B5EF4-FFF2-40B4-BE49-F238E27FC236}">
                <a16:creationId xmlns:a16="http://schemas.microsoft.com/office/drawing/2014/main" id="{66796528-FB9A-7D9F-EA9F-8B36296A3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05" y="815082"/>
            <a:ext cx="5203204" cy="486618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다음으로 기억하라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어느것이</a:t>
            </a:r>
            <a:r>
              <a:rPr lang="ko-KR" altLang="en-US" sz="1200" dirty="0"/>
              <a:t> 더 큰 저장장소인지 정도 알고</a:t>
            </a:r>
            <a:r>
              <a:rPr lang="en-US" altLang="ko-KR" sz="1200" dirty="0"/>
              <a:t> </a:t>
            </a:r>
            <a:r>
              <a:rPr lang="ko-KR" altLang="en-US" sz="1200" dirty="0"/>
              <a:t>에러</a:t>
            </a:r>
            <a:r>
              <a:rPr lang="en-US" altLang="ko-KR" sz="1200" dirty="0"/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트렁케이션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 err="1">
                <a:solidFill>
                  <a:srgbClr val="FF0000"/>
                </a:solidFill>
              </a:rPr>
              <a:t>오버플로우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 err="1">
                <a:solidFill>
                  <a:srgbClr val="FF0000"/>
                </a:solidFill>
              </a:rPr>
              <a:t>익셉션</a:t>
            </a:r>
            <a:r>
              <a:rPr lang="en-US" altLang="ko-KR" sz="1200" dirty="0"/>
              <a:t>)</a:t>
            </a:r>
            <a:r>
              <a:rPr lang="ko-KR" altLang="en-US" sz="1200" dirty="0"/>
              <a:t> 주의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 dirty="0"/>
              <a:t>기본으로</a:t>
            </a:r>
            <a:r>
              <a:rPr lang="en-US" altLang="ko-KR" sz="1200" u="sng" dirty="0"/>
              <a:t> </a:t>
            </a:r>
            <a:r>
              <a:rPr lang="ko-KR" altLang="en-US" sz="1200" u="sng" dirty="0"/>
              <a:t> </a:t>
            </a:r>
            <a:r>
              <a:rPr lang="en-US" altLang="ko-KR" sz="1200" u="sng" dirty="0"/>
              <a:t>string, int</a:t>
            </a:r>
            <a:r>
              <a:rPr lang="ko-KR" altLang="en-US" sz="1200" u="sng" dirty="0"/>
              <a:t>로 선언</a:t>
            </a:r>
            <a:endParaRPr lang="en-US" altLang="ko-KR" sz="1200" u="sng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숫자가 크면 </a:t>
            </a:r>
            <a:r>
              <a:rPr lang="en-US" altLang="ko-KR" sz="1200" dirty="0"/>
              <a:t>double, </a:t>
            </a:r>
            <a:r>
              <a:rPr lang="ko-KR" altLang="en-US" sz="1200" dirty="0" err="1"/>
              <a:t>득별히</a:t>
            </a:r>
            <a:r>
              <a:rPr lang="ko-KR" altLang="en-US" sz="1200" dirty="0"/>
              <a:t> 공학계산으로 소수점 자리가 중요하면 </a:t>
            </a:r>
            <a:r>
              <a:rPr lang="en-US" altLang="ko-KR" sz="1200" dirty="0"/>
              <a:t>float, short</a:t>
            </a:r>
            <a:r>
              <a:rPr lang="ko-KR" altLang="en-US" sz="1200" dirty="0"/>
              <a:t>은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문자하나하나는</a:t>
            </a:r>
            <a:r>
              <a:rPr lang="ko-KR" altLang="en-US" sz="1200" dirty="0"/>
              <a:t> </a:t>
            </a:r>
            <a:r>
              <a:rPr lang="en-US" altLang="ko-KR" sz="1200" dirty="0"/>
              <a:t>char, </a:t>
            </a:r>
            <a:r>
              <a:rPr lang="ko-KR" altLang="en-US" sz="1200" dirty="0"/>
              <a:t>문자열은 </a:t>
            </a:r>
            <a:r>
              <a:rPr lang="en-US" altLang="ko-KR" sz="1200" dirty="0"/>
              <a:t>String(</a:t>
            </a:r>
            <a:r>
              <a:rPr lang="ko-KR" altLang="en-US" sz="1200" dirty="0"/>
              <a:t>클래스</a:t>
            </a:r>
            <a:r>
              <a:rPr lang="en-US" altLang="ko-KR" sz="1200" dirty="0"/>
              <a:t>)(c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char* char[10]), </a:t>
            </a:r>
            <a:r>
              <a:rPr lang="ko-KR" altLang="en-US" sz="1200" dirty="0"/>
              <a:t>문자를 무언가 컴퓨터 메모리차원으로 접근하려면 </a:t>
            </a:r>
            <a:r>
              <a:rPr lang="en-US" altLang="ko-KR" sz="1200" dirty="0"/>
              <a:t>byte(</a:t>
            </a:r>
            <a:r>
              <a:rPr lang="ko-KR" altLang="en-US" sz="1200" dirty="0"/>
              <a:t>때로는</a:t>
            </a:r>
            <a:r>
              <a:rPr lang="en-US" altLang="ko-KR" sz="1200" dirty="0"/>
              <a:t> char)</a:t>
            </a:r>
            <a:r>
              <a:rPr lang="ko-KR" altLang="en-US" sz="1200" dirty="0"/>
              <a:t>로 사용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한글은 여러 방식으로 표현됨</a:t>
            </a:r>
            <a:r>
              <a:rPr lang="en-US" altLang="ko-KR" sz="1200" dirty="0"/>
              <a:t>(MS949,KSC5601,ISO8801,UTF-8) </a:t>
            </a:r>
            <a:r>
              <a:rPr lang="ko-KR" altLang="en-US" sz="1200" dirty="0"/>
              <a:t>유니코드</a:t>
            </a:r>
            <a:r>
              <a:rPr lang="en-US" altLang="ko-KR" sz="1200" dirty="0"/>
              <a:t>(UTF-8,UTF-16)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한글이나 유니코드를 처리시 컴퓨터 메모리 차원으로 생각하여 </a:t>
            </a:r>
            <a:r>
              <a:rPr lang="en-US" altLang="ko-KR" sz="1200" dirty="0"/>
              <a:t>byte</a:t>
            </a:r>
            <a:r>
              <a:rPr lang="ko-KR" altLang="en-US" sz="1200" dirty="0" err="1"/>
              <a:t>형변환하여</a:t>
            </a:r>
            <a:r>
              <a:rPr lang="ko-KR" altLang="en-US" sz="1200" dirty="0"/>
              <a:t> 처리하여야 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715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843072" y="927543"/>
            <a:ext cx="565862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명명규칙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(Naming convention)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1. </a:t>
            </a: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대소문자가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구분되며 길이에 제한이 없다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800100" lvl="1" indent="-342900">
              <a:spcBef>
                <a:spcPct val="50000"/>
              </a:spcBef>
              <a:buFontTx/>
              <a:buChar char="-"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True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와 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true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는 서로 다른 것으로 간주된다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2. </a:t>
            </a: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예약어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(Reserved word)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를 사용해서는 안 된다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800100" lvl="1" indent="-342900">
              <a:spcBef>
                <a:spcPct val="50000"/>
              </a:spcBef>
              <a:buFontTx/>
              <a:buChar char="-"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true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는 </a:t>
            </a: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예약어라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사용할 수 없지만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, True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는 가능하다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3.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숫자로 시작해서는 안 된다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800100" lvl="1" indent="-342900">
              <a:spcBef>
                <a:spcPct val="50000"/>
              </a:spcBef>
              <a:buFontTx/>
              <a:buChar char="-"/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top10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은 허용하지만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, 7up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은 허용되지 않는다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4.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특수문자는 ‘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_’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와 ‘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$’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만을 허용한다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교수님도 처음 알았다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굳이 이렇게 쓸 이유가 없다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  <a:p>
            <a:pPr lvl="1"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- $harp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은 허용되지만 </a:t>
            </a:r>
            <a:r>
              <a:rPr lang="en-US" altLang="ko-KR" dirty="0" err="1">
                <a:latin typeface="돋움" panose="020B0600000101010101" pitchFamily="50" charset="-127"/>
                <a:ea typeface="돋움" panose="020B0600000101010101" pitchFamily="50" charset="-127"/>
              </a:rPr>
              <a:t>S#arp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는 허용되지 않는다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읽어봅시다</a:t>
            </a:r>
            <a:r>
              <a:rPr lang="en-US" altLang="ko-KR" sz="16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중요하지만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나중에는 일반적인 것</a:t>
            </a:r>
            <a:r>
              <a:rPr lang="en-US" altLang="ko-KR" sz="12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외울것은</a:t>
            </a:r>
            <a:r>
              <a:rPr lang="ko-KR" altLang="en-US" sz="1200" dirty="0"/>
              <a:t> 아니고 만일 사용하다 에러가 난다면 이러한 부분을 </a:t>
            </a:r>
            <a:r>
              <a:rPr lang="ko-KR" altLang="en-US" sz="1200" dirty="0" err="1"/>
              <a:t>안지킨것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134089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6" name="Text Box 10"/>
          <p:cNvSpPr txBox="1">
            <a:spLocks noChangeArrowheads="1"/>
          </p:cNvSpPr>
          <p:nvPr/>
        </p:nvSpPr>
        <p:spPr bwMode="auto">
          <a:xfrm>
            <a:off x="603437" y="977583"/>
            <a:ext cx="618830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변수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상수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리터럴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변수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(variable) –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하나의 값을 저장하기 위한 공간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상수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(constant) –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한 번만 값을 저장할 수 있는 공간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                      -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딱히 이렇게 </a:t>
            </a: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쓰는것은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프로그램 중간에 이 값을 바꾸지 않게 </a:t>
            </a: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하는것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endParaRPr lang="en-US" altLang="ko-KR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ko-KR" altLang="en-US" dirty="0" err="1">
                <a:latin typeface="돋움" panose="020B0600000101010101" pitchFamily="50" charset="-127"/>
                <a:ea typeface="돋움" panose="020B0600000101010101" pitchFamily="50" charset="-127"/>
              </a:rPr>
              <a:t>리터럴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(literal) – 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정해진 규칙의 값들</a:t>
            </a:r>
            <a:r>
              <a:rPr lang="en-US" altLang="ko-KR" dirty="0">
                <a:latin typeface="돋움" panose="020B0600000101010101" pitchFamily="50" charset="-127"/>
                <a:ea typeface="돋움" panose="020B0600000101010101" pitchFamily="50" charset="-127"/>
              </a:rPr>
              <a:t>....</a:t>
            </a:r>
            <a:r>
              <a:rPr lang="ko-KR" altLang="en-US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936899" y="3328835"/>
            <a:ext cx="5804436" cy="289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int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 score = 100;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    score = 200;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char </a:t>
            </a:r>
            <a:r>
              <a:rPr lang="en-US" altLang="ko-KR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ch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 = ‘A’;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String </a:t>
            </a:r>
            <a:r>
              <a:rPr lang="en-US" altLang="ko-KR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str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 = “</a:t>
            </a:r>
            <a:r>
              <a:rPr lang="en-US" altLang="ko-KR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abc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”;</a:t>
            </a:r>
          </a:p>
          <a:p>
            <a:pPr>
              <a:spcBef>
                <a:spcPct val="50000"/>
              </a:spcBef>
            </a:pP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final </a:t>
            </a:r>
            <a:r>
              <a:rPr lang="en-US" altLang="ko-KR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int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 MAX = 100; //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앞으로 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MAX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는 값을 변동시키지 않는다  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final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MAX = 200; // 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에러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final float PI = 3.141592f; //</a:t>
            </a:r>
            <a:r>
              <a:rPr lang="ko-KR" altLang="en-US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파이값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 바꿀 일없다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바꾸면 </a:t>
            </a:r>
            <a:r>
              <a:rPr lang="ko-KR" altLang="en-US" sz="1400" dirty="0" err="1">
                <a:latin typeface="돋움" panose="020B0600000101010101" pitchFamily="50" charset="-127"/>
                <a:ea typeface="돋움" panose="020B0600000101010101" pitchFamily="50" charset="-127"/>
              </a:rPr>
              <a:t>에러나게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final</a:t>
            </a: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PI = 2.141592f; // 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에러</a:t>
            </a:r>
            <a:endParaRPr lang="en-US" altLang="ko-KR" sz="1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6043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30375" y="4822825"/>
              <a:ext cx="1588" cy="1588"/>
            </p14:xfrm>
          </p:contentPart>
        </mc:Choice>
        <mc:Fallback xmlns="">
          <p:pic>
            <p:nvPicPr>
              <p:cNvPr id="86043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9087" y="4781537"/>
                <a:ext cx="84164" cy="84164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읽자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아는데 까지만 써서 먼저 개발하자</a:t>
            </a:r>
            <a:r>
              <a:rPr lang="en-US" altLang="ko-KR" sz="1200" dirty="0"/>
              <a:t>.. </a:t>
            </a:r>
            <a:r>
              <a:rPr lang="ko-KR" altLang="en-US" sz="1200" dirty="0"/>
              <a:t>변수로 선언해서 상수처럼 써도 </a:t>
            </a:r>
            <a:r>
              <a:rPr lang="ko-KR" altLang="en-US" sz="1200" dirty="0" err="1"/>
              <a:t>되자나</a:t>
            </a:r>
            <a:r>
              <a:rPr lang="en-US" altLang="ko-KR" sz="1200" dirty="0"/>
              <a:t>..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10552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200" dirty="0"/>
              <a:t>실습</a:t>
            </a: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아래 </a:t>
            </a:r>
            <a:r>
              <a:rPr lang="en-US" altLang="ko-KR" sz="1200" dirty="0"/>
              <a:t>1~9</a:t>
            </a:r>
            <a:r>
              <a:rPr lang="ko-KR" altLang="en-US" sz="1200" dirty="0"/>
              <a:t>를 포함하여 프로그램을 작성해 </a:t>
            </a:r>
            <a:r>
              <a:rPr lang="ko-KR" altLang="en-US" sz="1200" dirty="0" err="1"/>
              <a:t>보시오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간단히 계산이나 출력 프로그램을 작성</a:t>
            </a:r>
            <a:endParaRPr lang="en-US" altLang="ko-KR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129AA-6677-0124-62F4-53E346546F50}"/>
              </a:ext>
            </a:extLst>
          </p:cNvPr>
          <p:cNvSpPr txBox="1"/>
          <p:nvPr/>
        </p:nvSpPr>
        <p:spPr>
          <a:xfrm>
            <a:off x="787375" y="2088231"/>
            <a:ext cx="6359874" cy="299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1) C</a:t>
            </a:r>
            <a:r>
              <a:rPr lang="ko-KR" altLang="en-US" dirty="0" err="1"/>
              <a:t>har</a:t>
            </a:r>
            <a:r>
              <a:rPr lang="ko-KR" altLang="en-US" dirty="0"/>
              <a:t> </a:t>
            </a:r>
            <a:r>
              <a:rPr lang="ko-KR" altLang="en-US" dirty="0" err="1"/>
              <a:t>a</a:t>
            </a:r>
            <a:r>
              <a:rPr lang="ko-KR" altLang="en-US" dirty="0"/>
              <a:t>=‘</a:t>
            </a:r>
            <a:r>
              <a:rPr lang="ko-KR" altLang="en-US" dirty="0" err="1"/>
              <a:t>a</a:t>
            </a:r>
            <a:r>
              <a:rPr lang="ko-KR" altLang="en-US" dirty="0"/>
              <a:t>'; // 단순 1byte문자를 </a:t>
            </a:r>
            <a:r>
              <a:rPr lang="ko-KR" altLang="en-US" dirty="0" err="1"/>
              <a:t>넣을땐</a:t>
            </a:r>
            <a:r>
              <a:rPr lang="ko-KR" altLang="en-US" dirty="0"/>
              <a:t> </a:t>
            </a:r>
            <a:r>
              <a:rPr lang="ko-KR" altLang="en-US" dirty="0" err="1"/>
              <a:t>홋다옴표</a:t>
            </a:r>
            <a:endParaRPr lang="en-US" altLang="ko-KR" dirty="0"/>
          </a:p>
          <a:p>
            <a:r>
              <a:rPr lang="en-US" altLang="ko-KR" dirty="0"/>
              <a:t>2) String a=“</a:t>
            </a:r>
            <a:r>
              <a:rPr lang="en-US" altLang="ko-KR" dirty="0" err="1"/>
              <a:t>asasa</a:t>
            </a:r>
            <a:r>
              <a:rPr lang="en-US" altLang="ko-KR" dirty="0"/>
              <a:t>”;</a:t>
            </a:r>
            <a:r>
              <a:rPr lang="ko-KR" altLang="en-US" dirty="0"/>
              <a:t> </a:t>
            </a:r>
          </a:p>
          <a:p>
            <a:r>
              <a:rPr lang="en-US" altLang="ko-KR" dirty="0"/>
              <a:t>3) </a:t>
            </a:r>
            <a:r>
              <a:rPr lang="ko-KR" altLang="en-US" dirty="0" err="1"/>
              <a:t>double</a:t>
            </a:r>
            <a:r>
              <a:rPr lang="ko-KR" altLang="en-US" dirty="0"/>
              <a:t> </a:t>
            </a:r>
            <a:r>
              <a:rPr lang="ko-KR" altLang="en-US" dirty="0" err="1"/>
              <a:t>dd</a:t>
            </a:r>
            <a:r>
              <a:rPr lang="ko-KR" altLang="en-US" dirty="0"/>
              <a:t> = 1111222f;  //실수형 숫자임을 명확하게 </a:t>
            </a:r>
            <a:r>
              <a:rPr lang="ko-KR" altLang="en-US" dirty="0" err="1"/>
              <a:t>f</a:t>
            </a:r>
            <a:endParaRPr lang="ko-KR" altLang="en-US" dirty="0"/>
          </a:p>
          <a:p>
            <a:r>
              <a:rPr lang="en-US" altLang="ko-KR" dirty="0"/>
              <a:t>4) </a:t>
            </a:r>
            <a:r>
              <a:rPr lang="ko-KR" altLang="en-US" dirty="0" err="1"/>
              <a:t>float</a:t>
            </a:r>
            <a:r>
              <a:rPr lang="ko-KR" altLang="en-US" dirty="0"/>
              <a:t> </a:t>
            </a:r>
            <a:r>
              <a:rPr lang="ko-KR" altLang="en-US" dirty="0" err="1"/>
              <a:t>ff</a:t>
            </a:r>
            <a:r>
              <a:rPr lang="ko-KR" altLang="en-US" dirty="0"/>
              <a:t>=121231.11f </a:t>
            </a:r>
          </a:p>
          <a:p>
            <a:r>
              <a:rPr lang="en-US" altLang="ko-KR" dirty="0"/>
              <a:t>5) </a:t>
            </a:r>
            <a:r>
              <a:rPr lang="ko-KR" altLang="en-US" dirty="0"/>
              <a:t>"|</a:t>
            </a:r>
            <a:r>
              <a:rPr lang="ko-KR" altLang="en-US" dirty="0" err="1"/>
              <a:t>n</a:t>
            </a:r>
            <a:r>
              <a:rPr lang="ko-KR" altLang="en-US" dirty="0"/>
              <a:t>"//</a:t>
            </a:r>
            <a:r>
              <a:rPr lang="ko-KR" altLang="en-US" dirty="0" err="1"/>
              <a:t>줄바꿈</a:t>
            </a:r>
            <a:r>
              <a:rPr lang="ko-KR" altLang="en-US" dirty="0"/>
              <a:t> "\</a:t>
            </a:r>
            <a:r>
              <a:rPr lang="ko-KR" altLang="en-US" dirty="0" err="1"/>
              <a:t>t</a:t>
            </a:r>
            <a:r>
              <a:rPr lang="ko-KR" altLang="en-US" dirty="0"/>
              <a:t>"//탭 "/"" // 따옴표를 찍어라</a:t>
            </a:r>
          </a:p>
          <a:p>
            <a:r>
              <a:rPr lang="en-US" altLang="ko-KR" dirty="0"/>
              <a:t>6) </a:t>
            </a:r>
            <a:r>
              <a:rPr lang="ko-KR" altLang="en-US" dirty="0"/>
              <a:t>10. //10.0   .1 //0.1의 실수형태</a:t>
            </a:r>
          </a:p>
          <a:p>
            <a:r>
              <a:rPr lang="en-US" altLang="ko-KR" dirty="0"/>
              <a:t>7) </a:t>
            </a:r>
            <a:r>
              <a:rPr lang="ko-KR" altLang="en-US" dirty="0"/>
              <a:t>1011b //이진수 1011</a:t>
            </a:r>
          </a:p>
          <a:p>
            <a:r>
              <a:rPr lang="en-US" altLang="ko-KR" dirty="0"/>
              <a:t>8) </a:t>
            </a:r>
            <a:r>
              <a:rPr lang="ko-KR" altLang="en-US" dirty="0"/>
              <a:t>0xFC //16진수 </a:t>
            </a:r>
            <a:r>
              <a:rPr lang="ko-KR" altLang="en-US" dirty="0" err="1"/>
              <a:t>fc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9) </a:t>
            </a:r>
            <a:r>
              <a:rPr lang="ko-KR" altLang="en-US" dirty="0"/>
              <a:t>1e1 // 1곱하기 10의 1승  1e-1 // 1곱하기 10의 -1승 즉 0.1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04CBB-74EF-A734-2996-FBD07F409765}"/>
              </a:ext>
            </a:extLst>
          </p:cNvPr>
          <p:cNvSpPr txBox="1"/>
          <p:nvPr/>
        </p:nvSpPr>
        <p:spPr>
          <a:xfrm>
            <a:off x="668433" y="1157529"/>
            <a:ext cx="4959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* 일단 생각나는 몇가지 프로그램 표현</a:t>
            </a:r>
          </a:p>
        </p:txBody>
      </p:sp>
    </p:spTree>
    <p:extLst>
      <p:ext uri="{BB962C8B-B14F-4D97-AF65-F5344CB8AC3E}">
        <p14:creationId xmlns:p14="http://schemas.microsoft.com/office/powerpoint/2010/main" val="297777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6" name="Text Box 10"/>
          <p:cNvSpPr txBox="1">
            <a:spLocks noChangeArrowheads="1"/>
          </p:cNvSpPr>
          <p:nvPr/>
        </p:nvSpPr>
        <p:spPr bwMode="auto">
          <a:xfrm>
            <a:off x="776288" y="1156875"/>
            <a:ext cx="75247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변수의 기본값과 초기화</a:t>
            </a:r>
          </a:p>
        </p:txBody>
      </p:sp>
      <p:graphicFrame>
        <p:nvGraphicFramePr>
          <p:cNvPr id="91235" name="Group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95631"/>
              </p:ext>
            </p:extLst>
          </p:nvPr>
        </p:nvGraphicFramePr>
        <p:xfrm>
          <a:off x="854821" y="2803697"/>
          <a:ext cx="3114206" cy="3223897"/>
        </p:xfrm>
        <a:graphic>
          <a:graphicData uri="http://schemas.openxmlformats.org/drawingml/2006/table">
            <a:tbl>
              <a:tblPr/>
              <a:tblGrid>
                <a:gridCol w="1468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자료형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기본값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boolean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‘\u0000’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byte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short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long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float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0.0f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double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0.0d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또는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참조형 변수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1228" name="Text Box 92"/>
          <p:cNvSpPr txBox="1">
            <a:spLocks noChangeArrowheads="1"/>
          </p:cNvSpPr>
          <p:nvPr/>
        </p:nvSpPr>
        <p:spPr bwMode="auto">
          <a:xfrm>
            <a:off x="4221852" y="3104260"/>
            <a:ext cx="2675905" cy="2435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50" dirty="0" err="1">
                <a:latin typeface="돋움" panose="020B0600000101010101" pitchFamily="50" charset="-127"/>
                <a:ea typeface="돋움" panose="020B0600000101010101" pitchFamily="50" charset="-127"/>
              </a:rPr>
              <a:t>boolean</a:t>
            </a: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1050" dirty="0" err="1">
                <a:latin typeface="돋움" panose="020B0600000101010101" pitchFamily="50" charset="-127"/>
                <a:ea typeface="돋움" panose="020B0600000101010101" pitchFamily="50" charset="-127"/>
              </a:rPr>
              <a:t>isGood</a:t>
            </a: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 = false;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char grade = ‘ ‘;  // </a:t>
            </a:r>
            <a:r>
              <a:rPr lang="ko-KR" altLang="en-US" sz="1050" dirty="0">
                <a:latin typeface="돋움" panose="020B0600000101010101" pitchFamily="50" charset="-127"/>
                <a:ea typeface="돋움" panose="020B0600000101010101" pitchFamily="50" charset="-127"/>
              </a:rPr>
              <a:t>공백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byte b = 0;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short s = 0;</a:t>
            </a:r>
          </a:p>
          <a:p>
            <a:pPr>
              <a:spcBef>
                <a:spcPct val="50000"/>
              </a:spcBef>
            </a:pPr>
            <a:r>
              <a:rPr lang="en-US" altLang="ko-KR" sz="1050" dirty="0" err="1">
                <a:latin typeface="돋움" panose="020B0600000101010101" pitchFamily="50" charset="-127"/>
                <a:ea typeface="돋움" panose="020B0600000101010101" pitchFamily="50" charset="-127"/>
              </a:rPr>
              <a:t>int</a:t>
            </a: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1050" dirty="0" err="1">
                <a:latin typeface="돋움" panose="020B0600000101010101" pitchFamily="50" charset="-127"/>
                <a:ea typeface="돋움" panose="020B0600000101010101" pitchFamily="50" charset="-127"/>
              </a:rPr>
              <a:t>i</a:t>
            </a: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 = 0;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long l = 0;   // 0L</a:t>
            </a:r>
            <a:r>
              <a:rPr lang="ko-KR" altLang="en-US" sz="1050" dirty="0">
                <a:latin typeface="돋움" panose="020B0600000101010101" pitchFamily="50" charset="-127"/>
                <a:ea typeface="돋움" panose="020B0600000101010101" pitchFamily="50" charset="-127"/>
              </a:rPr>
              <a:t>로 자동변환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float f = 0;  // 0.0f</a:t>
            </a:r>
            <a:r>
              <a:rPr lang="ko-KR" altLang="en-US" sz="1050" dirty="0">
                <a:latin typeface="돋움" panose="020B0600000101010101" pitchFamily="50" charset="-127"/>
                <a:ea typeface="돋움" panose="020B0600000101010101" pitchFamily="50" charset="-127"/>
              </a:rPr>
              <a:t>로 자동변환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double d = 0; // 0.0</a:t>
            </a:r>
            <a:r>
              <a:rPr lang="ko-KR" altLang="en-US" sz="1050" dirty="0">
                <a:latin typeface="돋움" panose="020B0600000101010101" pitchFamily="50" charset="-127"/>
                <a:ea typeface="돋움" panose="020B0600000101010101" pitchFamily="50" charset="-127"/>
              </a:rPr>
              <a:t>로 자동변환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String s1 = null;</a:t>
            </a:r>
          </a:p>
          <a:p>
            <a:pPr>
              <a:spcBef>
                <a:spcPct val="50000"/>
              </a:spcBef>
            </a:pPr>
            <a:r>
              <a:rPr lang="en-US" altLang="ko-KR" sz="1050" dirty="0">
                <a:latin typeface="돋움" panose="020B0600000101010101" pitchFamily="50" charset="-127"/>
                <a:ea typeface="돋움" panose="020B0600000101010101" pitchFamily="50" charset="-127"/>
              </a:rPr>
              <a:t>String s2 = “”; // </a:t>
            </a:r>
            <a:r>
              <a:rPr lang="ko-KR" altLang="en-US" sz="1050" dirty="0">
                <a:latin typeface="돋움" panose="020B0600000101010101" pitchFamily="50" charset="-127"/>
                <a:ea typeface="돋움" panose="020B0600000101010101" pitchFamily="50" charset="-127"/>
              </a:rPr>
              <a:t>빈 문자열</a:t>
            </a:r>
          </a:p>
        </p:txBody>
      </p:sp>
      <p:sp>
        <p:nvSpPr>
          <p:cNvPr id="91233" name="Text Box 97"/>
          <p:cNvSpPr txBox="1">
            <a:spLocks noChangeArrowheads="1"/>
          </p:cNvSpPr>
          <p:nvPr/>
        </p:nvSpPr>
        <p:spPr bwMode="auto">
          <a:xfrm>
            <a:off x="992188" y="1881188"/>
            <a:ext cx="75612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변수의 초기화 </a:t>
            </a:r>
            <a:r>
              <a:rPr lang="en-US" altLang="ko-KR" sz="1400" dirty="0">
                <a:latin typeface="돋움" panose="020B0600000101010101" pitchFamily="50" charset="-127"/>
                <a:ea typeface="돋움" panose="020B0600000101010101" pitchFamily="50" charset="-127"/>
              </a:rPr>
              <a:t>: </a:t>
            </a:r>
            <a:r>
              <a:rPr lang="ko-KR" altLang="en-US" sz="1400" dirty="0">
                <a:latin typeface="돋움" panose="020B0600000101010101" pitchFamily="50" charset="-127"/>
                <a:ea typeface="돋움" panose="020B0600000101010101" pitchFamily="50" charset="-127"/>
              </a:rPr>
              <a:t>변수에 처음으로 값을 저장하는 것</a:t>
            </a:r>
          </a:p>
        </p:txBody>
      </p:sp>
      <p:sp>
        <p:nvSpPr>
          <p:cNvPr id="91236" name="Text Box 100"/>
          <p:cNvSpPr txBox="1">
            <a:spLocks noChangeArrowheads="1"/>
          </p:cNvSpPr>
          <p:nvPr/>
        </p:nvSpPr>
        <p:spPr bwMode="auto">
          <a:xfrm>
            <a:off x="1028700" y="2384426"/>
            <a:ext cx="72723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dirty="0">
                <a:latin typeface="돋움" panose="020B0600000101010101" pitchFamily="50" charset="-127"/>
                <a:ea typeface="돋움" panose="020B0600000101010101" pitchFamily="50" charset="-127"/>
              </a:rPr>
              <a:t>* </a:t>
            </a:r>
            <a:r>
              <a:rPr lang="ko-KR" altLang="en-US" sz="1200" dirty="0">
                <a:latin typeface="돋움" panose="020B0600000101010101" pitchFamily="50" charset="-127"/>
                <a:ea typeface="돋움" panose="020B0600000101010101" pitchFamily="50" charset="-127"/>
              </a:rPr>
              <a:t>지역변수는 사용되기 전에 반드시 초기화해주어야 한다</a:t>
            </a:r>
            <a:r>
              <a:rPr lang="en-US" altLang="ko-KR" sz="12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초기화 한다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절대 변수의 기본값이 있다라고 생각하지 말고 초기화하자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Loop, sum</a:t>
            </a:r>
            <a:r>
              <a:rPr lang="ko-KR" altLang="en-US" sz="1200" dirty="0"/>
              <a:t>은 초기화 </a:t>
            </a:r>
            <a:r>
              <a:rPr lang="ko-KR" altLang="en-US" sz="1200" dirty="0" err="1"/>
              <a:t>하는거다</a:t>
            </a: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while(1){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=i+1;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}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3600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63" name="Text Box 59"/>
          <p:cNvSpPr txBox="1">
            <a:spLocks noChangeArrowheads="1"/>
          </p:cNvSpPr>
          <p:nvPr/>
        </p:nvSpPr>
        <p:spPr bwMode="auto">
          <a:xfrm>
            <a:off x="668433" y="1248750"/>
            <a:ext cx="6281007" cy="1802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2000" dirty="0" err="1"/>
              <a:t>오버플로우</a:t>
            </a:r>
            <a:endParaRPr lang="en-US" altLang="ko-KR" sz="2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2000" dirty="0"/>
              <a:t>변수의 크기를 초과하는 값이 들어오면 </a:t>
            </a:r>
            <a:r>
              <a:rPr lang="ko-KR" altLang="en-US" sz="2000" dirty="0" err="1"/>
              <a:t>에러발생</a:t>
            </a:r>
            <a:r>
              <a:rPr lang="en-US" altLang="ko-KR" sz="2000" dirty="0"/>
              <a:t>(exception) </a:t>
            </a:r>
            <a:r>
              <a:rPr lang="ko-KR" altLang="en-US" sz="2000" dirty="0"/>
              <a:t>하거나</a:t>
            </a:r>
            <a:r>
              <a:rPr lang="en-US" altLang="ko-KR" sz="2000" dirty="0"/>
              <a:t>,</a:t>
            </a:r>
            <a:r>
              <a:rPr lang="ko-KR" altLang="en-US" sz="2000" dirty="0"/>
              <a:t>프로그램이 죽거나</a:t>
            </a:r>
            <a:r>
              <a:rPr lang="en-US" altLang="ko-KR" sz="2000" dirty="0"/>
              <a:t>, </a:t>
            </a:r>
            <a:r>
              <a:rPr lang="ko-KR" altLang="en-US" sz="2000" dirty="0"/>
              <a:t>예측 가능하지 않은 값이 발생되니 주의하라</a:t>
            </a:r>
            <a:endParaRPr lang="en-US" altLang="ko-KR" sz="2000" dirty="0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오버플로우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변수의 크기를 초과하는 값이 들어오면 에러발생</a:t>
            </a:r>
            <a:r>
              <a:rPr lang="en-US" altLang="ko-KR" sz="1200" dirty="0"/>
              <a:t>(exception) </a:t>
            </a:r>
            <a:r>
              <a:rPr lang="ko-KR" altLang="en-US" sz="1200" dirty="0"/>
              <a:t>하거나</a:t>
            </a:r>
            <a:r>
              <a:rPr lang="en-US" altLang="ko-KR" sz="1200" dirty="0"/>
              <a:t>,</a:t>
            </a:r>
            <a:r>
              <a:rPr lang="ko-KR" altLang="en-US" sz="1200" dirty="0"/>
              <a:t>프로그램이 죽거나</a:t>
            </a:r>
            <a:r>
              <a:rPr lang="en-US" altLang="ko-KR" sz="1200" dirty="0"/>
              <a:t>, </a:t>
            </a:r>
            <a:r>
              <a:rPr lang="ko-KR" altLang="en-US" sz="1200" dirty="0"/>
              <a:t>예측 가능하지 않은 값이 발생되니 주의하라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69840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1316038" y="1160463"/>
            <a:ext cx="7524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ko-KR" altLang="en-US" sz="2400" dirty="0" err="1">
                <a:latin typeface="돋움" panose="020B0600000101010101" pitchFamily="50" charset="-127"/>
                <a:ea typeface="돋움" panose="020B0600000101010101" pitchFamily="50" charset="-127"/>
              </a:rPr>
              <a:t>형변환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(Casting)</a:t>
            </a:r>
          </a:p>
        </p:txBody>
      </p:sp>
      <p:sp>
        <p:nvSpPr>
          <p:cNvPr id="107551" name="Text Box 31"/>
          <p:cNvSpPr txBox="1">
            <a:spLocks noChangeArrowheads="1"/>
          </p:cNvSpPr>
          <p:nvPr/>
        </p:nvSpPr>
        <p:spPr bwMode="auto">
          <a:xfrm>
            <a:off x="652707" y="1858338"/>
            <a:ext cx="23764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800">
                <a:latin typeface="돋움" panose="020B0600000101010101" pitchFamily="50" charset="-127"/>
                <a:ea typeface="돋움" panose="020B0600000101010101" pitchFamily="50" charset="-127"/>
              </a:rPr>
              <a:t>형변환이란</a:t>
            </a:r>
            <a:r>
              <a:rPr lang="en-US" altLang="ko-KR" sz="180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</p:txBody>
      </p:sp>
      <p:sp>
        <p:nvSpPr>
          <p:cNvPr id="107552" name="Text Box 32"/>
          <p:cNvSpPr txBox="1">
            <a:spLocks noChangeArrowheads="1"/>
          </p:cNvSpPr>
          <p:nvPr/>
        </p:nvSpPr>
        <p:spPr bwMode="auto">
          <a:xfrm>
            <a:off x="868607" y="2469526"/>
            <a:ext cx="80645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- </a:t>
            </a:r>
            <a:r>
              <a:rPr lang="ko-KR" altLang="en-US" sz="1400">
                <a:latin typeface="돋움" panose="020B0600000101010101" pitchFamily="50" charset="-127"/>
                <a:ea typeface="돋움" panose="020B0600000101010101" pitchFamily="50" charset="-127"/>
              </a:rPr>
              <a:t>값의 타입을 다른 타입으로 변환하는 것이다</a:t>
            </a: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graphicFrame>
        <p:nvGraphicFramePr>
          <p:cNvPr id="107591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337809"/>
              </p:ext>
            </p:extLst>
          </p:nvPr>
        </p:nvGraphicFramePr>
        <p:xfrm>
          <a:off x="731561" y="4181338"/>
          <a:ext cx="5050785" cy="1908176"/>
        </p:xfrm>
        <a:graphic>
          <a:graphicData uri="http://schemas.openxmlformats.org/drawingml/2006/table">
            <a:tbl>
              <a:tblPr/>
              <a:tblGrid>
                <a:gridCol w="1684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변 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 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결 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int → 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(char)65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‘A’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char → 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(int)‘A’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float → 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(int)1.6f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int → float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(float)10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10.0f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593" name="Text Box 73"/>
          <p:cNvSpPr txBox="1">
            <a:spLocks noChangeArrowheads="1"/>
          </p:cNvSpPr>
          <p:nvPr/>
        </p:nvSpPr>
        <p:spPr bwMode="auto">
          <a:xfrm>
            <a:off x="216982" y="3274323"/>
            <a:ext cx="5184775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float f = 1.6f;</a:t>
            </a:r>
          </a:p>
          <a:p>
            <a:pPr algn="ctr">
              <a:spcBef>
                <a:spcPct val="50000"/>
              </a:spcBef>
            </a:pP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int i = (int)f;</a:t>
            </a:r>
          </a:p>
        </p:txBody>
      </p:sp>
      <p:sp>
        <p:nvSpPr>
          <p:cNvPr id="107594" name="Text Box 74"/>
          <p:cNvSpPr txBox="1">
            <a:spLocks noChangeArrowheads="1"/>
          </p:cNvSpPr>
          <p:nvPr/>
        </p:nvSpPr>
        <p:spPr bwMode="auto">
          <a:xfrm>
            <a:off x="868607" y="2901326"/>
            <a:ext cx="77406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- boolean</a:t>
            </a:r>
            <a:r>
              <a:rPr lang="ko-KR" altLang="en-US" sz="1400">
                <a:latin typeface="돋움" panose="020B0600000101010101" pitchFamily="50" charset="-127"/>
                <a:ea typeface="돋움" panose="020B0600000101010101" pitchFamily="50" charset="-127"/>
              </a:rPr>
              <a:t>을 제외한 </a:t>
            </a: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7</a:t>
            </a:r>
            <a:r>
              <a:rPr lang="ko-KR" altLang="en-US" sz="1400">
                <a:latin typeface="돋움" panose="020B0600000101010101" pitchFamily="50" charset="-127"/>
                <a:ea typeface="돋움" panose="020B0600000101010101" pitchFamily="50" charset="-127"/>
              </a:rPr>
              <a:t>개의 기본형은 서로 형변환이 가능하다</a:t>
            </a:r>
            <a:r>
              <a:rPr lang="en-US" altLang="ko-KR" sz="140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타입 </a:t>
            </a:r>
            <a:r>
              <a:rPr lang="ko-KR" altLang="en-US" sz="1600" dirty="0" err="1"/>
              <a:t>케스팅</a:t>
            </a:r>
            <a:r>
              <a:rPr lang="en-US" altLang="ko-KR" sz="1600" dirty="0"/>
              <a:t>(Type Casting)</a:t>
            </a:r>
            <a:r>
              <a:rPr lang="ko-KR" altLang="en-US" sz="1600" dirty="0"/>
              <a:t>이다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문자</a:t>
            </a:r>
            <a:r>
              <a:rPr lang="en-US" altLang="ko-KR" sz="1200" dirty="0"/>
              <a:t>,</a:t>
            </a:r>
            <a:r>
              <a:rPr lang="ko-KR" altLang="en-US" sz="1200" dirty="0"/>
              <a:t>숫자간 변환은 저렇게 쓰면 헷갈린다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다음 장</a:t>
            </a:r>
            <a:r>
              <a:rPr lang="en-US" altLang="ko-KR" sz="1200" dirty="0"/>
              <a:t> </a:t>
            </a:r>
            <a:r>
              <a:rPr lang="ko-KR" altLang="en-US" sz="1200" dirty="0"/>
              <a:t>예제를 보자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숫자형은</a:t>
            </a:r>
            <a:r>
              <a:rPr lang="ko-KR" altLang="en-US" sz="1200" dirty="0"/>
              <a:t> 크기에</a:t>
            </a:r>
            <a:r>
              <a:rPr lang="en-US" altLang="ko-KR" sz="1200" dirty="0"/>
              <a:t> </a:t>
            </a:r>
            <a:r>
              <a:rPr lang="ko-KR" altLang="en-US" sz="1200" dirty="0"/>
              <a:t>주의하고 잘림을 유의해라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4558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매우 중요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문자로 선언한걸 연산처리를 하려면 숫자형태로 바꿔서 하고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숫자로 처리 </a:t>
            </a:r>
            <a:r>
              <a:rPr lang="ko-KR" altLang="en-US" sz="1200" dirty="0" err="1"/>
              <a:t>한것에</a:t>
            </a:r>
            <a:r>
              <a:rPr lang="ko-KR" altLang="en-US" sz="1200" dirty="0"/>
              <a:t> 문자열을 붙이려면 문자로 </a:t>
            </a:r>
            <a:r>
              <a:rPr lang="ko-KR" altLang="en-US" sz="1200" dirty="0" err="1"/>
              <a:t>고친후</a:t>
            </a:r>
            <a:r>
              <a:rPr lang="ko-KR" altLang="en-US" sz="1200" dirty="0"/>
              <a:t> 해라</a:t>
            </a:r>
            <a:endParaRPr lang="en-US" altLang="ko-KR" sz="1200" dirty="0"/>
          </a:p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endParaRPr lang="en-US" altLang="ko-KR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464" y="3931236"/>
            <a:ext cx="4610100" cy="25241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8" y="730876"/>
            <a:ext cx="6121946" cy="310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727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364211" y="927543"/>
            <a:ext cx="941150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정리 </a:t>
            </a:r>
            <a:r>
              <a:rPr lang="en-US" altLang="ko-KR" sz="1600" dirty="0"/>
              <a:t>(</a:t>
            </a:r>
            <a:r>
              <a:rPr lang="ko-KR" altLang="en-US" sz="1600" dirty="0"/>
              <a:t>필기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변수는 </a:t>
            </a:r>
            <a:r>
              <a:rPr lang="en-US" altLang="ko-KR" sz="1200" dirty="0"/>
              <a:t>1)</a:t>
            </a:r>
            <a:r>
              <a:rPr lang="ko-KR" altLang="en-US" sz="1200" dirty="0"/>
              <a:t>선언</a:t>
            </a:r>
            <a:r>
              <a:rPr lang="en-US" altLang="ko-KR" sz="1200" dirty="0"/>
              <a:t> </a:t>
            </a:r>
            <a:r>
              <a:rPr lang="ko-KR" altLang="en-US" sz="1200" dirty="0"/>
              <a:t>필요 </a:t>
            </a:r>
            <a:r>
              <a:rPr lang="en-US" altLang="ko-KR" sz="1200" dirty="0"/>
              <a:t>2)</a:t>
            </a:r>
            <a:r>
              <a:rPr lang="ko-KR" altLang="en-US" sz="1200" dirty="0"/>
              <a:t>타입</a:t>
            </a:r>
            <a:r>
              <a:rPr lang="en-US" altLang="ko-KR" sz="1200" dirty="0"/>
              <a:t>(</a:t>
            </a:r>
            <a:r>
              <a:rPr lang="ko-KR" altLang="en-US" sz="1200" dirty="0"/>
              <a:t>숫자</a:t>
            </a:r>
            <a:r>
              <a:rPr lang="en-US" altLang="ko-KR" sz="1200" dirty="0"/>
              <a:t>,</a:t>
            </a:r>
            <a:r>
              <a:rPr lang="ko-KR" altLang="en-US" sz="1200" dirty="0"/>
              <a:t>문자</a:t>
            </a:r>
            <a:r>
              <a:rPr lang="en-US" altLang="ko-KR" sz="1200" dirty="0"/>
              <a:t>)</a:t>
            </a:r>
            <a:r>
              <a:rPr lang="ko-KR" altLang="en-US" sz="1200" dirty="0"/>
              <a:t>정의 </a:t>
            </a:r>
            <a:r>
              <a:rPr lang="en-US" altLang="ko-KR" sz="1200" dirty="0"/>
              <a:t>3)</a:t>
            </a:r>
            <a:r>
              <a:rPr lang="ko-KR" altLang="en-US" sz="1200" dirty="0"/>
              <a:t>제한사항</a:t>
            </a:r>
            <a:r>
              <a:rPr lang="en-US" altLang="ko-KR" sz="1200" dirty="0"/>
              <a:t>(</a:t>
            </a:r>
            <a:r>
              <a:rPr lang="ko-KR" altLang="en-US" sz="1200" dirty="0"/>
              <a:t>길이</a:t>
            </a:r>
            <a:r>
              <a:rPr lang="en-US" altLang="ko-KR" sz="1200" dirty="0"/>
              <a:t>,</a:t>
            </a:r>
            <a:r>
              <a:rPr lang="ko-KR" altLang="en-US" sz="1200" dirty="0"/>
              <a:t>사용법</a:t>
            </a:r>
            <a:r>
              <a:rPr lang="en-US" altLang="ko-KR" sz="1200" dirty="0"/>
              <a:t>,</a:t>
            </a:r>
            <a:r>
              <a:rPr lang="ko-KR" altLang="en-US" sz="1200" dirty="0"/>
              <a:t>지역전역</a:t>
            </a:r>
            <a:r>
              <a:rPr lang="en-US" altLang="ko-KR" sz="1200" dirty="0"/>
              <a:t>,static/</a:t>
            </a:r>
            <a:r>
              <a:rPr lang="en-US" altLang="ko-KR" sz="1200" dirty="0" err="1"/>
              <a:t>danamic</a:t>
            </a:r>
            <a:r>
              <a:rPr lang="en-US" altLang="ko-KR" sz="1200" dirty="0"/>
              <a:t>)</a:t>
            </a:r>
            <a:r>
              <a:rPr lang="ko-KR" altLang="en-US" sz="1200" dirty="0"/>
              <a:t>지키기 </a:t>
            </a:r>
            <a:r>
              <a:rPr lang="en-US" altLang="ko-KR" sz="1200" dirty="0"/>
              <a:t>4)type casting </a:t>
            </a:r>
            <a:r>
              <a:rPr lang="ko-KR" altLang="en-US" sz="1200" dirty="0"/>
              <a:t>주의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 dirty="0"/>
              <a:t>기본으로</a:t>
            </a:r>
            <a:r>
              <a:rPr lang="en-US" altLang="ko-KR" sz="1200" u="sng" dirty="0"/>
              <a:t> </a:t>
            </a:r>
            <a:r>
              <a:rPr lang="ko-KR" altLang="en-US" sz="1200" u="sng" dirty="0"/>
              <a:t> </a:t>
            </a:r>
            <a:r>
              <a:rPr lang="en-US" altLang="ko-KR" sz="1200" u="sng" dirty="0"/>
              <a:t>char, </a:t>
            </a:r>
            <a:r>
              <a:rPr lang="en-US" altLang="ko-KR" sz="1200" u="sng" dirty="0" err="1"/>
              <a:t>int</a:t>
            </a:r>
            <a:r>
              <a:rPr lang="ko-KR" altLang="en-US" sz="1200" u="sng" dirty="0"/>
              <a:t>로 선언</a:t>
            </a:r>
            <a:endParaRPr lang="en-US" altLang="ko-KR" sz="1200" u="sng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숫자가 크면 </a:t>
            </a:r>
            <a:r>
              <a:rPr lang="en-US" altLang="ko-KR" sz="1200" dirty="0"/>
              <a:t>long, </a:t>
            </a:r>
            <a:r>
              <a:rPr lang="ko-KR" altLang="en-US" sz="1200" dirty="0" err="1"/>
              <a:t>더크면</a:t>
            </a:r>
            <a:r>
              <a:rPr lang="ko-KR" altLang="en-US" sz="1200" dirty="0"/>
              <a:t> </a:t>
            </a:r>
            <a:r>
              <a:rPr lang="en-US" altLang="ko-KR" sz="1200" dirty="0"/>
              <a:t>double, </a:t>
            </a:r>
            <a:r>
              <a:rPr lang="ko-KR" altLang="en-US" sz="1200" dirty="0"/>
              <a:t>공학계산은</a:t>
            </a:r>
            <a:r>
              <a:rPr lang="en-US" altLang="ko-KR" sz="1200" dirty="0"/>
              <a:t> </a:t>
            </a:r>
            <a:r>
              <a:rPr lang="ko-KR" altLang="en-US" sz="1200" dirty="0"/>
              <a:t> </a:t>
            </a:r>
            <a:r>
              <a:rPr lang="en-US" altLang="ko-KR" sz="1200" dirty="0"/>
              <a:t>float, short</a:t>
            </a:r>
            <a:r>
              <a:rPr lang="ko-KR" altLang="en-US" sz="1200" dirty="0"/>
              <a:t>는 빠른 연산이 필요 시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문자 하나 하나는 </a:t>
            </a:r>
            <a:r>
              <a:rPr lang="en-US" altLang="ko-KR" sz="1200" dirty="0"/>
              <a:t>char, </a:t>
            </a:r>
            <a:r>
              <a:rPr lang="ko-KR" altLang="en-US" sz="1200" dirty="0"/>
              <a:t>문자열은 </a:t>
            </a:r>
            <a:r>
              <a:rPr lang="en-US" altLang="ko-KR" sz="1200" dirty="0"/>
              <a:t>String, </a:t>
            </a:r>
            <a:r>
              <a:rPr lang="ko-KR" altLang="en-US" sz="1200" dirty="0"/>
              <a:t>이진코드</a:t>
            </a:r>
            <a:r>
              <a:rPr lang="en-US" altLang="ko-KR" sz="1200" dirty="0"/>
              <a:t>/</a:t>
            </a:r>
            <a:r>
              <a:rPr lang="ko-KR" altLang="en-US" sz="1200" dirty="0"/>
              <a:t>한글처리 등은 </a:t>
            </a:r>
            <a:r>
              <a:rPr lang="en-US" altLang="ko-KR" sz="1200" dirty="0"/>
              <a:t>byte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Loop, sum </a:t>
            </a:r>
            <a:r>
              <a:rPr lang="ko-KR" altLang="en-US" sz="1200" dirty="0"/>
              <a:t>처리시 반드시 초기화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문자형으로</a:t>
            </a:r>
            <a:r>
              <a:rPr lang="ko-KR" altLang="en-US" sz="1200" dirty="0"/>
              <a:t> 선언하면 문자처리로 쓰고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숫자형으로</a:t>
            </a:r>
            <a:r>
              <a:rPr lang="ko-KR" altLang="en-US" sz="1200" dirty="0"/>
              <a:t> 선언하면 숫자계산에 써라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부득이 다른 형태 사용 시 형 변환 </a:t>
            </a:r>
            <a:r>
              <a:rPr lang="en-US" altLang="ko-KR" sz="1200" dirty="0"/>
              <a:t>1) </a:t>
            </a:r>
            <a:r>
              <a:rPr lang="en-US" altLang="ko-KR" sz="1200" dirty="0" err="1"/>
              <a:t>Integer.parseInt</a:t>
            </a:r>
            <a:r>
              <a:rPr lang="en-US" altLang="ko-KR" sz="1200" dirty="0"/>
              <a:t>(“12345”) 2)</a:t>
            </a:r>
            <a:r>
              <a:rPr lang="en-US" altLang="ko-KR" sz="1200" dirty="0" err="1"/>
              <a:t>String.format</a:t>
            </a:r>
            <a:r>
              <a:rPr lang="en-US" altLang="ko-KR" sz="1200" dirty="0"/>
              <a:t>(“%d”,12345);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변수의 크기를 초과하는 값이 들어오면 안되니 </a:t>
            </a:r>
            <a:r>
              <a:rPr lang="en-US" altLang="ko-KR" sz="1200" dirty="0"/>
              <a:t>, </a:t>
            </a:r>
            <a:r>
              <a:rPr lang="ko-KR" altLang="en-US" sz="1200" dirty="0"/>
              <a:t>결과를 예측하여 크기 큰 변수를 사용하든지</a:t>
            </a:r>
            <a:r>
              <a:rPr lang="en-US" altLang="ko-KR" sz="1200" dirty="0"/>
              <a:t>, </a:t>
            </a:r>
            <a:r>
              <a:rPr lang="ko-KR" altLang="en-US" sz="1200" dirty="0"/>
              <a:t>에러처리를 할 것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9238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실습규칙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기본</a:t>
            </a:r>
            <a:r>
              <a:rPr lang="en-US" altLang="ko-KR" sz="1050" dirty="0"/>
              <a:t>(</a:t>
            </a:r>
            <a:r>
              <a:rPr lang="ko-KR" altLang="en-US" sz="1050" dirty="0"/>
              <a:t>★</a:t>
            </a:r>
            <a:r>
              <a:rPr lang="en-US" altLang="ko-KR" sz="1050" dirty="0"/>
              <a:t>)</a:t>
            </a:r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/>
              <a:t>맨 앞에 코멘트 반드시 적는 버릇</a:t>
            </a:r>
            <a:r>
              <a:rPr lang="en-US" altLang="ko-KR" sz="1050" dirty="0"/>
              <a:t>. </a:t>
            </a:r>
            <a:r>
              <a:rPr lang="ko-KR" altLang="en-US" sz="1050" dirty="0"/>
              <a:t>다른 사람이 내 소스를 잘 이해할 수 있도록 하는 최소한의 예의 </a:t>
            </a:r>
            <a:r>
              <a:rPr lang="en-US" altLang="ko-KR" sz="1050" dirty="0"/>
              <a:t>(</a:t>
            </a:r>
            <a:r>
              <a:rPr lang="ko-KR" altLang="en-US" sz="1050" dirty="0"/>
              <a:t>제목</a:t>
            </a:r>
            <a:r>
              <a:rPr lang="en-US" altLang="ko-KR" sz="1050" dirty="0"/>
              <a:t>,</a:t>
            </a:r>
            <a:r>
              <a:rPr lang="ko-KR" altLang="en-US" sz="1050" dirty="0"/>
              <a:t>날짜</a:t>
            </a:r>
            <a:r>
              <a:rPr lang="en-US" altLang="ko-KR" sz="1050" dirty="0"/>
              <a:t>,</a:t>
            </a:r>
            <a:r>
              <a:rPr lang="ko-KR" altLang="en-US" sz="1050" dirty="0"/>
              <a:t>저자</a:t>
            </a:r>
            <a:r>
              <a:rPr lang="en-US" altLang="ko-KR" sz="1050" dirty="0"/>
              <a:t>,</a:t>
            </a:r>
            <a:r>
              <a:rPr lang="ko-KR" altLang="en-US" sz="1050" dirty="0"/>
              <a:t>코멘트</a:t>
            </a:r>
            <a:r>
              <a:rPr lang="en-US" altLang="ko-KR" sz="1050" dirty="0"/>
              <a:t>)</a:t>
            </a:r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/>
              <a:t>모든 변수</a:t>
            </a:r>
            <a:r>
              <a:rPr lang="en-US" altLang="ko-KR" sz="1050" dirty="0"/>
              <a:t>(</a:t>
            </a:r>
            <a:r>
              <a:rPr lang="ko-KR" altLang="en-US" sz="1050" dirty="0"/>
              <a:t>개발자정의 클래스</a:t>
            </a:r>
            <a:r>
              <a:rPr lang="en-US" altLang="ko-KR" sz="1050" dirty="0"/>
              <a:t>,</a:t>
            </a:r>
            <a:r>
              <a:rPr lang="ko-KR" altLang="en-US" sz="1050" dirty="0"/>
              <a:t>함수포함</a:t>
            </a:r>
            <a:r>
              <a:rPr lang="en-US" altLang="ko-KR" sz="1050" dirty="0"/>
              <a:t>)</a:t>
            </a:r>
            <a:r>
              <a:rPr lang="ko-KR" altLang="en-US" sz="1050" dirty="0"/>
              <a:t>는 앞에 학번 접두사</a:t>
            </a:r>
            <a:r>
              <a:rPr lang="en-US" altLang="ko-KR" sz="1050" dirty="0"/>
              <a:t>(k01_)</a:t>
            </a:r>
            <a:r>
              <a:rPr lang="ko-KR" altLang="en-US" sz="1050" dirty="0"/>
              <a:t>을 붙일 것</a:t>
            </a:r>
            <a:endParaRPr lang="en-US" altLang="ko-KR" sz="1050" dirty="0"/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 err="1"/>
              <a:t>이클립스의</a:t>
            </a:r>
            <a:r>
              <a:rPr lang="ko-KR" altLang="en-US" sz="1050" dirty="0"/>
              <a:t> 해당 소스와 결과를 </a:t>
            </a:r>
            <a:r>
              <a:rPr lang="ko-KR" altLang="en-US" sz="1050" dirty="0" err="1"/>
              <a:t>캡쳐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중요한 소스</a:t>
            </a:r>
            <a:r>
              <a:rPr lang="en-US" altLang="ko-KR" sz="1050" dirty="0"/>
              <a:t> (</a:t>
            </a:r>
            <a:r>
              <a:rPr lang="ko-KR" altLang="en-US" sz="1050" dirty="0"/>
              <a:t>★★</a:t>
            </a:r>
            <a:r>
              <a:rPr lang="en-US" altLang="ko-KR" sz="1050" dirty="0"/>
              <a:t>)</a:t>
            </a:r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/>
              <a:t>기본</a:t>
            </a:r>
            <a:r>
              <a:rPr lang="en-US" altLang="ko-KR" sz="1050" dirty="0"/>
              <a:t>+ </a:t>
            </a:r>
            <a:r>
              <a:rPr lang="ko-KR" altLang="en-US" sz="1050" dirty="0"/>
              <a:t>매 줄마다 설명을 달 것</a:t>
            </a:r>
            <a:endParaRPr lang="en-US" altLang="ko-KR" sz="1050" dirty="0"/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/>
              <a:t>검증할 수 없지만</a:t>
            </a:r>
            <a:r>
              <a:rPr lang="en-US" altLang="ko-KR" sz="1050" dirty="0"/>
              <a:t>, </a:t>
            </a:r>
            <a:r>
              <a:rPr lang="ko-KR" altLang="en-US" sz="1050" dirty="0"/>
              <a:t>예제 파일을 복사하여 붙여 넣지 말고 하나하나 타자를 칠 것</a:t>
            </a:r>
            <a:r>
              <a:rPr lang="en-US" altLang="ko-KR" sz="1050" dirty="0"/>
              <a:t>( </a:t>
            </a:r>
            <a:r>
              <a:rPr lang="ko-KR" altLang="en-US" sz="1050" dirty="0"/>
              <a:t>걸리면 죽어</a:t>
            </a:r>
            <a:r>
              <a:rPr lang="en-US" altLang="ko-KR" sz="1050" dirty="0"/>
              <a:t>, </a:t>
            </a:r>
            <a:r>
              <a:rPr lang="ko-KR" altLang="en-US" sz="1050" dirty="0"/>
              <a:t>모든 실습을 </a:t>
            </a:r>
            <a:r>
              <a:rPr lang="ko-KR" altLang="en-US" sz="1050" dirty="0" err="1"/>
              <a:t>삐닥하게</a:t>
            </a:r>
            <a:r>
              <a:rPr lang="ko-KR" altLang="en-US" sz="1050" dirty="0"/>
              <a:t> 채점할 것임</a:t>
            </a:r>
            <a:r>
              <a:rPr lang="en-US" altLang="ko-KR" sz="1050" dirty="0"/>
              <a:t>)</a:t>
            </a:r>
          </a:p>
          <a:p>
            <a:pPr marL="228600" indent="-22860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AutoNum type="arabicParenR"/>
            </a:pPr>
            <a:r>
              <a:rPr lang="ko-KR" altLang="en-US" sz="1050" dirty="0" err="1"/>
              <a:t>이클립스의</a:t>
            </a:r>
            <a:r>
              <a:rPr lang="ko-KR" altLang="en-US" sz="1050" dirty="0"/>
              <a:t> 해당 소스와 결과를 </a:t>
            </a:r>
            <a:r>
              <a:rPr lang="ko-KR" altLang="en-US" sz="1050" dirty="0" err="1"/>
              <a:t>캡쳐</a:t>
            </a:r>
            <a:endParaRPr lang="en-US" altLang="ko-KR" sz="105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더 중요한 소스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marL="228600" indent="-22860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050" dirty="0"/>
              <a:t>중요한 소스 수준의 프로그램 실습 후</a:t>
            </a:r>
            <a:r>
              <a:rPr lang="en-US" altLang="ko-KR" sz="1050" dirty="0"/>
              <a:t>, </a:t>
            </a:r>
            <a:r>
              <a:rPr lang="ko-KR" altLang="en-US" sz="1050" dirty="0"/>
              <a:t>해당 소스를 자필로 스스로 적을 것</a:t>
            </a:r>
            <a:r>
              <a:rPr lang="en-US" altLang="ko-KR" sz="1050" dirty="0"/>
              <a:t>(</a:t>
            </a:r>
            <a:r>
              <a:rPr lang="ko-KR" altLang="en-US" sz="1050" dirty="0"/>
              <a:t>프로그램을 이해하며 느끼며 작성</a:t>
            </a:r>
            <a:r>
              <a:rPr lang="en-US" altLang="ko-KR" sz="1050" dirty="0"/>
              <a:t>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91" y="1539455"/>
            <a:ext cx="5420239" cy="349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7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VarEx1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교수설명 생략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956495"/>
            <a:ext cx="6052367" cy="239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40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VarEx2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각 줄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값 </a:t>
            </a:r>
            <a:r>
              <a:rPr lang="ko-KR" altLang="en-US" sz="1050" dirty="0" err="1"/>
              <a:t>교환시</a:t>
            </a:r>
            <a:r>
              <a:rPr lang="ko-KR" altLang="en-US" sz="1050" dirty="0"/>
              <a:t> 중간</a:t>
            </a:r>
            <a:r>
              <a:rPr lang="en-US" altLang="ko-KR" sz="1050" dirty="0" err="1"/>
              <a:t>tmp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1" y="1220896"/>
            <a:ext cx="6203939" cy="36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45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StringEx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교수설명 생략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프로그램</a:t>
            </a:r>
            <a:r>
              <a:rPr lang="en-US" altLang="ko-KR" sz="1050" dirty="0"/>
              <a:t> </a:t>
            </a:r>
            <a:r>
              <a:rPr lang="ko-KR" altLang="en-US" sz="1050" dirty="0"/>
              <a:t>구현 시 두 번째 줄 같이 </a:t>
            </a:r>
            <a:r>
              <a:rPr lang="en-US" altLang="ko-KR" sz="1050" dirty="0"/>
              <a:t>[String </a:t>
            </a:r>
            <a:r>
              <a:rPr lang="en-US" altLang="ko-KR" sz="1050" dirty="0" err="1"/>
              <a:t>str</a:t>
            </a:r>
            <a:r>
              <a:rPr lang="en-US" altLang="ko-KR" sz="1050" dirty="0"/>
              <a:t>  = name + 8.0;] </a:t>
            </a:r>
            <a:r>
              <a:rPr lang="ko-KR" altLang="en-US" sz="1050" dirty="0"/>
              <a:t>이렇게 사용하다간 </a:t>
            </a:r>
            <a:r>
              <a:rPr lang="ko-KR" altLang="en-US" sz="1050" dirty="0" err="1"/>
              <a:t>귓방망이</a:t>
            </a:r>
            <a:r>
              <a:rPr lang="ko-KR" altLang="en-US" sz="1050" dirty="0"/>
              <a:t> 날라감</a:t>
            </a:r>
            <a:r>
              <a:rPr lang="en-US" altLang="ko-KR" sz="105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[String </a:t>
            </a:r>
            <a:r>
              <a:rPr lang="en-US" altLang="ko-KR" sz="1050" dirty="0" err="1"/>
              <a:t>str</a:t>
            </a:r>
            <a:r>
              <a:rPr lang="en-US" altLang="ko-KR" sz="1050" dirty="0"/>
              <a:t>  = name + “8.0”;] </a:t>
            </a:r>
            <a:r>
              <a:rPr lang="ko-KR" altLang="en-US" sz="1050" dirty="0"/>
              <a:t>이렇게 명확하게 써라</a:t>
            </a:r>
            <a:r>
              <a:rPr lang="en-US" altLang="ko-KR" sz="1050" dirty="0"/>
              <a:t>. </a:t>
            </a:r>
            <a:r>
              <a:rPr lang="ko-KR" altLang="en-US" sz="1050" dirty="0" err="1"/>
              <a:t>애러나고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안나고</a:t>
            </a:r>
            <a:r>
              <a:rPr lang="ko-KR" altLang="en-US" sz="1050" dirty="0"/>
              <a:t> 가 </a:t>
            </a:r>
            <a:r>
              <a:rPr lang="ko-KR" altLang="en-US" sz="1050" dirty="0" err="1"/>
              <a:t>중요한게</a:t>
            </a:r>
            <a:r>
              <a:rPr lang="ko-KR" altLang="en-US" sz="1050" dirty="0"/>
              <a:t> 아님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33" y="1317523"/>
            <a:ext cx="578167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05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SpecialCharEx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각 줄 설명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원표시</a:t>
            </a:r>
            <a:r>
              <a:rPr lang="en-US" altLang="ko-KR" sz="1050" dirty="0"/>
              <a:t>(\)</a:t>
            </a:r>
            <a:r>
              <a:rPr lang="ko-KR" altLang="en-US" sz="1050" dirty="0"/>
              <a:t>와 함께 사용되는 특별한 경우를 생각할 것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실습결과 필기 시 각 줄 옆에 내용까지 음미하면서 적는다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" y="1219361"/>
            <a:ext cx="5450762" cy="170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3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ScannerEx</a:t>
            </a:r>
            <a:r>
              <a:rPr lang="en-US" altLang="ko-KR" sz="1600" dirty="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각줄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이클립스에서</a:t>
            </a:r>
            <a:r>
              <a:rPr lang="ko-KR" altLang="en-US" sz="1050" dirty="0"/>
              <a:t> </a:t>
            </a:r>
            <a:r>
              <a:rPr lang="en-US" altLang="ko-KR" sz="1050" dirty="0"/>
              <a:t>scanner</a:t>
            </a:r>
            <a:r>
              <a:rPr lang="ko-KR" altLang="en-US" sz="1050" dirty="0"/>
              <a:t>클래스를 사용하기 위하여 도움말을 이용하여 코딩하고</a:t>
            </a:r>
            <a:r>
              <a:rPr lang="en-US" altLang="ko-KR" sz="1050" dirty="0"/>
              <a:t>, import</a:t>
            </a:r>
            <a:r>
              <a:rPr lang="ko-KR" altLang="en-US" sz="1050" dirty="0"/>
              <a:t>를 자동으로 붙이는 방법 설명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단 별은 하나지만 해당 소스를 카피해 오지 말고 직접 하나하나 타이핑 </a:t>
            </a:r>
            <a:r>
              <a:rPr lang="ko-KR" altLang="en-US" sz="1050" dirty="0" err="1"/>
              <a:t>해볼것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%n </a:t>
            </a:r>
            <a:r>
              <a:rPr lang="ko-KR" altLang="en-US" sz="1050" dirty="0"/>
              <a:t>은 </a:t>
            </a:r>
            <a:r>
              <a:rPr lang="en-US" altLang="ko-KR" sz="1050" dirty="0"/>
              <a:t>\n</a:t>
            </a:r>
            <a:r>
              <a:rPr lang="ko-KR" altLang="en-US" sz="1050" dirty="0"/>
              <a:t>과 같지만 실무에서는 관습적으로 </a:t>
            </a:r>
            <a:r>
              <a:rPr lang="en-US" altLang="ko-KR" sz="1050" dirty="0"/>
              <a:t>\n</a:t>
            </a:r>
            <a:r>
              <a:rPr lang="ko-KR" altLang="en-US" sz="1050" dirty="0"/>
              <a:t>을 많이 사용한다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1" y="1184086"/>
            <a:ext cx="5770862" cy="270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72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PrintfEx1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각줄 및 결과 설명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노가다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2" y="1057517"/>
            <a:ext cx="6369311" cy="378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93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PrintfEx2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각줄 및 결과 설명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노가다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538287"/>
            <a:ext cx="5641963" cy="38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62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OverflowEx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교수설명 생략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뭐야</a:t>
            </a:r>
            <a:r>
              <a:rPr lang="en-US" altLang="ko-KR" sz="1050" dirty="0"/>
              <a:t>..</a:t>
            </a:r>
            <a:r>
              <a:rPr lang="ko-KR" altLang="en-US" sz="1050" dirty="0"/>
              <a:t>이건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marL="285750" lvl="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FloatToBinEx</a:t>
            </a:r>
            <a:endParaRPr lang="en-US" altLang="ko-KR" sz="1600" dirty="0"/>
          </a:p>
          <a:p>
            <a:pPr marL="285750" lvl="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FloatEx1</a:t>
            </a:r>
          </a:p>
          <a:p>
            <a:pPr marL="285750" lvl="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 err="1"/>
              <a:t>CharToCode</a:t>
            </a:r>
            <a:endParaRPr kumimoji="0" lang="en-US" altLang="ko-KR" sz="1600" dirty="0">
              <a:solidFill>
                <a:srgbClr val="221F1F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67" y="1232680"/>
            <a:ext cx="5801907" cy="318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84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CastingEx1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짤림현상</a:t>
            </a:r>
            <a:r>
              <a:rPr lang="ko-KR" altLang="en-US" sz="1050" dirty="0"/>
              <a:t>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숫자형태끼리는 자주 사용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4" y="1101832"/>
            <a:ext cx="5934692" cy="222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79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CastingEx2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숫자형을</a:t>
            </a:r>
            <a:r>
              <a:rPr lang="ko-KR" altLang="en-US" sz="1050" dirty="0"/>
              <a:t> 바이트로 바꾸는 경우는 특수한 경우 </a:t>
            </a:r>
            <a:r>
              <a:rPr lang="en-US" altLang="ko-KR" sz="1050" dirty="0"/>
              <a:t>(Unix&lt;-&gt;PC</a:t>
            </a:r>
            <a:r>
              <a:rPr lang="ko-KR" altLang="en-US" sz="1050" dirty="0"/>
              <a:t>등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36" y="1312351"/>
            <a:ext cx="6329017" cy="37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32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CastingEx3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딱히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%20.20d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%+20.18f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95" y="1218231"/>
            <a:ext cx="6166515" cy="265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77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334170" y="927543"/>
            <a:ext cx="2441544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class VarEx2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 ★ 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교수 설명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딱히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 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6477337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92" y="1181100"/>
            <a:ext cx="5887913" cy="38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44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35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변수는 </a:t>
            </a:r>
            <a:r>
              <a:rPr lang="en-US" altLang="ko-KR" sz="1100" dirty="0"/>
              <a:t>1)</a:t>
            </a:r>
            <a:r>
              <a:rPr lang="ko-KR" altLang="en-US" sz="1100" dirty="0"/>
              <a:t>선언 필요 </a:t>
            </a:r>
            <a:r>
              <a:rPr lang="en-US" altLang="ko-KR" sz="1100" dirty="0"/>
              <a:t>2)</a:t>
            </a:r>
            <a:r>
              <a:rPr lang="ko-KR" altLang="en-US" sz="1100" dirty="0"/>
              <a:t>타입</a:t>
            </a:r>
            <a:r>
              <a:rPr lang="en-US" altLang="ko-KR" sz="1100" dirty="0"/>
              <a:t>(</a:t>
            </a:r>
            <a:r>
              <a:rPr lang="ko-KR" altLang="en-US" sz="1100" dirty="0"/>
              <a:t>숫자</a:t>
            </a:r>
            <a:r>
              <a:rPr lang="en-US" altLang="ko-KR" sz="1100" dirty="0"/>
              <a:t>,</a:t>
            </a:r>
            <a:r>
              <a:rPr lang="ko-KR" altLang="en-US" sz="1100" dirty="0"/>
              <a:t>문자</a:t>
            </a:r>
            <a:r>
              <a:rPr lang="en-US" altLang="ko-KR" sz="1100" dirty="0"/>
              <a:t>)</a:t>
            </a:r>
            <a:r>
              <a:rPr lang="ko-KR" altLang="en-US" sz="1100" dirty="0"/>
              <a:t>정의 </a:t>
            </a:r>
            <a:r>
              <a:rPr lang="en-US" altLang="ko-KR" sz="1100" dirty="0"/>
              <a:t>3)</a:t>
            </a:r>
            <a:r>
              <a:rPr lang="ko-KR" altLang="en-US" sz="1100" dirty="0"/>
              <a:t>제한사항</a:t>
            </a:r>
            <a:r>
              <a:rPr lang="en-US" altLang="ko-KR" sz="1100" dirty="0"/>
              <a:t>(</a:t>
            </a:r>
            <a:r>
              <a:rPr lang="ko-KR" altLang="en-US" sz="1100" dirty="0"/>
              <a:t>길이</a:t>
            </a:r>
            <a:r>
              <a:rPr lang="en-US" altLang="ko-KR" sz="1100" dirty="0"/>
              <a:t>,</a:t>
            </a:r>
            <a:r>
              <a:rPr lang="ko-KR" altLang="en-US" sz="1100" dirty="0"/>
              <a:t>사용법</a:t>
            </a:r>
            <a:r>
              <a:rPr lang="en-US" altLang="ko-KR" sz="1100" dirty="0"/>
              <a:t>,</a:t>
            </a:r>
            <a:r>
              <a:rPr lang="ko-KR" altLang="en-US" sz="1100" dirty="0"/>
              <a:t>지역전역</a:t>
            </a:r>
            <a:r>
              <a:rPr lang="en-US" altLang="ko-KR" sz="1100" dirty="0"/>
              <a:t>,static/</a:t>
            </a:r>
            <a:r>
              <a:rPr lang="en-US" altLang="ko-KR" sz="1100" dirty="0" err="1"/>
              <a:t>danamic</a:t>
            </a:r>
            <a:r>
              <a:rPr lang="en-US" altLang="ko-KR" sz="1100" dirty="0"/>
              <a:t>)</a:t>
            </a:r>
            <a:r>
              <a:rPr lang="ko-KR" altLang="en-US" sz="1100" dirty="0"/>
              <a:t>지키기  </a:t>
            </a:r>
            <a:r>
              <a:rPr lang="en-US" altLang="ko-KR" sz="1100" dirty="0"/>
              <a:t>4)type casting </a:t>
            </a:r>
            <a:r>
              <a:rPr lang="ko-KR" altLang="en-US" sz="1100" dirty="0"/>
              <a:t>주의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기본으로  </a:t>
            </a:r>
            <a:r>
              <a:rPr lang="en-US" altLang="ko-KR" sz="1100" dirty="0"/>
              <a:t>char, </a:t>
            </a:r>
            <a:r>
              <a:rPr lang="en-US" altLang="ko-KR" sz="1100" dirty="0" err="1"/>
              <a:t>int</a:t>
            </a:r>
            <a:r>
              <a:rPr lang="ko-KR" altLang="en-US" sz="1100" dirty="0"/>
              <a:t>로 선언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숫자가 크면 </a:t>
            </a:r>
            <a:r>
              <a:rPr lang="en-US" altLang="ko-KR" sz="1100" dirty="0"/>
              <a:t>long, </a:t>
            </a:r>
            <a:r>
              <a:rPr lang="ko-KR" altLang="en-US" sz="1100" dirty="0" err="1"/>
              <a:t>더크면</a:t>
            </a:r>
            <a:r>
              <a:rPr lang="ko-KR" altLang="en-US" sz="1100" dirty="0"/>
              <a:t> </a:t>
            </a:r>
            <a:r>
              <a:rPr lang="en-US" altLang="ko-KR" sz="1100" dirty="0"/>
              <a:t>double, </a:t>
            </a:r>
            <a:r>
              <a:rPr lang="ko-KR" altLang="en-US" sz="1100" dirty="0"/>
              <a:t>공학계산은  </a:t>
            </a:r>
            <a:r>
              <a:rPr lang="en-US" altLang="ko-KR" sz="1100" dirty="0"/>
              <a:t>float, short</a:t>
            </a:r>
            <a:r>
              <a:rPr lang="ko-KR" altLang="en-US" sz="1100" dirty="0"/>
              <a:t>는 빠른 연산이 필요 시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문자 하나 하나는 </a:t>
            </a:r>
            <a:r>
              <a:rPr lang="en-US" altLang="ko-KR" sz="1100" dirty="0"/>
              <a:t>char, </a:t>
            </a:r>
            <a:r>
              <a:rPr lang="ko-KR" altLang="en-US" sz="1100" dirty="0"/>
              <a:t>문자열은 </a:t>
            </a:r>
            <a:r>
              <a:rPr lang="en-US" altLang="ko-KR" sz="1100" dirty="0"/>
              <a:t>String, </a:t>
            </a:r>
            <a:r>
              <a:rPr lang="ko-KR" altLang="en-US" sz="1100" dirty="0"/>
              <a:t>이진코드</a:t>
            </a:r>
            <a:r>
              <a:rPr lang="en-US" altLang="ko-KR" sz="1100" dirty="0"/>
              <a:t>/</a:t>
            </a:r>
            <a:r>
              <a:rPr lang="ko-KR" altLang="en-US" sz="1100" dirty="0"/>
              <a:t>한글처리 등은 </a:t>
            </a:r>
            <a:r>
              <a:rPr lang="en-US" altLang="ko-KR" sz="1100" dirty="0"/>
              <a:t>byte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100" dirty="0"/>
              <a:t>Loop, sum </a:t>
            </a:r>
            <a:r>
              <a:rPr lang="ko-KR" altLang="en-US" sz="1100" dirty="0"/>
              <a:t>처리시 반드시 초기화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 err="1"/>
              <a:t>문자형으로</a:t>
            </a:r>
            <a:r>
              <a:rPr lang="ko-KR" altLang="en-US" sz="1100" dirty="0"/>
              <a:t> 선언하면 문자처리로 쓰고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숫자형으로</a:t>
            </a:r>
            <a:r>
              <a:rPr lang="ko-KR" altLang="en-US" sz="1100" dirty="0"/>
              <a:t> 선언하면 숫자계산에 써라</a:t>
            </a:r>
            <a:r>
              <a:rPr lang="en-US" altLang="ko-KR" sz="1100" dirty="0"/>
              <a:t>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부득이 다른 형태 사용 시 형 변환 </a:t>
            </a:r>
            <a:r>
              <a:rPr lang="en-US" altLang="ko-KR" sz="1100" dirty="0"/>
              <a:t>1) </a:t>
            </a:r>
            <a:r>
              <a:rPr lang="en-US" altLang="ko-KR" sz="1100" dirty="0" err="1"/>
              <a:t>Integer.parseInt</a:t>
            </a:r>
            <a:r>
              <a:rPr lang="en-US" altLang="ko-KR" sz="1100" dirty="0"/>
              <a:t>(“12345”) 2)</a:t>
            </a:r>
            <a:r>
              <a:rPr lang="en-US" altLang="ko-KR" sz="1100" dirty="0" err="1"/>
              <a:t>String.format</a:t>
            </a:r>
            <a:r>
              <a:rPr lang="en-US" altLang="ko-KR" sz="1100" dirty="0"/>
              <a:t>(“%d”,12345);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변수의 크기를 초과하는 값이 들어오면 안되니 </a:t>
            </a:r>
            <a:r>
              <a:rPr lang="en-US" altLang="ko-KR" sz="1100" dirty="0"/>
              <a:t>, </a:t>
            </a:r>
            <a:r>
              <a:rPr lang="ko-KR" altLang="en-US" sz="1100" dirty="0"/>
              <a:t>결과를 예측하여 크기 큰 변수를 사용하든지</a:t>
            </a:r>
            <a:r>
              <a:rPr lang="en-US" altLang="ko-KR" sz="1100" dirty="0"/>
              <a:t>, </a:t>
            </a:r>
            <a:r>
              <a:rPr lang="ko-KR" altLang="en-US" sz="1100" dirty="0"/>
              <a:t>에러처리를 할 것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그리고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실습중</a:t>
            </a:r>
            <a:r>
              <a:rPr lang="ko-KR" altLang="en-US" sz="1100" dirty="0"/>
              <a:t> 별</a:t>
            </a:r>
            <a:r>
              <a:rPr lang="en-US" altLang="ko-KR" sz="1100" dirty="0"/>
              <a:t>3</a:t>
            </a:r>
            <a:r>
              <a:rPr lang="ko-KR" altLang="en-US" sz="1100" dirty="0" err="1"/>
              <a:t>개인것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은</a:t>
            </a:r>
            <a:r>
              <a:rPr lang="en-US" altLang="ko-KR" sz="1100" dirty="0"/>
              <a:t> </a:t>
            </a:r>
            <a:r>
              <a:rPr lang="ko-KR" altLang="en-US" sz="1100" dirty="0"/>
              <a:t>필기할 것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실습 </a:t>
            </a:r>
            <a:r>
              <a:rPr lang="ko-KR" altLang="en-US" sz="1100" dirty="0" err="1"/>
              <a:t>캡쳐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59212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17802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교재 읽어보자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 err="1">
                <a:solidFill>
                  <a:srgbClr val="FF0000"/>
                </a:solidFill>
              </a:rPr>
              <a:t>다른언어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en-US" altLang="ko-KR" sz="1200" dirty="0" err="1">
                <a:solidFill>
                  <a:srgbClr val="FF0000"/>
                </a:solidFill>
              </a:rPr>
              <a:t>Python,c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도 </a:t>
            </a:r>
            <a:r>
              <a:rPr lang="ko-KR" altLang="en-US" sz="1200" dirty="0" err="1">
                <a:solidFill>
                  <a:srgbClr val="FF0000"/>
                </a:solidFill>
              </a:rPr>
              <a:t>어떤지</a:t>
            </a:r>
            <a:r>
              <a:rPr lang="ko-KR" altLang="en-US" sz="1200" dirty="0">
                <a:solidFill>
                  <a:srgbClr val="FF0000"/>
                </a:solidFill>
              </a:rPr>
              <a:t> 검색으로 알아보자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사칙연산 </a:t>
            </a:r>
            <a:r>
              <a:rPr lang="ko-KR" altLang="en-US" sz="1200" dirty="0" err="1"/>
              <a:t>되세기기</a:t>
            </a:r>
            <a:r>
              <a:rPr lang="en-US" altLang="ko-KR" sz="1200" dirty="0"/>
              <a:t>, </a:t>
            </a:r>
            <a:r>
              <a:rPr lang="ko-KR" altLang="en-US" sz="1200" dirty="0"/>
              <a:t>구구단 외우기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마트가서</a:t>
            </a:r>
            <a:r>
              <a:rPr lang="ko-KR" altLang="en-US" sz="1200" dirty="0"/>
              <a:t> 영수증 받아오고 세금은 어떻게 되어있는지 고민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해외로 떠나본 경험이 있는가</a:t>
            </a:r>
            <a:r>
              <a:rPr lang="en-US" altLang="ko-KR" sz="1200" dirty="0"/>
              <a:t>? </a:t>
            </a:r>
            <a:r>
              <a:rPr lang="ko-KR" altLang="en-US" sz="1200" dirty="0"/>
              <a:t>환전은 어떻게 했는지 고민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47282</TotalTime>
  <Words>8453</Words>
  <Application>Microsoft Office PowerPoint</Application>
  <PresentationFormat>A4 용지(210x297mm)</PresentationFormat>
  <Paragraphs>1094</Paragraphs>
  <Slides>37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가는각진제목체</vt:lpstr>
      <vt:lpstr>굴림</vt:lpstr>
      <vt:lpstr>돋움</vt:lpstr>
      <vt:lpstr>맑은 고딕</vt:lpstr>
      <vt:lpstr>Arial</vt:lpstr>
      <vt:lpstr>Wingdings</vt:lpstr>
      <vt:lpstr>1_Default Design</vt:lpstr>
      <vt:lpstr>기본 디자인</vt:lpstr>
      <vt:lpstr>3_Default Design</vt:lpstr>
      <vt:lpstr>2. 저장공간 변수를 알아보자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교수자pc</cp:lastModifiedBy>
  <cp:revision>2881</cp:revision>
  <cp:lastPrinted>2015-10-28T04:44:44Z</cp:lastPrinted>
  <dcterms:created xsi:type="dcterms:W3CDTF">2003-10-22T07:02:37Z</dcterms:created>
  <dcterms:modified xsi:type="dcterms:W3CDTF">2025-03-06T05:36:02Z</dcterms:modified>
</cp:coreProperties>
</file>