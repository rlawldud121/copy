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9" r:id="rId1"/>
    <p:sldMasterId id="2147484030" r:id="rId2"/>
    <p:sldMasterId id="2147484008" r:id="rId3"/>
  </p:sldMasterIdLst>
  <p:notesMasterIdLst>
    <p:notesMasterId r:id="rId31"/>
  </p:notesMasterIdLst>
  <p:sldIdLst>
    <p:sldId id="694" r:id="rId4"/>
    <p:sldId id="961" r:id="rId5"/>
    <p:sldId id="977" r:id="rId6"/>
    <p:sldId id="978" r:id="rId7"/>
    <p:sldId id="1028" r:id="rId8"/>
    <p:sldId id="1061" r:id="rId9"/>
    <p:sldId id="1045" r:id="rId10"/>
    <p:sldId id="1062" r:id="rId11"/>
    <p:sldId id="1063" r:id="rId12"/>
    <p:sldId id="1064" r:id="rId13"/>
    <p:sldId id="1065" r:id="rId14"/>
    <p:sldId id="1066" r:id="rId15"/>
    <p:sldId id="1067" r:id="rId16"/>
    <p:sldId id="1068" r:id="rId17"/>
    <p:sldId id="1069" r:id="rId18"/>
    <p:sldId id="1070" r:id="rId19"/>
    <p:sldId id="1080" r:id="rId20"/>
    <p:sldId id="1072" r:id="rId21"/>
    <p:sldId id="1071" r:id="rId22"/>
    <p:sldId id="1073" r:id="rId23"/>
    <p:sldId id="1074" r:id="rId24"/>
    <p:sldId id="1075" r:id="rId25"/>
    <p:sldId id="1076" r:id="rId26"/>
    <p:sldId id="1077" r:id="rId27"/>
    <p:sldId id="1078" r:id="rId28"/>
    <p:sldId id="1079" r:id="rId29"/>
    <p:sldId id="984" r:id="rId30"/>
  </p:sldIdLst>
  <p:sldSz cx="9906000" cy="6858000" type="A4"/>
  <p:notesSz cx="6802438" cy="9934575"/>
  <p:defaultTextStyle>
    <a:defPPr>
      <a:defRPr lang="ko-KR"/>
    </a:defPPr>
    <a:lvl1pPr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04">
          <p15:clr>
            <a:srgbClr val="A4A3A4"/>
          </p15:clr>
        </p15:guide>
        <p15:guide id="2" orient="horz" pos="2161">
          <p15:clr>
            <a:srgbClr val="A4A3A4"/>
          </p15:clr>
        </p15:guide>
        <p15:guide id="3" orient="horz" pos="3696">
          <p15:clr>
            <a:srgbClr val="A4A3A4"/>
          </p15:clr>
        </p15:guide>
        <p15:guide id="4" orient="horz" pos="568">
          <p15:clr>
            <a:srgbClr val="A4A3A4"/>
          </p15:clr>
        </p15:guide>
        <p15:guide id="5" orient="horz" pos="1140">
          <p15:clr>
            <a:srgbClr val="A4A3A4"/>
          </p15:clr>
        </p15:guide>
        <p15:guide id="6" orient="horz" pos="766">
          <p15:clr>
            <a:srgbClr val="A4A3A4"/>
          </p15:clr>
        </p15:guide>
        <p15:guide id="7" pos="132">
          <p15:clr>
            <a:srgbClr val="A4A3A4"/>
          </p15:clr>
        </p15:guide>
        <p15:guide id="8" pos="6117">
          <p15:clr>
            <a:srgbClr val="A4A3A4"/>
          </p15:clr>
        </p15:guide>
        <p15:guide id="9" pos="1787">
          <p15:clr>
            <a:srgbClr val="A4A3A4"/>
          </p15:clr>
        </p15:guide>
        <p15:guide id="10" pos="308">
          <p15:clr>
            <a:srgbClr val="A4A3A4"/>
          </p15:clr>
        </p15:guide>
        <p15:guide id="11" pos="4461">
          <p15:clr>
            <a:srgbClr val="A4A3A4"/>
          </p15:clr>
        </p15:guide>
        <p15:guide id="12" pos="867">
          <p15:clr>
            <a:srgbClr val="A4A3A4"/>
          </p15:clr>
        </p15:guide>
        <p15:guide id="13" pos="31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66"/>
    <a:srgbClr val="FF0000"/>
    <a:srgbClr val="4C6C46"/>
    <a:srgbClr val="003300"/>
    <a:srgbClr val="679220"/>
    <a:srgbClr val="0000FF"/>
    <a:srgbClr val="51743E"/>
    <a:srgbClr val="CFD87A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0AE66C-CB48-471A-8F2A-0631CF545400}" v="6" dt="2025-01-02T07:07:46.7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88" autoAdjust="0"/>
    <p:restoredTop sz="98487" autoAdjust="0"/>
  </p:normalViewPr>
  <p:slideViewPr>
    <p:cSldViewPr snapToGrid="0" snapToObjects="1">
      <p:cViewPr varScale="1">
        <p:scale>
          <a:sx n="95" d="100"/>
          <a:sy n="95" d="100"/>
        </p:scale>
        <p:origin x="2444" y="44"/>
      </p:cViewPr>
      <p:guideLst>
        <p:guide orient="horz" pos="904"/>
        <p:guide orient="horz" pos="2161"/>
        <p:guide orient="horz" pos="3696"/>
        <p:guide orient="horz" pos="568"/>
        <p:guide orient="horz" pos="1140"/>
        <p:guide orient="horz" pos="766"/>
        <p:guide pos="132"/>
        <p:guide pos="6117"/>
        <p:guide pos="1787"/>
        <p:guide pos="308"/>
        <p:guide pos="4461"/>
        <p:guide pos="867"/>
        <p:guide pos="31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-2196" y="-114"/>
      </p:cViewPr>
      <p:guideLst>
        <p:guide orient="horz" pos="3128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필두2 홍" userId="0a0ee9c44b803ff9" providerId="LiveId" clId="{7E7EB1CD-B951-4A30-B1B1-8A02BCF67972}"/>
    <pc:docChg chg="modSld">
      <pc:chgData name="필두2 홍" userId="0a0ee9c44b803ff9" providerId="LiveId" clId="{7E7EB1CD-B951-4A30-B1B1-8A02BCF67972}" dt="2024-03-12T02:27:06.908" v="244" actId="6549"/>
      <pc:docMkLst>
        <pc:docMk/>
      </pc:docMkLst>
      <pc:sldChg chg="modSp mod">
        <pc:chgData name="필두2 홍" userId="0a0ee9c44b803ff9" providerId="LiveId" clId="{7E7EB1CD-B951-4A30-B1B1-8A02BCF67972}" dt="2024-03-12T02:27:06.908" v="244" actId="6549"/>
        <pc:sldMkLst>
          <pc:docMk/>
          <pc:sldMk cId="0" sldId="694"/>
        </pc:sldMkLst>
      </pc:sldChg>
      <pc:sldChg chg="modSp mod">
        <pc:chgData name="필두2 홍" userId="0a0ee9c44b803ff9" providerId="LiveId" clId="{7E7EB1CD-B951-4A30-B1B1-8A02BCF67972}" dt="2024-03-12T02:10:12.068" v="79" actId="20577"/>
        <pc:sldMkLst>
          <pc:docMk/>
          <pc:sldMk cId="1476144970" sldId="978"/>
        </pc:sldMkLst>
      </pc:sldChg>
      <pc:sldChg chg="modSp mod">
        <pc:chgData name="필두2 홍" userId="0a0ee9c44b803ff9" providerId="LiveId" clId="{7E7EB1CD-B951-4A30-B1B1-8A02BCF67972}" dt="2024-02-28T01:34:01.610" v="56"/>
        <pc:sldMkLst>
          <pc:docMk/>
          <pc:sldMk cId="615560948" sldId="1067"/>
        </pc:sldMkLst>
      </pc:sldChg>
      <pc:sldChg chg="modSp mod">
        <pc:chgData name="필두2 홍" userId="0a0ee9c44b803ff9" providerId="LiveId" clId="{7E7EB1CD-B951-4A30-B1B1-8A02BCF67972}" dt="2024-03-12T02:11:16.603" v="243" actId="20577"/>
        <pc:sldMkLst>
          <pc:docMk/>
          <pc:sldMk cId="4015569735" sldId="1072"/>
        </pc:sldMkLst>
      </pc:sldChg>
    </pc:docChg>
  </pc:docChgLst>
  <pc:docChgLst>
    <pc:chgData name="홍필두" userId="a613eac9-2ee1-4936-8d5c-6f3d69f7b146" providerId="ADAL" clId="{BB97534C-A885-4A12-A58B-BF41EFCE8763}"/>
    <pc:docChg chg="modSld">
      <pc:chgData name="홍필두" userId="a613eac9-2ee1-4936-8d5c-6f3d69f7b146" providerId="ADAL" clId="{BB97534C-A885-4A12-A58B-BF41EFCE8763}" dt="2021-03-16T01:16:34.474" v="72"/>
      <pc:docMkLst>
        <pc:docMk/>
      </pc:docMkLst>
      <pc:sldChg chg="modSp mod">
        <pc:chgData name="홍필두" userId="a613eac9-2ee1-4936-8d5c-6f3d69f7b146" providerId="ADAL" clId="{BB97534C-A885-4A12-A58B-BF41EFCE8763}" dt="2021-03-16T01:16:34.474" v="72"/>
        <pc:sldMkLst>
          <pc:docMk/>
          <pc:sldMk cId="3804627009" sldId="1069"/>
        </pc:sldMkLst>
      </pc:sldChg>
    </pc:docChg>
  </pc:docChgLst>
  <pc:docChgLst>
    <pc:chgData name="필두2 홍" userId="0a0ee9c44b803ff9" providerId="LiveId" clId="{0A0AE66C-CB48-471A-8F2A-0631CF545400}"/>
    <pc:docChg chg="modSld">
      <pc:chgData name="필두2 홍" userId="0a0ee9c44b803ff9" providerId="LiveId" clId="{0A0AE66C-CB48-471A-8F2A-0631CF545400}" dt="2025-01-02T07:07:46.703" v="21"/>
      <pc:docMkLst>
        <pc:docMk/>
      </pc:docMkLst>
      <pc:sldChg chg="modSp mod">
        <pc:chgData name="필두2 홍" userId="0a0ee9c44b803ff9" providerId="LiveId" clId="{0A0AE66C-CB48-471A-8F2A-0631CF545400}" dt="2025-01-02T07:07:46.703" v="21"/>
        <pc:sldMkLst>
          <pc:docMk/>
          <pc:sldMk cId="0" sldId="694"/>
        </pc:sldMkLst>
        <pc:spChg chg="mod">
          <ac:chgData name="필두2 홍" userId="0a0ee9c44b803ff9" providerId="LiveId" clId="{0A0AE66C-CB48-471A-8F2A-0631CF545400}" dt="2025-01-02T07:06:21.809" v="11" actId="6549"/>
          <ac:spMkLst>
            <pc:docMk/>
            <pc:sldMk cId="0" sldId="694"/>
            <ac:spMk id="7" creationId="{00000000-0000-0000-0000-000000000000}"/>
          </ac:spMkLst>
        </pc:spChg>
        <pc:spChg chg="mod">
          <ac:chgData name="필두2 홍" userId="0a0ee9c44b803ff9" providerId="LiveId" clId="{0A0AE66C-CB48-471A-8F2A-0631CF545400}" dt="2025-01-02T07:07:46.703" v="21"/>
          <ac:spMkLst>
            <pc:docMk/>
            <pc:sldMk cId="0" sldId="694"/>
            <ac:spMk id="3074" creationId="{00000000-0000-0000-0000-000000000000}"/>
          </ac:spMkLst>
        </pc:spChg>
      </pc:sldChg>
    </pc:docChg>
  </pc:docChgLst>
  <pc:docChgLst>
    <pc:chgData name="필두2 홍" userId="0a0ee9c44b803ff9" providerId="LiveId" clId="{BD76F6F8-C0B3-4F59-8C8D-F12611C9ACB8}"/>
    <pc:docChg chg="custSel modSld">
      <pc:chgData name="필두2 홍" userId="0a0ee9c44b803ff9" providerId="LiveId" clId="{BD76F6F8-C0B3-4F59-8C8D-F12611C9ACB8}" dt="2025-01-03T05:08:54.023" v="162" actId="20577"/>
      <pc:docMkLst>
        <pc:docMk/>
      </pc:docMkLst>
      <pc:sldChg chg="addSp modSp mod">
        <pc:chgData name="필두2 홍" userId="0a0ee9c44b803ff9" providerId="LiveId" clId="{BD76F6F8-C0B3-4F59-8C8D-F12611C9ACB8}" dt="2025-01-03T05:08:54.023" v="162" actId="20577"/>
        <pc:sldMkLst>
          <pc:docMk/>
          <pc:sldMk cId="0" sldId="694"/>
        </pc:sldMkLst>
        <pc:spChg chg="add mod">
          <ac:chgData name="필두2 홍" userId="0a0ee9c44b803ff9" providerId="LiveId" clId="{BD76F6F8-C0B3-4F59-8C8D-F12611C9ACB8}" dt="2025-01-03T05:08:54.023" v="162" actId="20577"/>
          <ac:spMkLst>
            <pc:docMk/>
            <pc:sldMk cId="0" sldId="694"/>
            <ac:spMk id="4" creationId="{290D04A6-EF39-A8DA-7D6E-E33295821994}"/>
          </ac:spMkLst>
        </pc:spChg>
        <pc:spChg chg="mod">
          <ac:chgData name="필두2 홍" userId="0a0ee9c44b803ff9" providerId="LiveId" clId="{BD76F6F8-C0B3-4F59-8C8D-F12611C9ACB8}" dt="2025-01-03T05:08:21.046" v="115" actId="20577"/>
          <ac:spMkLst>
            <pc:docMk/>
            <pc:sldMk cId="0" sldId="694"/>
            <ac:spMk id="7" creationId="{00000000-0000-0000-0000-000000000000}"/>
          </ac:spMkLst>
        </pc:spChg>
      </pc:sldChg>
      <pc:sldChg chg="modSp mod">
        <pc:chgData name="필두2 홍" userId="0a0ee9c44b803ff9" providerId="LiveId" clId="{BD76F6F8-C0B3-4F59-8C8D-F12611C9ACB8}" dt="2025-01-03T00:42:54.114" v="99" actId="20577"/>
        <pc:sldMkLst>
          <pc:docMk/>
          <pc:sldMk cId="4015569735" sldId="1072"/>
        </pc:sldMkLst>
        <pc:spChg chg="mod">
          <ac:chgData name="필두2 홍" userId="0a0ee9c44b803ff9" providerId="LiveId" clId="{BD76F6F8-C0B3-4F59-8C8D-F12611C9ACB8}" dt="2025-01-03T00:42:54.114" v="99" actId="20577"/>
          <ac:spMkLst>
            <pc:docMk/>
            <pc:sldMk cId="4015569735" sldId="1072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386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81625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927" y="4718645"/>
            <a:ext cx="5442586" cy="4470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386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fld id="{092A356E-06FB-49E6-B7CB-7B5A1897A3F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1459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43689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9875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473272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725179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761575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745465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94091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12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623459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13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952516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14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4226457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15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986953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16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266579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17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4119707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18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3292254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19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4935904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20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463934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21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942577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22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7636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23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0195380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24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616678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6DCEF-CD00-45CA-80CA-82C38D745C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D7D3E5-87F0-4179-8238-A184AD8827A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28625" y="908050"/>
            <a:ext cx="4448175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08050"/>
            <a:ext cx="4448175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72895-9F2E-4AD0-A004-83002AF3C7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E5587-D26A-41A2-8E79-FE291062F9D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7FCC1-127D-4443-A581-CA9306BF3C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41A9C-AAE6-48B1-8522-60BAC0F339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2D690-2CE0-4611-941C-56F6D432EED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4249-9846-41BB-B0B9-138A4920A66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F6C41-6312-48BD-8505-9CA88283B16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402513" y="260350"/>
            <a:ext cx="2374900" cy="59769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73050" y="260350"/>
            <a:ext cx="6977063" cy="59769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B3B12-BED2-477A-B509-237AA89F2E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81A58D-1F3D-4A9A-8A2F-2E64A071E552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4885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19AC9A-A87D-4C3D-B543-30D7915A500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40382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-330143" y="6434704"/>
            <a:ext cx="10482030" cy="386083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 kumimoji="0" sz="1172">
                <a:solidFill>
                  <a:srgbClr val="0D0D0D"/>
                </a:solidFill>
              </a:defRPr>
            </a:lvl1pPr>
          </a:lstStyle>
          <a:p>
            <a:pPr>
              <a:defRPr/>
            </a:pPr>
            <a:fld id="{E5BAFC79-0F65-42E5-B4CA-03BB1228951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142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341438"/>
            <a:ext cx="2228850" cy="47847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341438"/>
            <a:ext cx="6534150" cy="4784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100" b="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pPr>
              <a:defRPr/>
            </a:pPr>
            <a:fld id="{7C81A58D-1F3D-4A9A-8A2F-2E64A071E5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0"/>
            <a:ext cx="9504363" cy="64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</a:p>
        </p:txBody>
      </p:sp>
      <p:sp>
        <p:nvSpPr>
          <p:cNvPr id="349195" name="Line 11"/>
          <p:cNvSpPr>
            <a:spLocks noChangeShapeType="1"/>
          </p:cNvSpPr>
          <p:nvPr/>
        </p:nvSpPr>
        <p:spPr bwMode="ltGray">
          <a:xfrm flipV="1">
            <a:off x="1588" y="6529388"/>
            <a:ext cx="9906000" cy="0"/>
          </a:xfrm>
          <a:prstGeom prst="line">
            <a:avLst/>
          </a:prstGeom>
          <a:noFill/>
          <a:ln w="12700">
            <a:solidFill>
              <a:srgbClr val="221F1F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buClr>
                <a:schemeClr val="bg2"/>
              </a:buClr>
              <a:buSzPct val="100000"/>
              <a:buFontTx/>
              <a:buChar char="•"/>
              <a:defRPr/>
            </a:pPr>
            <a:endParaRPr lang="ko-KR" altLang="en-US" sz="1000" b="0">
              <a:solidFill>
                <a:schemeClr val="tx1"/>
              </a:solidFill>
              <a:latin typeface="Arial" charset="0"/>
              <a:ea typeface="가는각진제목체" pitchFamily="18" charset="-127"/>
            </a:endParaRPr>
          </a:p>
        </p:txBody>
      </p:sp>
      <p:grpSp>
        <p:nvGrpSpPr>
          <p:cNvPr id="7" name="Group 13"/>
          <p:cNvGrpSpPr>
            <a:grpSpLocks/>
          </p:cNvGrpSpPr>
          <p:nvPr userDrawn="1"/>
        </p:nvGrpSpPr>
        <p:grpSpPr bwMode="auto">
          <a:xfrm>
            <a:off x="252413" y="85725"/>
            <a:ext cx="8496300" cy="471488"/>
            <a:chOff x="1056" y="1039"/>
            <a:chExt cx="3024" cy="209"/>
          </a:xfrm>
        </p:grpSpPr>
        <p:sp>
          <p:nvSpPr>
            <p:cNvPr id="8" name="Text Box 14"/>
            <p:cNvSpPr txBox="1">
              <a:spLocks noChangeArrowheads="1"/>
            </p:cNvSpPr>
            <p:nvPr/>
          </p:nvSpPr>
          <p:spPr bwMode="auto">
            <a:xfrm>
              <a:off x="1056" y="1039"/>
              <a:ext cx="21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7" tIns="45714" rIns="91427" bIns="45714">
              <a:spAutoFit/>
            </a:bodyPr>
            <a:lstStyle>
              <a:lvl1pPr marL="342900" indent="-3429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latinLnBrk="1" hangingPunct="1">
                <a:buFont typeface="Wingdings" panose="05000000000000000000" pitchFamily="2" charset="2"/>
                <a:buChar char="l"/>
              </a:pPr>
              <a:r>
                <a:rPr lang="en-US" altLang="ko-KR" b="1" dirty="0">
                  <a:solidFill>
                    <a:srgbClr val="724FB7"/>
                  </a:solidFill>
                </a:rPr>
                <a:t> </a:t>
              </a:r>
              <a:endParaRPr lang="ko-KR" altLang="en-US" b="1" dirty="0">
                <a:solidFill>
                  <a:srgbClr val="724FB7"/>
                </a:solidFill>
              </a:endParaRPr>
            </a:p>
          </p:txBody>
        </p:sp>
        <p:sp>
          <p:nvSpPr>
            <p:cNvPr id="9" name="Line 15"/>
            <p:cNvSpPr>
              <a:spLocks noChangeShapeType="1"/>
            </p:cNvSpPr>
            <p:nvPr/>
          </p:nvSpPr>
          <p:spPr bwMode="auto">
            <a:xfrm>
              <a:off x="1104" y="1248"/>
              <a:ext cx="2976" cy="0"/>
            </a:xfrm>
            <a:prstGeom prst="line">
              <a:avLst/>
            </a:prstGeom>
            <a:noFill/>
            <a:ln w="28575">
              <a:solidFill>
                <a:srgbClr val="724FB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7605F0A3-DE87-467B-8A8C-37C432902C9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998137" y="6544059"/>
            <a:ext cx="779276" cy="3185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0EF228-1B49-4A3E-AE7A-BD1B45B1C680}"/>
              </a:ext>
            </a:extLst>
          </p:cNvPr>
          <p:cNvSpPr txBox="1"/>
          <p:nvPr userDrawn="1"/>
        </p:nvSpPr>
        <p:spPr>
          <a:xfrm>
            <a:off x="273050" y="6544059"/>
            <a:ext cx="2199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iamhpd@kopo.ac.kr</a:t>
            </a:r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7" r:id="rId2"/>
    <p:sldLayoutId id="2147484016" r:id="rId3"/>
    <p:sldLayoutId id="2147484015" r:id="rId4"/>
    <p:sldLayoutId id="2147484014" r:id="rId5"/>
    <p:sldLayoutId id="2147484013" r:id="rId6"/>
    <p:sldLayoutId id="2147484012" r:id="rId7"/>
    <p:sldLayoutId id="2147484011" r:id="rId8"/>
    <p:sldLayoutId id="2147484010" r:id="rId9"/>
    <p:sldLayoutId id="2147484009" r:id="rId10"/>
    <p:sldLayoutId id="2147484034" r:id="rId11"/>
    <p:sldLayoutId id="2147484035" r:id="rId12"/>
  </p:sldLayoutIdLst>
  <p:hf hdr="0" ftr="0" dt="0"/>
  <p:txStyles>
    <p:titleStyle>
      <a:lvl1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2pPr>
      <a:lvl3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3pPr>
      <a:lvl4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4pPr>
      <a:lvl5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600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27088" indent="-28575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235075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643063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"/>
          <p:cNvSpPr>
            <a:spLocks noGrp="1"/>
          </p:cNvSpPr>
          <p:nvPr/>
        </p:nvSpPr>
        <p:spPr bwMode="auto">
          <a:xfrm>
            <a:off x="194303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2" tIns="47741" rIns="95482" bIns="47741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953" dirty="0">
              <a:solidFill>
                <a:srgbClr val="0D0D0D"/>
              </a:solidFill>
            </a:endParaRPr>
          </a:p>
        </p:txBody>
      </p:sp>
      <p:sp>
        <p:nvSpPr>
          <p:cNvPr id="1028" name="텍스트 개체 틀 2"/>
          <p:cNvSpPr>
            <a:spLocks noGrp="1"/>
          </p:cNvSpPr>
          <p:nvPr/>
        </p:nvSpPr>
        <p:spPr bwMode="auto">
          <a:xfrm>
            <a:off x="194303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2" tIns="47741" rIns="95482" bIns="47741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953" dirty="0">
              <a:solidFill>
                <a:srgbClr val="0D0D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67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+mj-lt"/>
          <a:ea typeface="+mj-ea"/>
          <a:cs typeface="+mj-cs"/>
        </a:defRPr>
      </a:lvl1pPr>
      <a:lvl2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2pPr>
      <a:lvl3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3pPr>
      <a:lvl4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4pPr>
      <a:lvl5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5pPr>
      <a:lvl6pPr marL="631597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6pPr>
      <a:lvl7pPr marL="1263192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7pPr>
      <a:lvl8pPr marL="1894789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8pPr>
      <a:lvl9pPr marL="2526386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9pPr>
    </p:titleStyle>
    <p:bodyStyle>
      <a:lvl1pPr marL="265138" indent="-265138" algn="l" defTabSz="900848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953">
          <a:solidFill>
            <a:schemeClr val="tx1"/>
          </a:solidFill>
          <a:latin typeface="+mn-lt"/>
          <a:ea typeface="+mn-ea"/>
          <a:cs typeface="+mn-cs"/>
        </a:defRPr>
      </a:lvl1pPr>
      <a:lvl2pPr marL="784559" indent="-255835" algn="l" defTabSz="900848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60">
          <a:solidFill>
            <a:schemeClr val="tx1"/>
          </a:solidFill>
          <a:latin typeface="+mn-lt"/>
          <a:ea typeface="+mn-ea"/>
        </a:defRPr>
      </a:lvl2pPr>
      <a:lvl3pPr marL="1424920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344">
          <a:solidFill>
            <a:schemeClr val="tx1"/>
          </a:solidFill>
          <a:latin typeface="+mn-lt"/>
          <a:ea typeface="+mn-ea"/>
        </a:defRPr>
      </a:lvl3pPr>
      <a:lvl4pPr marL="1913331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53">
          <a:solidFill>
            <a:schemeClr val="tx1"/>
          </a:solidFill>
          <a:latin typeface="+mn-lt"/>
          <a:ea typeface="+mn-ea"/>
        </a:defRPr>
      </a:lvl4pPr>
      <a:lvl5pPr marL="2403292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5pPr>
      <a:lvl6pPr marL="3035171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6pPr>
      <a:lvl7pPr marL="3666768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7pPr>
      <a:lvl8pPr marL="4298365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8pPr>
      <a:lvl9pPr marL="4929961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1pPr>
      <a:lvl2pPr marL="631597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2pPr>
      <a:lvl3pPr marL="1263192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3pPr>
      <a:lvl4pPr marL="1894789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4pPr>
      <a:lvl5pPr marL="2526386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5pPr>
      <a:lvl6pPr marL="3157982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6pPr>
      <a:lvl7pPr marL="3789578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7pPr>
      <a:lvl8pPr marL="4421175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8pPr>
      <a:lvl9pPr marL="5052771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4" descr="title_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66725" y="44450"/>
            <a:ext cx="8972550" cy="642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136650" y="1341438"/>
            <a:ext cx="8047038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20A2BD-7C5D-48BC-A35F-9317F8AB809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346731" y="5881357"/>
            <a:ext cx="1624308" cy="6640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28" r:id="rId2"/>
    <p:sldLayoutId id="2147484027" r:id="rId3"/>
    <p:sldLayoutId id="2147484026" r:id="rId4"/>
    <p:sldLayoutId id="2147484025" r:id="rId5"/>
    <p:sldLayoutId id="2147484024" r:id="rId6"/>
    <p:sldLayoutId id="2147484023" r:id="rId7"/>
    <p:sldLayoutId id="2147484022" r:id="rId8"/>
    <p:sldLayoutId id="2147484021" r:id="rId9"/>
    <p:sldLayoutId id="2147484020" r:id="rId10"/>
    <p:sldLayoutId id="2147484019" r:id="rId11"/>
  </p:sldLayoutIdLst>
  <p:hf hdr="0" ftr="0" dt="0"/>
  <p:txStyles>
    <p:titleStyle>
      <a:lvl1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8191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12763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7335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21907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600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27088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235075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643063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youtube.com/@survcode" TargetMode="External"/><Relationship Id="rId2" Type="http://schemas.openxmlformats.org/officeDocument/2006/relationships/hyperlink" Target="https://youtu.be/4YJUYfFZROA" TargetMode="Externa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8/docs/api/index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marL="0" indent="0" eaLnBrk="1" hangingPunct="1"/>
            <a:r>
              <a:rPr lang="en-US" altLang="ko-KR" sz="2400" dirty="0"/>
              <a:t>3. </a:t>
            </a:r>
            <a:r>
              <a:rPr lang="ko-KR" altLang="en-US" sz="2400" dirty="0"/>
              <a:t>연산을 해보자</a:t>
            </a:r>
            <a:r>
              <a:rPr lang="en-US" altLang="ko-KR" sz="2400" dirty="0"/>
              <a:t>(</a:t>
            </a:r>
            <a:r>
              <a:rPr lang="ko-KR" altLang="en-US" sz="2400" dirty="0" err="1"/>
              <a:t>숫자계산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세금계산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2" name="직사각형 1"/>
          <p:cNvSpPr/>
          <p:nvPr/>
        </p:nvSpPr>
        <p:spPr>
          <a:xfrm>
            <a:off x="3350157" y="3259723"/>
            <a:ext cx="327782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>
                <a:hlinkClick r:id="rId2"/>
              </a:rPr>
              <a:t>https://youtu.be/4YJUYfFZROA</a:t>
            </a:r>
            <a:r>
              <a:rPr lang="ko-KR" altLang="en-US"/>
              <a:t> </a:t>
            </a:r>
          </a:p>
        </p:txBody>
      </p:sp>
      <p:sp>
        <p:nvSpPr>
          <p:cNvPr id="7" name="Text Box 89"/>
          <p:cNvSpPr txBox="1">
            <a:spLocks noChangeArrowheads="1"/>
          </p:cNvSpPr>
          <p:nvPr/>
        </p:nvSpPr>
        <p:spPr bwMode="auto">
          <a:xfrm>
            <a:off x="5232849" y="5060963"/>
            <a:ext cx="419783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ko-KR" altLang="en-US" dirty="0" err="1">
                <a:solidFill>
                  <a:schemeClr val="tx1"/>
                </a:solidFill>
              </a:rPr>
              <a:t>홍필두</a:t>
            </a:r>
            <a:r>
              <a:rPr kumimoji="1" lang="ko-KR" altLang="en-US" dirty="0">
                <a:solidFill>
                  <a:schemeClr val="tx1"/>
                </a:solidFill>
              </a:rPr>
              <a:t> 교수 </a:t>
            </a:r>
            <a:endParaRPr kumimoji="1" lang="en-US" altLang="ko-KR" dirty="0">
              <a:solidFill>
                <a:schemeClr val="tx1"/>
              </a:solidFill>
            </a:endParaRP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  <a:hlinkClick r:id="rId3"/>
              </a:rPr>
              <a:t>http://youtube.com/@survcode</a:t>
            </a:r>
            <a:r>
              <a:rPr kumimoji="1" lang="en-US" altLang="ko-KR" dirty="0">
                <a:solidFill>
                  <a:schemeClr val="tx1"/>
                </a:solidFill>
              </a:rPr>
              <a:t> </a:t>
            </a: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</a:rPr>
              <a:t>(</a:t>
            </a:r>
            <a:r>
              <a:rPr kumimoji="1" lang="ko-KR" altLang="en-US" dirty="0">
                <a:solidFill>
                  <a:schemeClr val="tx1"/>
                </a:solidFill>
              </a:rPr>
              <a:t>자바프로그래밍</a:t>
            </a:r>
            <a:r>
              <a:rPr kumimoji="1" lang="en-US" altLang="ko-KR" dirty="0">
                <a:solidFill>
                  <a:schemeClr val="tx1"/>
                </a:solidFill>
              </a:rPr>
              <a:t>)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849" y="5078573"/>
            <a:ext cx="817519" cy="7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0D04A6-EF39-A8DA-7D6E-E33295821994}"/>
              </a:ext>
            </a:extLst>
          </p:cNvPr>
          <p:cNvSpPr txBox="1"/>
          <p:nvPr/>
        </p:nvSpPr>
        <p:spPr>
          <a:xfrm>
            <a:off x="2961924" y="3882608"/>
            <a:ext cx="49518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</a:rPr>
              <a:t>2025-&gt; ok.. </a:t>
            </a:r>
            <a:r>
              <a:rPr kumimoji="1" lang="ko-KR" altLang="en-US" dirty="0" err="1">
                <a:solidFill>
                  <a:schemeClr val="tx1"/>
                </a:solidFill>
              </a:rPr>
              <a:t>바꾼거</a:t>
            </a:r>
            <a:r>
              <a:rPr kumimoji="1" lang="ko-KR" altLang="en-US" dirty="0">
                <a:solidFill>
                  <a:schemeClr val="tx1"/>
                </a:solidFill>
              </a:rPr>
              <a:t> 없음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r>
              <a:rPr lang="en-US" altLang="ko-KR" sz="1800" dirty="0">
                <a:solidFill>
                  <a:schemeClr val="bg1"/>
                </a:solidFill>
              </a:rPr>
              <a:t>  </a:t>
            </a: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893879" y="864447"/>
            <a:ext cx="6558501" cy="5607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2000" dirty="0"/>
              <a:t>1.</a:t>
            </a:r>
            <a:r>
              <a:rPr lang="ko-KR" altLang="en-US" sz="2000" dirty="0"/>
              <a:t>연산자</a:t>
            </a:r>
          </a:p>
          <a:p>
            <a:pPr>
              <a:spcBef>
                <a:spcPct val="0"/>
              </a:spcBef>
            </a:pPr>
            <a:r>
              <a:rPr lang="en-US" altLang="ko-KR" sz="1400" dirty="0"/>
              <a:t>1) </a:t>
            </a:r>
            <a:r>
              <a:rPr lang="ko-KR" altLang="en-US" sz="1400" dirty="0"/>
              <a:t>사칙연산</a:t>
            </a:r>
          </a:p>
          <a:p>
            <a:pPr>
              <a:spcBef>
                <a:spcPct val="0"/>
              </a:spcBef>
            </a:pPr>
            <a:r>
              <a:rPr lang="en-US" altLang="ko-KR" sz="1400" dirty="0"/>
              <a:t>2) </a:t>
            </a:r>
            <a:r>
              <a:rPr lang="ko-KR" altLang="en-US" sz="1400" dirty="0"/>
              <a:t>연산 후 대입</a:t>
            </a:r>
            <a:endParaRPr lang="en-US" altLang="ko-KR" sz="1400" dirty="0"/>
          </a:p>
          <a:p>
            <a:pPr>
              <a:spcBef>
                <a:spcPct val="0"/>
              </a:spcBef>
            </a:pPr>
            <a:r>
              <a:rPr lang="en-US" altLang="ko-KR" sz="1400" dirty="0"/>
              <a:t>3) </a:t>
            </a:r>
            <a:r>
              <a:rPr lang="ko-KR" altLang="en-US" sz="1400" dirty="0"/>
              <a:t>누적하기</a:t>
            </a:r>
          </a:p>
          <a:p>
            <a:pPr>
              <a:spcBef>
                <a:spcPct val="0"/>
              </a:spcBef>
            </a:pPr>
            <a:r>
              <a:rPr lang="en-US" altLang="ko-KR" sz="1400" dirty="0"/>
              <a:t>4) </a:t>
            </a:r>
            <a:r>
              <a:rPr lang="ko-KR" altLang="en-US" sz="1400" dirty="0"/>
              <a:t>정수형 연산 </a:t>
            </a:r>
            <a:r>
              <a:rPr lang="en-US" altLang="ko-KR" sz="1400" dirty="0"/>
              <a:t>(</a:t>
            </a:r>
            <a:r>
              <a:rPr lang="ko-KR" altLang="en-US" sz="1400" dirty="0"/>
              <a:t>버림</a:t>
            </a:r>
            <a:r>
              <a:rPr lang="en-US" altLang="ko-KR" sz="1400" dirty="0"/>
              <a:t>)</a:t>
            </a:r>
          </a:p>
          <a:p>
            <a:pPr>
              <a:spcBef>
                <a:spcPct val="0"/>
              </a:spcBef>
            </a:pPr>
            <a:r>
              <a:rPr lang="en-US" altLang="ko-KR" sz="1400" dirty="0"/>
              <a:t>5) </a:t>
            </a:r>
            <a:r>
              <a:rPr lang="ko-KR" altLang="en-US" sz="1400" dirty="0"/>
              <a:t>나머지</a:t>
            </a:r>
            <a:r>
              <a:rPr lang="en-US" altLang="ko-KR" sz="1400" dirty="0"/>
              <a:t>(%)</a:t>
            </a:r>
            <a:r>
              <a:rPr lang="ko-KR" altLang="en-US" sz="1400" dirty="0"/>
              <a:t>연산자의 응용</a:t>
            </a:r>
            <a:endParaRPr lang="en-US" altLang="ko-KR" sz="1400" dirty="0"/>
          </a:p>
          <a:p>
            <a:pPr>
              <a:spcBef>
                <a:spcPct val="0"/>
              </a:spcBef>
            </a:pPr>
            <a:r>
              <a:rPr lang="en-US" altLang="ko-KR" sz="1400" dirty="0"/>
              <a:t>6) </a:t>
            </a:r>
            <a:r>
              <a:rPr lang="ko-KR" altLang="en-US" sz="1400" dirty="0"/>
              <a:t>반올림 버림 처리</a:t>
            </a:r>
            <a:endParaRPr lang="en-US" altLang="ko-KR" sz="1400" dirty="0"/>
          </a:p>
          <a:p>
            <a:pPr>
              <a:spcBef>
                <a:spcPct val="0"/>
              </a:spcBef>
            </a:pPr>
            <a:r>
              <a:rPr lang="en-US" altLang="ko-KR" sz="1400" dirty="0"/>
              <a:t>7) </a:t>
            </a:r>
            <a:r>
              <a:rPr lang="ko-KR" altLang="en-US" sz="1400" dirty="0"/>
              <a:t>소수점 자리의 반올림 버림 처리</a:t>
            </a:r>
            <a:endParaRPr lang="en-US" altLang="ko-KR" sz="1400" dirty="0"/>
          </a:p>
          <a:p>
            <a:pPr>
              <a:spcBef>
                <a:spcPct val="0"/>
              </a:spcBef>
            </a:pPr>
            <a:endParaRPr lang="en-US" altLang="ko-KR" sz="1400" dirty="0"/>
          </a:p>
          <a:p>
            <a:pPr>
              <a:spcBef>
                <a:spcPct val="0"/>
              </a:spcBef>
            </a:pPr>
            <a:r>
              <a:rPr lang="en-US" altLang="ko-KR" sz="1800" dirty="0"/>
              <a:t>2. </a:t>
            </a:r>
            <a:r>
              <a:rPr lang="ko-KR" altLang="en-US" sz="1800" dirty="0"/>
              <a:t>세금계산</a:t>
            </a:r>
          </a:p>
          <a:p>
            <a:pPr>
              <a:spcBef>
                <a:spcPct val="0"/>
              </a:spcBef>
            </a:pPr>
            <a:r>
              <a:rPr lang="en-US" altLang="ko-KR" sz="1200" dirty="0"/>
              <a:t>1) </a:t>
            </a:r>
            <a:r>
              <a:rPr lang="ko-KR" altLang="en-US" sz="1200" dirty="0"/>
              <a:t>단순 세금 계산</a:t>
            </a:r>
          </a:p>
          <a:p>
            <a:pPr>
              <a:spcBef>
                <a:spcPct val="0"/>
              </a:spcBef>
            </a:pPr>
            <a:r>
              <a:rPr lang="en-US" altLang="ko-KR" sz="1200" dirty="0"/>
              <a:t>2) </a:t>
            </a:r>
            <a:r>
              <a:rPr lang="ko-KR" altLang="en-US" sz="1200" dirty="0"/>
              <a:t>소비자가 세금 계산</a:t>
            </a:r>
            <a:endParaRPr lang="en-US" altLang="ko-KR" sz="1200" dirty="0"/>
          </a:p>
          <a:p>
            <a:pPr>
              <a:spcBef>
                <a:spcPct val="0"/>
              </a:spcBef>
            </a:pPr>
            <a:endParaRPr lang="en-US" altLang="ko-KR" sz="1200" dirty="0"/>
          </a:p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환율계산</a:t>
            </a:r>
          </a:p>
          <a:p>
            <a:pPr>
              <a:spcBef>
                <a:spcPct val="0"/>
              </a:spcBef>
            </a:pPr>
            <a:r>
              <a:rPr lang="en-US" altLang="ko-KR" sz="1200" dirty="0"/>
              <a:t>1) </a:t>
            </a:r>
            <a:r>
              <a:rPr lang="ko-KR" altLang="en-US" sz="1200" dirty="0"/>
              <a:t>단순 환전 계산</a:t>
            </a:r>
          </a:p>
          <a:p>
            <a:pPr>
              <a:spcBef>
                <a:spcPct val="0"/>
              </a:spcBef>
            </a:pPr>
            <a:r>
              <a:rPr lang="en-US" altLang="ko-KR" sz="1200" dirty="0"/>
              <a:t>2) </a:t>
            </a:r>
            <a:r>
              <a:rPr lang="ko-KR" altLang="en-US" sz="1200" dirty="0"/>
              <a:t>수수료 포함 환전 계산</a:t>
            </a:r>
            <a:endParaRPr lang="en-US" altLang="ko-KR" sz="1200" dirty="0"/>
          </a:p>
          <a:p>
            <a:pPr>
              <a:spcBef>
                <a:spcPct val="0"/>
              </a:spcBef>
            </a:pPr>
            <a:endParaRPr lang="en-US" altLang="ko-KR" sz="1200" dirty="0"/>
          </a:p>
          <a:p>
            <a:pPr>
              <a:spcBef>
                <a:spcPct val="0"/>
              </a:spcBef>
            </a:pPr>
            <a:endParaRPr lang="en-US" altLang="ko-KR" sz="1200" dirty="0"/>
          </a:p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유용한 것 한 </a:t>
            </a:r>
            <a:r>
              <a:rPr lang="ko-KR" altLang="en-US" sz="1800" dirty="0" err="1"/>
              <a:t>두개씩</a:t>
            </a:r>
            <a:endParaRPr lang="ko-KR" altLang="en-US" sz="18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/>
              <a:t>자바 </a:t>
            </a:r>
            <a:r>
              <a:rPr lang="en-US" altLang="ko-KR" sz="1200" dirty="0"/>
              <a:t>SE-library </a:t>
            </a:r>
            <a:r>
              <a:rPr lang="ko-KR" altLang="en-US" sz="1200" dirty="0"/>
              <a:t>가지고 오기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/>
              <a:t>콤마 찍기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DecimalFormat</a:t>
            </a:r>
            <a:r>
              <a:rPr lang="en-US" altLang="ko-KR" sz="1200" dirty="0"/>
              <a:t>)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/>
              <a:t>현재일자</a:t>
            </a:r>
            <a:r>
              <a:rPr lang="en-US" altLang="ko-KR" sz="1200" dirty="0"/>
              <a:t> </a:t>
            </a:r>
            <a:r>
              <a:rPr lang="ko-KR" altLang="en-US" sz="1200" dirty="0"/>
              <a:t>시간 </a:t>
            </a:r>
            <a:r>
              <a:rPr lang="en-US" altLang="ko-KR" sz="1200" dirty="0"/>
              <a:t>(Calendar)</a:t>
            </a:r>
            <a:endParaRPr lang="ko-KR" altLang="en-US" sz="1200" dirty="0"/>
          </a:p>
          <a:p>
            <a:pPr>
              <a:spcBef>
                <a:spcPct val="0"/>
              </a:spcBef>
            </a:pPr>
            <a:endParaRPr lang="ko-KR" altLang="en-US" sz="1200" dirty="0"/>
          </a:p>
          <a:p>
            <a:pPr>
              <a:spcBef>
                <a:spcPct val="0"/>
              </a:spcBef>
            </a:pPr>
            <a:endParaRPr lang="en-US" altLang="ko-KR" sz="1200" dirty="0"/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</a:t>
            </a:fld>
            <a:endParaRPr lang="en-US" altLang="ko-KR" sz="1100" b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3018903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ko-KR" altLang="en-US" sz="1800" dirty="0"/>
              <a:t>주요내용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3659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1. </a:t>
            </a:r>
            <a:r>
              <a:rPr lang="ko-KR" altLang="en-US" sz="1800" dirty="0"/>
              <a:t>강의 들어가기</a:t>
            </a:r>
            <a:endParaRPr lang="en-US" altLang="ko-KR" sz="1800" dirty="0"/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868726" y="841830"/>
            <a:ext cx="7450138" cy="338110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학습목표 제시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자바에서 연산자에 대하여 </a:t>
            </a:r>
            <a:r>
              <a:rPr lang="en-US" altLang="ko-KR" sz="1200" dirty="0"/>
              <a:t>(</a:t>
            </a:r>
            <a:r>
              <a:rPr lang="ko-KR" altLang="en-US" sz="1200" dirty="0"/>
              <a:t>잘</a:t>
            </a:r>
            <a:r>
              <a:rPr lang="en-US" altLang="ko-KR" sz="1200" dirty="0"/>
              <a:t>)</a:t>
            </a:r>
            <a:r>
              <a:rPr lang="ko-KR" altLang="en-US" sz="1200" dirty="0"/>
              <a:t>사용할 수 있다</a:t>
            </a:r>
            <a:r>
              <a:rPr lang="en-US" altLang="ko-KR" sz="1200" dirty="0"/>
              <a:t>.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실무를 가정하여 연산자를 사용한 프로그램을 구현 할 수 있다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FF0000"/>
                </a:solidFill>
              </a:rPr>
              <a:t>연산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  <a:r>
              <a:rPr lang="ko-KR" altLang="en-US" sz="1200" dirty="0">
                <a:solidFill>
                  <a:srgbClr val="FF0000"/>
                </a:solidFill>
              </a:rPr>
              <a:t>선택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  <a:r>
              <a:rPr lang="ko-KR" altLang="en-US" sz="1200" dirty="0">
                <a:solidFill>
                  <a:srgbClr val="FF0000"/>
                </a:solidFill>
              </a:rPr>
              <a:t>반복은 실무중심으로 하지만 교재는 가벼운 마음으로 이해중심으로 보고 익히도록 함</a:t>
            </a:r>
            <a:r>
              <a:rPr lang="en-US" altLang="ko-KR" sz="1200" dirty="0">
                <a:solidFill>
                  <a:srgbClr val="FF0000"/>
                </a:solidFill>
              </a:rPr>
              <a:t>.(</a:t>
            </a:r>
            <a:r>
              <a:rPr lang="ko-KR" altLang="en-US" sz="1200" dirty="0">
                <a:solidFill>
                  <a:srgbClr val="FF0000"/>
                </a:solidFill>
              </a:rPr>
              <a:t> 책은 참고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3600" dirty="0">
                <a:solidFill>
                  <a:srgbClr val="FF0000"/>
                </a:solidFill>
              </a:rPr>
              <a:t>오늘 실습은 외울 정도로 숙달하자</a:t>
            </a:r>
            <a:endParaRPr lang="en-US" altLang="ko-KR" sz="3600" dirty="0">
              <a:solidFill>
                <a:srgbClr val="FF0000"/>
              </a:solidFill>
            </a:endParaRP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86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2. </a:t>
            </a:r>
            <a:r>
              <a:rPr lang="ko-KR" altLang="en-US" sz="1800" dirty="0"/>
              <a:t>생각해볼 문제 및 용어</a:t>
            </a:r>
            <a:endParaRPr lang="en-US" altLang="ko-KR" dirty="0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8073938" cy="257063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학습 전 생각해볼 문제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FF0000"/>
                </a:solidFill>
              </a:rPr>
              <a:t>교재 읽어보자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다른 언어도 살펴보자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사칙연산 </a:t>
            </a:r>
            <a:r>
              <a:rPr lang="ko-KR" altLang="en-US" sz="1200" dirty="0" err="1"/>
              <a:t>되세기기</a:t>
            </a:r>
            <a:r>
              <a:rPr lang="en-US" altLang="ko-KR" sz="1200" dirty="0"/>
              <a:t>, </a:t>
            </a:r>
            <a:r>
              <a:rPr lang="ko-KR" altLang="en-US" sz="1200" dirty="0"/>
              <a:t>구구단 외우기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마트가서</a:t>
            </a:r>
            <a:r>
              <a:rPr lang="ko-KR" altLang="en-US" sz="1200" dirty="0"/>
              <a:t> 영수증 받아오고 세금은 어떻게 되어있는지 고민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해외로 떠나본 경험이 있는가</a:t>
            </a:r>
            <a:r>
              <a:rPr lang="en-US" altLang="ko-KR" sz="1200" dirty="0"/>
              <a:t>? </a:t>
            </a:r>
            <a:r>
              <a:rPr lang="ko-KR" altLang="en-US" sz="1200" dirty="0"/>
              <a:t>환전은 어떻게 했는지 고민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614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728485" y="927543"/>
            <a:ext cx="9047229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연산자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다음과 같이 정리 </a:t>
            </a:r>
            <a:r>
              <a:rPr lang="en-US" altLang="ko-KR" sz="1200" dirty="0"/>
              <a:t>( </a:t>
            </a:r>
            <a:r>
              <a:rPr lang="ko-KR" altLang="en-US" sz="1200" dirty="0"/>
              <a:t>잘 </a:t>
            </a:r>
            <a:r>
              <a:rPr lang="ko-KR" altLang="en-US" sz="1200" dirty="0" err="1"/>
              <a:t>안쓰는</a:t>
            </a:r>
            <a:r>
              <a:rPr lang="ko-KR" altLang="en-US" sz="1200" dirty="0"/>
              <a:t> 것은 쓰려고 하지 마라 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삼항연산자</a:t>
            </a:r>
            <a:r>
              <a:rPr lang="ko-KR" altLang="en-US" sz="1200" dirty="0"/>
              <a:t> 등</a:t>
            </a:r>
            <a:r>
              <a:rPr lang="en-US" altLang="ko-KR" sz="1200" dirty="0"/>
              <a:t>..))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일반적인 사칙연산자 </a:t>
            </a:r>
            <a:r>
              <a:rPr lang="en-US" altLang="ko-KR" sz="1200" dirty="0"/>
              <a:t>(++,-- </a:t>
            </a:r>
            <a:r>
              <a:rPr lang="ko-KR" altLang="en-US" sz="1200" dirty="0"/>
              <a:t>포함</a:t>
            </a:r>
            <a:r>
              <a:rPr lang="en-US" altLang="ko-KR" sz="1200" dirty="0"/>
              <a:t>) , </a:t>
            </a:r>
            <a:r>
              <a:rPr lang="ko-KR" altLang="en-US" sz="1200" dirty="0"/>
              <a:t>비교</a:t>
            </a:r>
            <a:r>
              <a:rPr lang="en-US" altLang="ko-KR" sz="1200" dirty="0"/>
              <a:t>,</a:t>
            </a:r>
            <a:r>
              <a:rPr lang="ko-KR" altLang="en-US" sz="1200" dirty="0"/>
              <a:t>논리 연산자를 이해하자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FF0000"/>
                </a:solidFill>
              </a:rPr>
              <a:t>사칙연산자는 연산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계산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>
                <a:solidFill>
                  <a:srgbClr val="FF0000"/>
                </a:solidFill>
              </a:rPr>
              <a:t>을 통하여 이해하고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비교논리 연산자는 </a:t>
            </a:r>
            <a:r>
              <a:rPr lang="en-US" altLang="ko-KR" sz="1200" dirty="0">
                <a:solidFill>
                  <a:srgbClr val="FF0000"/>
                </a:solidFill>
              </a:rPr>
              <a:t>if</a:t>
            </a:r>
            <a:r>
              <a:rPr lang="ko-KR" altLang="en-US" sz="1200" dirty="0" err="1">
                <a:solidFill>
                  <a:srgbClr val="FF0000"/>
                </a:solidFill>
              </a:rPr>
              <a:t>문등</a:t>
            </a:r>
            <a:r>
              <a:rPr lang="ko-KR" altLang="en-US" sz="1200" dirty="0">
                <a:solidFill>
                  <a:srgbClr val="FF0000"/>
                </a:solidFill>
              </a:rPr>
              <a:t> 선택을 통하여 이해하자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2913104" y="2669235"/>
            <a:ext cx="6380202" cy="2877142"/>
            <a:chOff x="468313" y="2062163"/>
            <a:chExt cx="8316912" cy="3599765"/>
          </a:xfrm>
        </p:grpSpPr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468313" y="2062163"/>
              <a:ext cx="2376488" cy="385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400" dirty="0">
                  <a:latin typeface="견명조" pitchFamily="18" charset="-127"/>
                  <a:ea typeface="견명조" pitchFamily="18" charset="-127"/>
                </a:rPr>
                <a:t>▶ </a:t>
              </a:r>
              <a:r>
                <a:rPr lang="ko-KR" altLang="en-US" sz="1400" dirty="0" err="1">
                  <a:latin typeface="견명조" pitchFamily="18" charset="-127"/>
                  <a:ea typeface="견명조" pitchFamily="18" charset="-127"/>
                </a:rPr>
                <a:t>단항</a:t>
              </a:r>
              <a:r>
                <a:rPr lang="ko-KR" altLang="en-US" sz="1400" dirty="0">
                  <a:latin typeface="견명조" pitchFamily="18" charset="-127"/>
                  <a:ea typeface="견명조" pitchFamily="18" charset="-127"/>
                </a:rPr>
                <a:t> 연산자</a:t>
              </a:r>
            </a:p>
          </p:txBody>
        </p:sp>
        <p:sp>
          <p:nvSpPr>
            <p:cNvPr id="9" name="Text Box 13"/>
            <p:cNvSpPr txBox="1">
              <a:spLocks noChangeArrowheads="1"/>
            </p:cNvSpPr>
            <p:nvPr/>
          </p:nvSpPr>
          <p:spPr bwMode="auto">
            <a:xfrm>
              <a:off x="468313" y="3116263"/>
              <a:ext cx="2519362" cy="385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400"/>
                <a:t>▶ </a:t>
              </a:r>
              <a:r>
                <a:rPr lang="ko-KR" altLang="en-US" sz="1400">
                  <a:latin typeface="견명조" pitchFamily="18" charset="-127"/>
                  <a:ea typeface="견명조" pitchFamily="18" charset="-127"/>
                </a:rPr>
                <a:t>이항 연산자</a:t>
              </a:r>
            </a:p>
          </p:txBody>
        </p:sp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468313" y="4305300"/>
              <a:ext cx="2519362" cy="385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400"/>
                <a:t>▶ </a:t>
              </a:r>
              <a:r>
                <a:rPr lang="ko-KR" altLang="en-US" sz="1400">
                  <a:latin typeface="견명조" pitchFamily="18" charset="-127"/>
                  <a:ea typeface="견명조" pitchFamily="18" charset="-127"/>
                </a:rPr>
                <a:t>삼항 연산자</a:t>
              </a:r>
            </a:p>
          </p:txBody>
        </p:sp>
        <p:sp>
          <p:nvSpPr>
            <p:cNvPr id="11" name="Text Box 15"/>
            <p:cNvSpPr txBox="1">
              <a:spLocks noChangeArrowheads="1"/>
            </p:cNvSpPr>
            <p:nvPr/>
          </p:nvSpPr>
          <p:spPr bwMode="auto">
            <a:xfrm>
              <a:off x="2773363" y="2062163"/>
              <a:ext cx="4968876" cy="385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400">
                  <a:latin typeface="견명조" pitchFamily="18" charset="-127"/>
                  <a:ea typeface="견명조" pitchFamily="18" charset="-127"/>
                </a:rPr>
                <a:t>: +  -  (</a:t>
              </a:r>
              <a:r>
                <a:rPr lang="ko-KR" altLang="en-US" sz="1400">
                  <a:latin typeface="견명조" pitchFamily="18" charset="-127"/>
                  <a:ea typeface="견명조" pitchFamily="18" charset="-127"/>
                </a:rPr>
                <a:t>타입</a:t>
              </a:r>
              <a:r>
                <a:rPr lang="en-US" altLang="ko-KR" sz="1400">
                  <a:latin typeface="견명조" pitchFamily="18" charset="-127"/>
                  <a:ea typeface="견명조" pitchFamily="18" charset="-127"/>
                </a:rPr>
                <a:t>)  ++  --  ~  ! </a:t>
              </a:r>
            </a:p>
          </p:txBody>
        </p:sp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3095624" y="2709864"/>
              <a:ext cx="936625" cy="385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ko-KR" altLang="en-US" sz="1400">
                  <a:latin typeface="견명조" pitchFamily="18" charset="-127"/>
                  <a:ea typeface="견명조" pitchFamily="18" charset="-127"/>
                </a:rPr>
                <a:t>산술 </a:t>
              </a:r>
            </a:p>
          </p:txBody>
        </p:sp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3095624" y="3141663"/>
              <a:ext cx="936625" cy="385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ko-KR" altLang="en-US" sz="1400">
                  <a:latin typeface="견명조" pitchFamily="18" charset="-127"/>
                  <a:ea typeface="견명조" pitchFamily="18" charset="-127"/>
                </a:rPr>
                <a:t>비교 </a:t>
              </a:r>
            </a:p>
          </p:txBody>
        </p:sp>
        <p:sp>
          <p:nvSpPr>
            <p:cNvPr id="16" name="Text Box 18"/>
            <p:cNvSpPr txBox="1">
              <a:spLocks noChangeArrowheads="1"/>
            </p:cNvSpPr>
            <p:nvPr/>
          </p:nvSpPr>
          <p:spPr bwMode="auto">
            <a:xfrm>
              <a:off x="3095624" y="3513138"/>
              <a:ext cx="936625" cy="385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ko-KR" altLang="en-US" sz="1400">
                  <a:latin typeface="견명조" pitchFamily="18" charset="-127"/>
                  <a:ea typeface="견명조" pitchFamily="18" charset="-127"/>
                </a:rPr>
                <a:t>논리 </a:t>
              </a:r>
            </a:p>
          </p:txBody>
        </p:sp>
        <p:sp>
          <p:nvSpPr>
            <p:cNvPr id="17" name="Text Box 20"/>
            <p:cNvSpPr txBox="1">
              <a:spLocks noChangeArrowheads="1"/>
            </p:cNvSpPr>
            <p:nvPr/>
          </p:nvSpPr>
          <p:spPr bwMode="auto">
            <a:xfrm>
              <a:off x="3816349" y="3141663"/>
              <a:ext cx="4968876" cy="385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400">
                  <a:latin typeface="견명조" pitchFamily="18" charset="-127"/>
                  <a:ea typeface="견명조" pitchFamily="18" charset="-127"/>
                </a:rPr>
                <a:t>: &gt;  &lt;  &gt;=  &lt;=  ==  !=</a:t>
              </a:r>
            </a:p>
          </p:txBody>
        </p:sp>
        <p:sp>
          <p:nvSpPr>
            <p:cNvPr id="18" name="Text Box 21"/>
            <p:cNvSpPr txBox="1">
              <a:spLocks noChangeArrowheads="1"/>
            </p:cNvSpPr>
            <p:nvPr/>
          </p:nvSpPr>
          <p:spPr bwMode="auto">
            <a:xfrm>
              <a:off x="3816349" y="3538538"/>
              <a:ext cx="4968876" cy="385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400">
                  <a:latin typeface="견명조" pitchFamily="18" charset="-127"/>
                  <a:ea typeface="견명조" pitchFamily="18" charset="-127"/>
                </a:rPr>
                <a:t>: &amp;&amp;  ||   &amp;  ^  |</a:t>
              </a:r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 flipV="1">
              <a:off x="2735263" y="3033713"/>
              <a:ext cx="325437" cy="3254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0" name="Line 23"/>
            <p:cNvSpPr>
              <a:spLocks noChangeShapeType="1"/>
            </p:cNvSpPr>
            <p:nvPr/>
          </p:nvSpPr>
          <p:spPr bwMode="auto">
            <a:xfrm flipH="1" flipV="1">
              <a:off x="2735263" y="3357563"/>
              <a:ext cx="325437" cy="3603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1" name="Line 24"/>
            <p:cNvSpPr>
              <a:spLocks noChangeShapeType="1"/>
            </p:cNvSpPr>
            <p:nvPr/>
          </p:nvSpPr>
          <p:spPr bwMode="auto">
            <a:xfrm flipH="1" flipV="1">
              <a:off x="2736850" y="3357563"/>
              <a:ext cx="3587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2" name="Text Box 25"/>
            <p:cNvSpPr txBox="1">
              <a:spLocks noChangeArrowheads="1"/>
            </p:cNvSpPr>
            <p:nvPr/>
          </p:nvSpPr>
          <p:spPr bwMode="auto">
            <a:xfrm>
              <a:off x="2844801" y="4305300"/>
              <a:ext cx="4968876" cy="385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400">
                  <a:latin typeface="견명조" pitchFamily="18" charset="-127"/>
                  <a:ea typeface="견명조" pitchFamily="18" charset="-127"/>
                </a:rPr>
                <a:t>:   ?  :</a:t>
              </a:r>
            </a:p>
          </p:txBody>
        </p:sp>
        <p:sp>
          <p:nvSpPr>
            <p:cNvPr id="23" name="Text Box 26"/>
            <p:cNvSpPr txBox="1">
              <a:spLocks noChangeArrowheads="1"/>
            </p:cNvSpPr>
            <p:nvPr/>
          </p:nvSpPr>
          <p:spPr bwMode="auto">
            <a:xfrm>
              <a:off x="468313" y="5265738"/>
              <a:ext cx="2519362" cy="385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400"/>
                <a:t>▶ </a:t>
              </a:r>
              <a:r>
                <a:rPr lang="ko-KR" altLang="en-US" sz="1400">
                  <a:latin typeface="견명조" pitchFamily="18" charset="-127"/>
                  <a:ea typeface="견명조" pitchFamily="18" charset="-127"/>
                </a:rPr>
                <a:t>대입 연산자</a:t>
              </a:r>
            </a:p>
          </p:txBody>
        </p:sp>
        <p:sp>
          <p:nvSpPr>
            <p:cNvPr id="24" name="Text Box 27"/>
            <p:cNvSpPr txBox="1">
              <a:spLocks noChangeArrowheads="1"/>
            </p:cNvSpPr>
            <p:nvPr/>
          </p:nvSpPr>
          <p:spPr bwMode="auto">
            <a:xfrm>
              <a:off x="2844801" y="5276850"/>
              <a:ext cx="4968876" cy="385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400">
                  <a:latin typeface="견명조" pitchFamily="18" charset="-127"/>
                  <a:ea typeface="견명조" pitchFamily="18" charset="-127"/>
                </a:rPr>
                <a:t>:   =</a:t>
              </a:r>
            </a:p>
          </p:txBody>
        </p:sp>
      </p:grpSp>
      <p:sp>
        <p:nvSpPr>
          <p:cNvPr id="4" name="직사각형 3"/>
          <p:cNvSpPr/>
          <p:nvPr/>
        </p:nvSpPr>
        <p:spPr bwMode="auto">
          <a:xfrm>
            <a:off x="2769759" y="2617992"/>
            <a:ext cx="5387751" cy="2986028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05549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5"/>
              <p:cNvSpPr txBox="1">
                <a:spLocks noChangeArrowheads="1"/>
              </p:cNvSpPr>
              <p:nvPr/>
            </p:nvSpPr>
            <p:spPr bwMode="auto">
              <a:xfrm>
                <a:off x="728485" y="927543"/>
                <a:ext cx="9047229" cy="4866186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9333" tIns="64666" rIns="129333" bIns="64666">
                <a:noAutofit/>
              </a:bodyPr>
              <a:lstStyle>
                <a:lvl1pPr marL="180975" indent="-180975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9pPr>
              </a:lstStyle>
              <a:p>
                <a:pPr marL="285750" indent="-285750"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사칙연산</a:t>
                </a:r>
                <a:endParaRPr lang="en-US" altLang="ko-KR" sz="1600" dirty="0"/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:r>
                  <a:rPr lang="en-US" altLang="ko-KR" sz="1200" dirty="0"/>
                  <a:t>1+2*3 </a:t>
                </a:r>
                <a:r>
                  <a:rPr lang="ko-KR" altLang="en-US" sz="1200" dirty="0"/>
                  <a:t>은 </a:t>
                </a:r>
                <a:r>
                  <a:rPr lang="en-US" altLang="ko-KR" sz="1200" dirty="0"/>
                  <a:t>7</a:t>
                </a:r>
                <a:r>
                  <a:rPr lang="ko-KR" altLang="en-US" sz="1200" dirty="0"/>
                  <a:t>인가</a:t>
                </a:r>
                <a:r>
                  <a:rPr lang="en-US" altLang="ko-KR" sz="1200" dirty="0"/>
                  <a:t>?, 9</a:t>
                </a:r>
                <a:r>
                  <a:rPr lang="ko-KR" altLang="en-US" sz="1200" dirty="0"/>
                  <a:t>인가</a:t>
                </a:r>
                <a:r>
                  <a:rPr lang="en-US" altLang="ko-KR" sz="1200" dirty="0"/>
                  <a:t>?</a:t>
                </a:r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:r>
                  <a:rPr lang="ko-KR" altLang="en-US" sz="1200" dirty="0"/>
                  <a:t>여기서부터 배우고 시작한다는 것은 구구단을 안 외우고 </a:t>
                </a:r>
                <a:r>
                  <a:rPr lang="en-US" altLang="ko-KR" sz="1200" dirty="0"/>
                  <a:t>3*9=27</a:t>
                </a:r>
                <a:r>
                  <a:rPr lang="ko-KR" altLang="en-US" sz="1200" dirty="0"/>
                  <a:t>을  </a:t>
                </a:r>
                <a:r>
                  <a:rPr lang="en-US" altLang="ko-KR" sz="1200" dirty="0"/>
                  <a:t>3</a:t>
                </a:r>
                <a:r>
                  <a:rPr lang="ko-KR" altLang="en-US" sz="1200" dirty="0"/>
                  <a:t>을 </a:t>
                </a:r>
                <a:r>
                  <a:rPr lang="en-US" altLang="ko-KR" sz="1200" dirty="0"/>
                  <a:t>9</a:t>
                </a:r>
                <a:r>
                  <a:rPr lang="ko-KR" altLang="en-US" sz="1200" dirty="0"/>
                  <a:t>번을 더하고 있는 일을 하는 것이다</a:t>
                </a:r>
                <a:r>
                  <a:rPr lang="en-US" altLang="ko-KR" sz="1200" dirty="0"/>
                  <a:t>,.</a:t>
                </a:r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:r>
                  <a:rPr lang="ko-KR" altLang="en-US" sz="1200" dirty="0"/>
                  <a:t>잘 모르고 생소한 내용이면</a:t>
                </a:r>
                <a:r>
                  <a:rPr lang="en-US" altLang="ko-KR" sz="1200" dirty="0"/>
                  <a:t>, IT</a:t>
                </a:r>
                <a:r>
                  <a:rPr lang="ko-KR" altLang="en-US" sz="1200" dirty="0"/>
                  <a:t>개발자를 하려고 하지 마라</a:t>
                </a:r>
                <a:r>
                  <a:rPr lang="en-US" altLang="ko-KR" sz="1200" dirty="0"/>
                  <a:t>. </a:t>
                </a:r>
                <a:r>
                  <a:rPr lang="ko-KR" altLang="en-US" sz="1200" dirty="0"/>
                  <a:t>좀더 수학</a:t>
                </a:r>
                <a:r>
                  <a:rPr lang="en-US" altLang="ko-KR" sz="1200" dirty="0"/>
                  <a:t>..</a:t>
                </a:r>
                <a:r>
                  <a:rPr lang="ko-KR" altLang="en-US" sz="1200" dirty="0"/>
                  <a:t>아니 초등산수부터 해야 한다</a:t>
                </a:r>
                <a:r>
                  <a:rPr lang="en-US" altLang="ko-KR" sz="1200" dirty="0"/>
                  <a:t>. </a:t>
                </a:r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ko-KR" sz="1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2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sz="12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을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 dirty="0"/>
                  <a:t> </a:t>
                </a:r>
                <a:r>
                  <a:rPr lang="ko-KR" altLang="en-US" sz="1200" dirty="0"/>
                  <a:t>프</a:t>
                </a:r>
                <a14:m>
                  <m:oMath xmlns:m="http://schemas.openxmlformats.org/officeDocument/2006/math">
                    <m:r>
                      <a:rPr lang="ko-KR" altLang="en-US" sz="1200" i="1" dirty="0">
                        <a:latin typeface="Cambria Math" panose="02040503050406030204" pitchFamily="18" charset="0"/>
                      </a:rPr>
                      <m:t>로</m:t>
                    </m:r>
                    <m:r>
                      <a:rPr lang="ko-KR" altLang="en-US" sz="1200" i="1" dirty="0" smtClean="0">
                        <a:latin typeface="Cambria Math" panose="02040503050406030204" pitchFamily="18" charset="0"/>
                      </a:rPr>
                      <m:t>그</m:t>
                    </m:r>
                    <m:r>
                      <a:rPr lang="ko-KR" altLang="en-US" sz="1200" i="1" dirty="0">
                        <a:latin typeface="Cambria Math" panose="02040503050406030204" pitchFamily="18" charset="0"/>
                      </a:rPr>
                      <m:t>램</m:t>
                    </m:r>
                    <m:r>
                      <a:rPr lang="en-US" altLang="ko-KR" sz="12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i="1" dirty="0">
                        <a:latin typeface="Cambria Math" panose="02040503050406030204" pitchFamily="18" charset="0"/>
                      </a:rPr>
                      <m:t>식</m:t>
                    </m:r>
                    <m:r>
                      <a:rPr lang="ko-KR" altLang="en-US" sz="1200" i="1" dirty="0" smtClean="0">
                        <a:latin typeface="Cambria Math" panose="02040503050406030204" pitchFamily="18" charset="0"/>
                      </a:rPr>
                      <m:t>으</m:t>
                    </m:r>
                    <m:r>
                      <a:rPr lang="ko-KR" altLang="en-US" sz="1200" i="1" dirty="0">
                        <a:latin typeface="Cambria Math" panose="02040503050406030204" pitchFamily="18" charset="0"/>
                      </a:rPr>
                      <m:t>로</m:t>
                    </m:r>
                    <m:r>
                      <a:rPr lang="en-US" altLang="ko-KR" sz="12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i="1" dirty="0">
                        <a:latin typeface="Cambria Math" panose="02040503050406030204" pitchFamily="18" charset="0"/>
                      </a:rPr>
                      <m:t>표</m:t>
                    </m:r>
                    <m:r>
                      <a:rPr lang="ko-KR" altLang="en-US" sz="1200" i="1" dirty="0" smtClean="0">
                        <a:latin typeface="Cambria Math" panose="02040503050406030204" pitchFamily="18" charset="0"/>
                      </a:rPr>
                      <m:t>현</m:t>
                    </m:r>
                    <m:r>
                      <a:rPr lang="ko-KR" altLang="en-US" sz="1200" i="1" dirty="0">
                        <a:latin typeface="Cambria Math" panose="02040503050406030204" pitchFamily="18" charset="0"/>
                      </a:rPr>
                      <m:t>하</m:t>
                    </m:r>
                    <m:r>
                      <a:rPr lang="ko-KR" altLang="en-US" sz="1200" i="1" dirty="0" smtClean="0">
                        <a:latin typeface="Cambria Math" panose="02040503050406030204" pitchFamily="18" charset="0"/>
                      </a:rPr>
                      <m:t>면</m:t>
                    </m:r>
                    <m:r>
                      <a:rPr lang="en-US" altLang="ko-KR" sz="1200" b="1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ko-KR" sz="1200" b="1" i="1" smtClean="0"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altLang="ko-KR" sz="1200" dirty="0"/>
                  <a:t> </a:t>
                </a:r>
                <a:r>
                  <a:rPr lang="ko-KR" altLang="en-US" sz="1200" dirty="0"/>
                  <a:t>인데 이 수식을 왼쪽에서 오른쪽으로 계산하는 경우는 없죠</a:t>
                </a:r>
                <a:r>
                  <a:rPr lang="en-US" altLang="ko-KR" sz="1200" dirty="0"/>
                  <a:t>?</a:t>
                </a:r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:endParaRPr lang="en-US" altLang="ko-KR" sz="1200" dirty="0"/>
              </a:p>
              <a:p>
                <a:pPr marL="285750" indent="-285750"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 err="1"/>
                  <a:t>연산후</a:t>
                </a:r>
                <a:r>
                  <a:rPr lang="ko-KR" altLang="en-US" sz="1600" dirty="0"/>
                  <a:t> 대입</a:t>
                </a:r>
                <a:endParaRPr lang="en-US" altLang="ko-KR" sz="1600" dirty="0"/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:r>
                  <a:rPr lang="ko-KR" altLang="en-US" sz="1200" dirty="0"/>
                  <a:t>프로그램에서는 </a:t>
                </a:r>
                <a:r>
                  <a:rPr lang="ko-KR" altLang="en-US" sz="1200" dirty="0" err="1"/>
                  <a:t>연산후</a:t>
                </a:r>
                <a:r>
                  <a:rPr lang="ko-KR" altLang="en-US" sz="1200" dirty="0"/>
                  <a:t> 어느 변수에 대입</a:t>
                </a:r>
                <a:r>
                  <a:rPr lang="en-US" altLang="ko-KR" sz="1200" dirty="0"/>
                  <a:t>(</a:t>
                </a:r>
                <a:r>
                  <a:rPr lang="ko-KR" altLang="en-US" sz="1200" dirty="0"/>
                  <a:t>저장</a:t>
                </a:r>
                <a:r>
                  <a:rPr lang="en-US" altLang="ko-KR" sz="1200" dirty="0"/>
                  <a:t>) </a:t>
                </a:r>
                <a:r>
                  <a:rPr lang="ko-KR" altLang="en-US" sz="1200" dirty="0"/>
                  <a:t>하는 일이 기본적인 일</a:t>
                </a:r>
                <a:endParaRPr lang="en-US" altLang="ko-KR" sz="1200" dirty="0"/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:r>
                  <a:rPr lang="en-US" altLang="ko-KR" sz="1200" dirty="0" err="1"/>
                  <a:t>iVal</a:t>
                </a:r>
                <a:r>
                  <a:rPr lang="en-US" altLang="ko-KR" sz="1200" dirty="0"/>
                  <a:t> = </a:t>
                </a:r>
                <a:r>
                  <a:rPr lang="en-US" altLang="ko-KR" sz="1200" dirty="0" err="1"/>
                  <a:t>iVal</a:t>
                </a:r>
                <a:r>
                  <a:rPr lang="en-US" altLang="ko-KR" sz="1200" dirty="0"/>
                  <a:t> +1;   // </a:t>
                </a:r>
                <a:r>
                  <a:rPr lang="en-US" altLang="ko-KR" sz="1200" dirty="0" err="1"/>
                  <a:t>iVal</a:t>
                </a:r>
                <a:r>
                  <a:rPr lang="en-US" altLang="ko-KR" sz="1200" dirty="0"/>
                  <a:t> </a:t>
                </a:r>
                <a:r>
                  <a:rPr lang="ko-KR" altLang="en-US" sz="1200" dirty="0"/>
                  <a:t>변수에 값과 </a:t>
                </a:r>
                <a:r>
                  <a:rPr lang="en-US" altLang="ko-KR" sz="1200" dirty="0"/>
                  <a:t>1</a:t>
                </a:r>
                <a:r>
                  <a:rPr lang="ko-KR" altLang="en-US" sz="1200" dirty="0"/>
                  <a:t>을 더한 후 </a:t>
                </a:r>
                <a:r>
                  <a:rPr lang="en-US" altLang="ko-KR" sz="1200" dirty="0" err="1"/>
                  <a:t>iVal</a:t>
                </a:r>
                <a:r>
                  <a:rPr lang="en-US" altLang="ko-KR" sz="1200" dirty="0"/>
                  <a:t>  </a:t>
                </a:r>
                <a:r>
                  <a:rPr lang="ko-KR" altLang="en-US" sz="1200" dirty="0"/>
                  <a:t>변수에 저장</a:t>
                </a:r>
                <a:endParaRPr lang="en-US" altLang="ko-KR" sz="1200" dirty="0"/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:endParaRPr lang="en-US" altLang="ko-KR" sz="1200" dirty="0"/>
              </a:p>
            </p:txBody>
          </p:sp>
        </mc:Choice>
        <mc:Fallback xmlns="">
          <p:sp>
            <p:nvSpPr>
              <p:cNvPr id="14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8485" y="927543"/>
                <a:ext cx="9047229" cy="486618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538290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사칙연산</a:t>
            </a:r>
            <a:r>
              <a:rPr lang="en-US" altLang="ko-KR" sz="1600" dirty="0"/>
              <a:t>, </a:t>
            </a:r>
            <a:r>
              <a:rPr lang="ko-KR" altLang="en-US" sz="1600" dirty="0"/>
              <a:t>연산 후 대입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이번 주 내용은 모두 별이 세 개 </a:t>
            </a:r>
            <a:r>
              <a:rPr lang="en-US" altLang="ko-KR" sz="1050" dirty="0"/>
              <a:t>: </a:t>
            </a:r>
            <a:r>
              <a:rPr lang="ko-KR" altLang="en-US" sz="1050" dirty="0"/>
              <a:t>충분한 시간 투자하여 꼼꼼히 이해하고 실습하자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교수도 이것을 하나하나 수업시간에 작성하면서 코딩 팁 및 결과 도출을 보여주며</a:t>
            </a:r>
            <a:r>
              <a:rPr lang="en-US" altLang="ko-KR" sz="1050" dirty="0"/>
              <a:t>, </a:t>
            </a:r>
            <a:r>
              <a:rPr lang="ko-KR" altLang="en-US" sz="1050" dirty="0"/>
              <a:t>학생에게 이해 시키자 </a:t>
            </a: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 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21" y="1451080"/>
            <a:ext cx="392430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47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누적하기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프로그램에서 값을 누적</a:t>
            </a:r>
            <a:r>
              <a:rPr lang="en-US" altLang="ko-KR" sz="1050" dirty="0"/>
              <a:t>(sum)</a:t>
            </a:r>
            <a:r>
              <a:rPr lang="ko-KR" altLang="en-US" sz="1050" dirty="0"/>
              <a:t>하는 경우는 무진장 많다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변수를 선언 후 초기화하고</a:t>
            </a:r>
            <a:r>
              <a:rPr lang="en-US" altLang="ko-KR" sz="1050" dirty="0"/>
              <a:t>, </a:t>
            </a:r>
            <a:r>
              <a:rPr lang="ko-KR" altLang="en-US" sz="1050" dirty="0" err="1"/>
              <a:t>반복문</a:t>
            </a:r>
            <a:r>
              <a:rPr lang="ko-KR" altLang="en-US" sz="1050" dirty="0"/>
              <a:t> 등을 통하여 계속적으로 더한 값을 쌓는 기법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계산기에 </a:t>
            </a:r>
            <a:r>
              <a:rPr lang="en-US" altLang="ko-KR" sz="1050" dirty="0"/>
              <a:t>M+, M-</a:t>
            </a:r>
            <a:r>
              <a:rPr lang="ko-KR" altLang="en-US" sz="1050" dirty="0"/>
              <a:t>버튼을 잘 사용하는가</a:t>
            </a:r>
            <a:r>
              <a:rPr lang="en-US" altLang="ko-KR" sz="1050" dirty="0"/>
              <a:t>?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교수도 이것을 하나하나 수업시간에 작성하면서 코딩 팁 및 결과 도출을 보여주며</a:t>
            </a:r>
            <a:r>
              <a:rPr lang="en-US" altLang="ko-KR" sz="1050" dirty="0"/>
              <a:t>, </a:t>
            </a:r>
            <a:r>
              <a:rPr lang="ko-KR" altLang="en-US" sz="1050" dirty="0"/>
              <a:t>학생에게 이해 시키자</a:t>
            </a:r>
            <a:r>
              <a:rPr lang="en-US" altLang="ko-KR" sz="1050" dirty="0"/>
              <a:t>(</a:t>
            </a:r>
            <a:r>
              <a:rPr lang="ko-KR" altLang="en-US" sz="1050" dirty="0"/>
              <a:t>모든 과정</a:t>
            </a:r>
            <a:r>
              <a:rPr lang="en-US" altLang="ko-KR" sz="1050" dirty="0"/>
              <a:t>)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31" y="1226215"/>
            <a:ext cx="504825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67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정수형 연산 </a:t>
            </a:r>
            <a:r>
              <a:rPr lang="en-US" altLang="ko-KR" sz="1600" dirty="0"/>
              <a:t>(</a:t>
            </a:r>
            <a:r>
              <a:rPr lang="ko-KR" altLang="en-US" sz="1600" dirty="0"/>
              <a:t>버림</a:t>
            </a:r>
            <a:r>
              <a:rPr lang="en-US" altLang="ko-KR" sz="16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정수형 연산의 특징은 소수점 이하 자리가 버려진다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왜 그럴까</a:t>
            </a:r>
            <a:r>
              <a:rPr lang="en-US" altLang="ko-KR" sz="1050" dirty="0"/>
              <a:t>? </a:t>
            </a:r>
            <a:r>
              <a:rPr lang="ko-KR" altLang="en-US" sz="1050" dirty="0"/>
              <a:t>정수형 변수는 소수점 이하를 저장해 두지 않기 때문에 그냥 </a:t>
            </a:r>
            <a:r>
              <a:rPr lang="en-US" altLang="ko-KR" sz="1050" dirty="0" err="1"/>
              <a:t>Jotman</a:t>
            </a:r>
            <a:r>
              <a:rPr lang="ko-KR" altLang="en-US" sz="1050" dirty="0"/>
              <a:t>하다고 버려버리는 것이다</a:t>
            </a:r>
            <a:r>
              <a:rPr lang="en-US" altLang="ko-KR" sz="1050" dirty="0"/>
              <a:t>. (</a:t>
            </a:r>
            <a:r>
              <a:rPr lang="ko-KR" altLang="en-US" sz="1050" dirty="0"/>
              <a:t>중요해서 욕 나왔다</a:t>
            </a:r>
            <a:r>
              <a:rPr lang="en-US" altLang="ko-KR" sz="1050" dirty="0"/>
              <a:t>.)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우리가 </a:t>
            </a:r>
            <a:r>
              <a:rPr lang="ko-KR" altLang="en-US" sz="1050" dirty="0" err="1"/>
              <a:t>초등학교때</a:t>
            </a:r>
            <a:r>
              <a:rPr lang="ko-KR" altLang="en-US" sz="1050" dirty="0"/>
              <a:t> 수학시간에 </a:t>
            </a:r>
            <a:r>
              <a:rPr lang="en-US" altLang="ko-KR" sz="1050" dirty="0"/>
              <a:t>10</a:t>
            </a:r>
            <a:r>
              <a:rPr lang="ko-KR" altLang="en-US" sz="1050" dirty="0"/>
              <a:t>을 </a:t>
            </a:r>
            <a:r>
              <a:rPr lang="en-US" altLang="ko-KR" sz="1050" dirty="0"/>
              <a:t>3</a:t>
            </a:r>
            <a:r>
              <a:rPr lang="ko-KR" altLang="en-US" sz="1050" dirty="0"/>
              <a:t>으로 나누면 몫이</a:t>
            </a:r>
            <a:r>
              <a:rPr lang="en-US" altLang="ko-KR" sz="1050" dirty="0"/>
              <a:t>3 </a:t>
            </a:r>
            <a:r>
              <a:rPr lang="ko-KR" altLang="en-US" sz="1050" dirty="0"/>
              <a:t>나머지가 </a:t>
            </a:r>
            <a:r>
              <a:rPr lang="en-US" altLang="ko-KR" sz="1050" dirty="0"/>
              <a:t>1</a:t>
            </a:r>
            <a:r>
              <a:rPr lang="ko-KR" altLang="en-US" sz="1050" dirty="0"/>
              <a:t>이다</a:t>
            </a:r>
            <a:r>
              <a:rPr lang="en-US" altLang="ko-KR" sz="1050" dirty="0"/>
              <a:t>. </a:t>
            </a:r>
            <a:r>
              <a:rPr lang="ko-KR" altLang="en-US" sz="1050" dirty="0" err="1"/>
              <a:t>이넘이</a:t>
            </a:r>
            <a:r>
              <a:rPr lang="ko-KR" altLang="en-US" sz="1050" dirty="0"/>
              <a:t> 점점 고학년으로 가면서 </a:t>
            </a:r>
            <a:r>
              <a:rPr lang="en-US" altLang="ko-KR" sz="1050" dirty="0"/>
              <a:t>10</a:t>
            </a:r>
            <a:r>
              <a:rPr lang="ko-KR" altLang="en-US" sz="1050" dirty="0"/>
              <a:t>을 </a:t>
            </a:r>
            <a:r>
              <a:rPr lang="en-US" altLang="ko-KR" sz="1050" dirty="0"/>
              <a:t>3</a:t>
            </a:r>
            <a:r>
              <a:rPr lang="ko-KR" altLang="en-US" sz="1050" dirty="0"/>
              <a:t>으로 나누면 </a:t>
            </a:r>
            <a:r>
              <a:rPr lang="en-US" altLang="ko-KR" sz="1050" dirty="0"/>
              <a:t>3.33333…</a:t>
            </a:r>
            <a:r>
              <a:rPr lang="ko-KR" altLang="en-US" sz="1050" dirty="0"/>
              <a:t>일뿐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정수형과 </a:t>
            </a:r>
            <a:r>
              <a:rPr lang="ko-KR" altLang="en-US" sz="1050" dirty="0" err="1"/>
              <a:t>실수형을</a:t>
            </a:r>
            <a:r>
              <a:rPr lang="ko-KR" altLang="en-US" sz="1050" dirty="0"/>
              <a:t> 그렇게 기억하고</a:t>
            </a:r>
            <a:r>
              <a:rPr lang="en-US" altLang="ko-KR" sz="1050" dirty="0"/>
              <a:t>. </a:t>
            </a:r>
            <a:r>
              <a:rPr lang="ko-KR" altLang="en-US" sz="1050" dirty="0"/>
              <a:t>이것을 이용하여 </a:t>
            </a:r>
            <a:r>
              <a:rPr lang="ko-KR" altLang="en-US" sz="1050" dirty="0" err="1"/>
              <a:t>버림처리</a:t>
            </a:r>
            <a:r>
              <a:rPr lang="en-US" altLang="ko-KR" sz="1050" dirty="0"/>
              <a:t>, </a:t>
            </a:r>
            <a:r>
              <a:rPr lang="ko-KR" altLang="en-US" sz="1050" dirty="0" err="1"/>
              <a:t>형변환을</a:t>
            </a:r>
            <a:r>
              <a:rPr lang="ko-KR" altLang="en-US" sz="1050" dirty="0"/>
              <a:t> 하면서 여러 짓을 함을 명심하자</a:t>
            </a:r>
            <a:endParaRPr lang="en-US" altLang="ko-KR" sz="1050" dirty="0"/>
          </a:p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나머지 연산자 응용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나머지 연산자를 응용하면 여러 가지로 써먹는데 주기적 </a:t>
            </a:r>
            <a:r>
              <a:rPr lang="ko-KR" altLang="en-US" sz="1050" dirty="0" err="1"/>
              <a:t>처리때</a:t>
            </a:r>
            <a:r>
              <a:rPr lang="ko-KR" altLang="en-US" sz="1050" dirty="0"/>
              <a:t> 유용하다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만일 </a:t>
            </a:r>
            <a:r>
              <a:rPr lang="en-US" altLang="ko-KR" sz="1050" dirty="0"/>
              <a:t>5</a:t>
            </a:r>
            <a:r>
              <a:rPr lang="ko-KR" altLang="en-US" sz="1050" dirty="0"/>
              <a:t>로 나눈 나머지가 </a:t>
            </a:r>
            <a:r>
              <a:rPr lang="en-US" altLang="ko-KR" sz="1050" dirty="0"/>
              <a:t>0</a:t>
            </a:r>
            <a:r>
              <a:rPr lang="ko-KR" altLang="en-US" sz="1050" dirty="0"/>
              <a:t>인 것은 예제에서는 </a:t>
            </a:r>
            <a:r>
              <a:rPr lang="en-US" altLang="ko-KR" sz="1050" dirty="0"/>
              <a:t>5</a:t>
            </a:r>
            <a:r>
              <a:rPr lang="ko-KR" altLang="en-US" sz="1050" dirty="0"/>
              <a:t>번 마다 나타나게</a:t>
            </a:r>
            <a:r>
              <a:rPr lang="en-US" altLang="ko-KR" sz="1050" dirty="0"/>
              <a:t> </a:t>
            </a:r>
            <a:r>
              <a:rPr lang="ko-KR" altLang="en-US" sz="1050" dirty="0"/>
              <a:t>된다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45" y="1383180"/>
            <a:ext cx="541972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15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반올림 버림 처리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반올림 모르는 분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그 놈의 돈</a:t>
            </a:r>
            <a:r>
              <a:rPr lang="en-US" altLang="ko-KR" sz="1050" dirty="0"/>
              <a:t>, </a:t>
            </a:r>
            <a:r>
              <a:rPr lang="ko-KR" altLang="en-US" sz="1050" dirty="0"/>
              <a:t>왜 우리나라 돈은 현실적으로 </a:t>
            </a:r>
            <a:r>
              <a:rPr lang="en-US" altLang="ko-KR" sz="1050" dirty="0"/>
              <a:t>10</a:t>
            </a:r>
            <a:r>
              <a:rPr lang="ko-KR" altLang="en-US" sz="1050" dirty="0"/>
              <a:t>원 단위라</a:t>
            </a:r>
            <a:r>
              <a:rPr lang="en-US" altLang="ko-KR" sz="1050" dirty="0"/>
              <a:t> 10</a:t>
            </a:r>
            <a:r>
              <a:rPr lang="ko-KR" altLang="en-US" sz="1050" dirty="0"/>
              <a:t>원기준 버림 반올림 해보자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100</a:t>
            </a:r>
            <a:r>
              <a:rPr lang="ko-KR" altLang="en-US" sz="1050" dirty="0"/>
              <a:t>원</a:t>
            </a:r>
            <a:r>
              <a:rPr lang="en-US" altLang="ko-KR" sz="1050" dirty="0"/>
              <a:t>, 1000</a:t>
            </a:r>
            <a:r>
              <a:rPr lang="ko-KR" altLang="en-US" sz="1050" dirty="0"/>
              <a:t>원 반올림을 스스로 구현해라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91" y="1323283"/>
            <a:ext cx="435292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32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소수점 자리의 반올림 버림 처리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이런 경우 정수형과 </a:t>
            </a:r>
            <a:r>
              <a:rPr lang="ko-KR" altLang="en-US" sz="1050" dirty="0" err="1"/>
              <a:t>실수형을</a:t>
            </a:r>
            <a:r>
              <a:rPr lang="ko-KR" altLang="en-US" sz="1050" dirty="0"/>
              <a:t> 넘나 들면서 계산해야 한다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14/5 </a:t>
            </a:r>
            <a:r>
              <a:rPr lang="ko-KR" altLang="en-US" sz="1050" dirty="0"/>
              <a:t>와 </a:t>
            </a:r>
            <a:r>
              <a:rPr lang="en-US" altLang="ko-KR" sz="1050" dirty="0"/>
              <a:t>14/5.0</a:t>
            </a:r>
            <a:r>
              <a:rPr lang="ko-KR" altLang="en-US" sz="1050" dirty="0"/>
              <a:t>이</a:t>
            </a:r>
            <a:r>
              <a:rPr lang="en-US" altLang="ko-KR" sz="1050" dirty="0"/>
              <a:t> </a:t>
            </a:r>
            <a:r>
              <a:rPr lang="ko-KR" altLang="en-US" sz="1050" dirty="0"/>
              <a:t>프로그램언어에서는 다른 것임을 명심해라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94" y="1476375"/>
            <a:ext cx="542925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67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23174" y="1078930"/>
            <a:ext cx="9061444" cy="50769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384560" y="779074"/>
            <a:ext cx="9498013" cy="28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dirty="0"/>
              <a:t>다음 제시된 내용을 자필로 작성하여 제출 하시오 </a:t>
            </a:r>
            <a:r>
              <a:rPr lang="en-US" altLang="ko-KR" dirty="0"/>
              <a:t>(</a:t>
            </a:r>
            <a:r>
              <a:rPr lang="ko-KR" altLang="en-US" dirty="0"/>
              <a:t>상단 학번</a:t>
            </a:r>
            <a:r>
              <a:rPr lang="en-US" altLang="ko-KR" dirty="0"/>
              <a:t>, </a:t>
            </a:r>
            <a:r>
              <a:rPr lang="ko-KR" altLang="en-US" dirty="0"/>
              <a:t>이름 기입</a:t>
            </a:r>
            <a:r>
              <a:rPr lang="en-US" altLang="ko-KR" dirty="0"/>
              <a:t>)</a:t>
            </a: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11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6. </a:t>
            </a:r>
            <a:r>
              <a:rPr lang="ko-KR" altLang="en-US" sz="1800" dirty="0"/>
              <a:t>정리하기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>
          <a:xfrm>
            <a:off x="603094" y="1283413"/>
            <a:ext cx="8370167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지금까지 설명한 것은 별이 세 개</a:t>
            </a:r>
            <a:r>
              <a:rPr lang="en-US" altLang="ko-KR" sz="1100" dirty="0"/>
              <a:t>(</a:t>
            </a:r>
            <a:r>
              <a:rPr lang="ko-KR" altLang="en-US" sz="1100" dirty="0"/>
              <a:t>★★★</a:t>
            </a:r>
            <a:r>
              <a:rPr lang="en-US" altLang="ko-KR" sz="1100" dirty="0"/>
              <a:t>)</a:t>
            </a:r>
            <a:r>
              <a:rPr lang="ko-KR" altLang="en-US" sz="1100" dirty="0"/>
              <a:t> 다</a:t>
            </a:r>
            <a:r>
              <a:rPr lang="en-US" altLang="ko-KR" sz="1100" dirty="0"/>
              <a:t>.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전부 설명을 달아서 프로그램 구현 실습을 한다</a:t>
            </a: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그리고 해당 소스부분</a:t>
            </a:r>
            <a:r>
              <a:rPr lang="en-US" altLang="ko-KR" sz="1100" dirty="0"/>
              <a:t>(</a:t>
            </a:r>
            <a:r>
              <a:rPr lang="ko-KR" altLang="en-US" sz="1100" dirty="0" err="1"/>
              <a:t>클래스선언부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메인부분</a:t>
            </a:r>
            <a:r>
              <a:rPr lang="ko-KR" altLang="en-US" sz="1100" dirty="0"/>
              <a:t> 생략</a:t>
            </a:r>
            <a:r>
              <a:rPr lang="en-US" altLang="ko-KR" sz="1100" dirty="0"/>
              <a:t>)</a:t>
            </a:r>
            <a:r>
              <a:rPr lang="ko-KR" altLang="en-US" sz="1100" dirty="0"/>
              <a:t>을 </a:t>
            </a:r>
            <a:r>
              <a:rPr lang="ko-KR" altLang="en-US" sz="1100" dirty="0" err="1"/>
              <a:t>필기하시요</a:t>
            </a: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ko-KR" altLang="en-US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1.</a:t>
            </a:r>
            <a:r>
              <a:rPr lang="ko-KR" altLang="en-US" sz="1100" dirty="0"/>
              <a:t>연산자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1) </a:t>
            </a:r>
            <a:r>
              <a:rPr lang="ko-KR" altLang="en-US" sz="1100" dirty="0"/>
              <a:t>사칙연산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2) </a:t>
            </a:r>
            <a:r>
              <a:rPr lang="ko-KR" altLang="en-US" sz="1100" dirty="0"/>
              <a:t>연산 후 대입</a:t>
            </a:r>
            <a:endParaRPr lang="en-US" altLang="ko-KR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3) </a:t>
            </a:r>
            <a:r>
              <a:rPr lang="ko-KR" altLang="en-US" sz="1100" dirty="0"/>
              <a:t>누적하기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4) </a:t>
            </a:r>
            <a:r>
              <a:rPr lang="ko-KR" altLang="en-US" sz="1100" dirty="0"/>
              <a:t>정수형 연산 </a:t>
            </a:r>
            <a:r>
              <a:rPr lang="en-US" altLang="ko-KR" sz="1100" dirty="0"/>
              <a:t>(</a:t>
            </a:r>
            <a:r>
              <a:rPr lang="ko-KR" altLang="en-US" sz="1100" dirty="0"/>
              <a:t>버림</a:t>
            </a:r>
            <a:r>
              <a:rPr lang="en-US" altLang="ko-KR" sz="1100" dirty="0"/>
              <a:t>)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5) </a:t>
            </a:r>
            <a:r>
              <a:rPr lang="ko-KR" altLang="en-US" sz="1100" dirty="0"/>
              <a:t>나머지</a:t>
            </a:r>
            <a:r>
              <a:rPr lang="en-US" altLang="ko-KR" sz="1100" dirty="0"/>
              <a:t>(%)</a:t>
            </a:r>
            <a:r>
              <a:rPr lang="ko-KR" altLang="en-US" sz="1100" dirty="0"/>
              <a:t>연산자의 응용</a:t>
            </a:r>
            <a:endParaRPr lang="en-US" altLang="ko-KR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6) </a:t>
            </a:r>
            <a:r>
              <a:rPr lang="ko-KR" altLang="en-US" sz="1100" dirty="0"/>
              <a:t>반올림 버림 처리</a:t>
            </a:r>
            <a:endParaRPr lang="en-US" altLang="ko-KR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7) </a:t>
            </a:r>
            <a:r>
              <a:rPr lang="ko-KR" altLang="en-US" sz="1100" dirty="0"/>
              <a:t>소수점 자리의 반올림 버림 처리</a:t>
            </a: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- </a:t>
            </a:r>
            <a:r>
              <a:rPr lang="ko-KR" altLang="en-US" sz="1100" dirty="0"/>
              <a:t>충분한 시간을 주기 </a:t>
            </a:r>
            <a:r>
              <a:rPr lang="en-US" altLang="ko-KR" sz="1100" dirty="0"/>
              <a:t>(</a:t>
            </a:r>
            <a:r>
              <a:rPr lang="ko-KR" altLang="en-US" sz="1100" dirty="0"/>
              <a:t>진도보다</a:t>
            </a:r>
            <a:r>
              <a:rPr lang="en-US" altLang="ko-KR" sz="1100" dirty="0"/>
              <a:t>, </a:t>
            </a:r>
            <a:r>
              <a:rPr lang="ko-KR" altLang="en-US" sz="1100" dirty="0"/>
              <a:t>확실한 이해</a:t>
            </a:r>
            <a:r>
              <a:rPr lang="en-US" altLang="ko-KR" sz="1100" dirty="0"/>
              <a:t>.. </a:t>
            </a:r>
            <a:r>
              <a:rPr lang="ko-KR" altLang="en-US" sz="1100" dirty="0" err="1"/>
              <a:t>이부분</a:t>
            </a:r>
            <a:r>
              <a:rPr lang="ko-KR" altLang="en-US" sz="1100" dirty="0"/>
              <a:t> 까지 스스로 이해해야 다음 진행이 가능</a:t>
            </a:r>
            <a:r>
              <a:rPr lang="en-US" altLang="ko-KR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95298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25" name="직사각형 24"/>
          <p:cNvSpPr/>
          <p:nvPr/>
        </p:nvSpPr>
        <p:spPr bwMode="auto">
          <a:xfrm>
            <a:off x="391457" y="870521"/>
            <a:ext cx="9061444" cy="50769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dirty="0"/>
              <a:t>유효숫자 처리의 중요성 및 돈 문제</a:t>
            </a:r>
            <a:endParaRPr lang="en-US" altLang="ko-KR" dirty="0"/>
          </a:p>
          <a:p>
            <a:pPr latinLnBrk="1"/>
            <a:endParaRPr lang="en-US" altLang="ko-KR" sz="1200" dirty="0"/>
          </a:p>
          <a:p>
            <a:pPr latinLnBrk="1"/>
            <a:r>
              <a:rPr lang="ko-KR" altLang="en-US" sz="1200" dirty="0"/>
              <a:t>부가가치세율이 </a:t>
            </a:r>
            <a:r>
              <a:rPr lang="en-US" altLang="ko-KR" sz="1200" dirty="0"/>
              <a:t>10%</a:t>
            </a:r>
            <a:r>
              <a:rPr lang="ko-KR" altLang="en-US" sz="1200" dirty="0"/>
              <a:t>라고 가정하자</a:t>
            </a:r>
          </a:p>
          <a:p>
            <a:pPr latinLnBrk="1"/>
            <a:r>
              <a:rPr lang="ko-KR" altLang="en-US" sz="1200" dirty="0"/>
              <a:t>프로그래머는 </a:t>
            </a:r>
          </a:p>
          <a:p>
            <a:pPr latinLnBrk="1"/>
            <a:endParaRPr lang="ko-KR" altLang="en-US" sz="1200" dirty="0"/>
          </a:p>
          <a:p>
            <a:pPr latinLnBrk="1"/>
            <a:r>
              <a:rPr lang="en-US" altLang="ko-KR" sz="1200" dirty="0" err="1"/>
              <a:t>int</a:t>
            </a:r>
            <a:r>
              <a:rPr lang="en-US" altLang="ko-KR" sz="1200" dirty="0"/>
              <a:t> price=105;</a:t>
            </a:r>
          </a:p>
          <a:p>
            <a:pPr latinLnBrk="1"/>
            <a:r>
              <a:rPr lang="en-US" altLang="ko-KR" sz="1200" dirty="0" err="1"/>
              <a:t>int</a:t>
            </a:r>
            <a:r>
              <a:rPr lang="en-US" altLang="ko-KR" sz="1200" dirty="0"/>
              <a:t> tax=price* 10./100.;</a:t>
            </a:r>
          </a:p>
          <a:p>
            <a:pPr latinLnBrk="1"/>
            <a:r>
              <a:rPr lang="en-US" altLang="ko-KR" sz="1200" dirty="0" err="1"/>
              <a:t>int</a:t>
            </a:r>
            <a:r>
              <a:rPr lang="en-US" altLang="ko-KR" sz="1200" dirty="0"/>
              <a:t> </a:t>
            </a:r>
            <a:r>
              <a:rPr lang="en-US" altLang="ko-KR" sz="1200" dirty="0" err="1"/>
              <a:t>custom_price</a:t>
            </a:r>
            <a:r>
              <a:rPr lang="en-US" altLang="ko-KR" sz="1200" dirty="0"/>
              <a:t> = price + tax;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///////////////////////////////////////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105</a:t>
            </a:r>
            <a:r>
              <a:rPr lang="ko-KR" altLang="en-US" sz="1200" dirty="0"/>
              <a:t>원의 상품을 세금 </a:t>
            </a:r>
            <a:r>
              <a:rPr lang="en-US" altLang="ko-KR" sz="1200" dirty="0"/>
              <a:t>10%</a:t>
            </a:r>
            <a:r>
              <a:rPr lang="ko-KR" altLang="en-US" sz="1200" dirty="0"/>
              <a:t>를 더해 판매하는데 그깟</a:t>
            </a:r>
            <a:r>
              <a:rPr lang="en-US" altLang="ko-KR" sz="1200" dirty="0"/>
              <a:t> 0.5</a:t>
            </a:r>
            <a:r>
              <a:rPr lang="ko-KR" altLang="en-US" sz="1200" dirty="0"/>
              <a:t>원 무시하고 가격을 </a:t>
            </a:r>
            <a:r>
              <a:rPr lang="en-US" altLang="ko-KR" sz="1200" dirty="0"/>
              <a:t>115</a:t>
            </a:r>
            <a:r>
              <a:rPr lang="ko-KR" altLang="en-US" sz="1200" dirty="0"/>
              <a:t>원으로 책정해서 </a:t>
            </a:r>
            <a:r>
              <a:rPr lang="en-US" altLang="ko-KR" sz="1200" dirty="0"/>
              <a:t>10000</a:t>
            </a:r>
            <a:r>
              <a:rPr lang="ko-KR" altLang="en-US" sz="1200" dirty="0"/>
              <a:t>개 판매했다</a:t>
            </a:r>
            <a:r>
              <a:rPr lang="en-US" altLang="ko-KR" sz="1200" dirty="0"/>
              <a:t>.</a:t>
            </a:r>
          </a:p>
          <a:p>
            <a:pPr latinLnBrk="1"/>
            <a:endParaRPr lang="en-US" altLang="ko-KR" sz="1200" dirty="0"/>
          </a:p>
          <a:p>
            <a:pPr latinLnBrk="1"/>
            <a:endParaRPr lang="en-US" altLang="ko-KR" sz="1200" dirty="0"/>
          </a:p>
          <a:p>
            <a:pPr latinLnBrk="1"/>
            <a:r>
              <a:rPr lang="ko-KR" altLang="en-US" sz="1200" dirty="0"/>
              <a:t>돈은 </a:t>
            </a:r>
            <a:r>
              <a:rPr lang="en-US" altLang="ko-KR" sz="1200" dirty="0"/>
              <a:t>115</a:t>
            </a:r>
            <a:r>
              <a:rPr lang="ko-KR" altLang="en-US" sz="1200" dirty="0"/>
              <a:t>만원 들어와서 </a:t>
            </a:r>
            <a:r>
              <a:rPr lang="ko-KR" altLang="en-US" sz="1200" dirty="0" err="1"/>
              <a:t>물건판매액</a:t>
            </a:r>
            <a:r>
              <a:rPr lang="ko-KR" altLang="en-US" sz="1200" dirty="0"/>
              <a:t> </a:t>
            </a:r>
            <a:r>
              <a:rPr lang="en-US" altLang="ko-KR" sz="1200" dirty="0"/>
              <a:t>105</a:t>
            </a:r>
            <a:r>
              <a:rPr lang="ko-KR" altLang="en-US" sz="1200" dirty="0"/>
              <a:t>만원 세금</a:t>
            </a:r>
            <a:r>
              <a:rPr lang="en-US" altLang="ko-KR" sz="1200" dirty="0"/>
              <a:t>10</a:t>
            </a:r>
            <a:r>
              <a:rPr lang="ko-KR" altLang="en-US" sz="1200" dirty="0"/>
              <a:t>만원이다</a:t>
            </a:r>
          </a:p>
          <a:p>
            <a:pPr latinLnBrk="1"/>
            <a:r>
              <a:rPr lang="ko-KR" altLang="en-US" sz="1200" dirty="0"/>
              <a:t>국세청에 세금 </a:t>
            </a:r>
            <a:r>
              <a:rPr lang="en-US" altLang="ko-KR" sz="1200" dirty="0"/>
              <a:t>10</a:t>
            </a:r>
            <a:r>
              <a:rPr lang="ko-KR" altLang="en-US" sz="1200" dirty="0"/>
              <a:t>만원을 내려고 했는데</a:t>
            </a:r>
            <a:r>
              <a:rPr lang="en-US" altLang="ko-KR" sz="1200" dirty="0"/>
              <a:t>..</a:t>
            </a:r>
          </a:p>
          <a:p>
            <a:pPr latinLnBrk="1"/>
            <a:r>
              <a:rPr lang="ko-KR" altLang="en-US" sz="1200" dirty="0"/>
              <a:t>국세청에서는 </a:t>
            </a:r>
            <a:r>
              <a:rPr lang="ko-KR" altLang="en-US" sz="1200" dirty="0" err="1"/>
              <a:t>물건판매액</a:t>
            </a:r>
            <a:r>
              <a:rPr lang="en-US" altLang="ko-KR" sz="1200" dirty="0"/>
              <a:t>105</a:t>
            </a:r>
            <a:r>
              <a:rPr lang="ko-KR" altLang="en-US" sz="1200" dirty="0"/>
              <a:t>만원이니 세금 </a:t>
            </a:r>
            <a:r>
              <a:rPr lang="en-US" altLang="ko-KR" sz="1200" dirty="0"/>
              <a:t>10</a:t>
            </a:r>
            <a:r>
              <a:rPr lang="ko-KR" altLang="en-US" sz="1200" dirty="0"/>
              <a:t>만 </a:t>
            </a:r>
            <a:r>
              <a:rPr lang="en-US" altLang="ko-KR" sz="1200" dirty="0"/>
              <a:t>5000</a:t>
            </a:r>
            <a:r>
              <a:rPr lang="ko-KR" altLang="en-US" sz="1200" dirty="0"/>
              <a:t>원 </a:t>
            </a:r>
            <a:r>
              <a:rPr lang="ko-KR" altLang="en-US" sz="1200" dirty="0" err="1"/>
              <a:t>내란다</a:t>
            </a:r>
            <a:r>
              <a:rPr lang="en-US" altLang="ko-KR" sz="1200" dirty="0"/>
              <a:t>…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ko-KR" altLang="en-US" sz="1200" dirty="0"/>
              <a:t>프로그래머가 </a:t>
            </a:r>
            <a:r>
              <a:rPr lang="en-US" altLang="ko-KR" sz="1200" dirty="0"/>
              <a:t>5000</a:t>
            </a:r>
            <a:r>
              <a:rPr lang="ko-KR" altLang="en-US" sz="1200" dirty="0"/>
              <a:t>원을 월급에서 </a:t>
            </a:r>
            <a:r>
              <a:rPr lang="ko-KR" altLang="en-US" sz="1200" dirty="0" err="1"/>
              <a:t>깟다</a:t>
            </a:r>
            <a:r>
              <a:rPr lang="en-US" altLang="ko-KR" sz="1200" dirty="0"/>
              <a:t>.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(</a:t>
            </a:r>
            <a:r>
              <a:rPr lang="ko-KR" altLang="en-US" sz="1200" dirty="0"/>
              <a:t>함부로 소수점 이하를 무시한다면 오차가 커진다</a:t>
            </a:r>
            <a:r>
              <a:rPr lang="en-US" altLang="ko-KR" sz="1200" dirty="0"/>
              <a:t>..-&gt; </a:t>
            </a:r>
            <a:r>
              <a:rPr lang="ko-KR" altLang="en-US" sz="1200" dirty="0"/>
              <a:t>보통 </a:t>
            </a:r>
            <a:r>
              <a:rPr lang="en-US" altLang="ko-KR" sz="1200" dirty="0"/>
              <a:t>(10/3.0) </a:t>
            </a:r>
            <a:r>
              <a:rPr lang="ko-KR" altLang="en-US" sz="1200" dirty="0"/>
              <a:t>* </a:t>
            </a:r>
            <a:r>
              <a:rPr lang="en-US" altLang="ko-KR" sz="1200" dirty="0"/>
              <a:t>3.0 =?		</a:t>
            </a:r>
            <a:br>
              <a:rPr lang="ko-KR" altLang="en-US" dirty="0"/>
            </a:br>
            <a:endParaRPr lang="ko-KR" altLang="en-US" dirty="0"/>
          </a:p>
          <a:p>
            <a:pPr latinLnBrk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556094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7322788" y="927542"/>
            <a:ext cx="2452926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단순 세금 계산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세금은 내가 손해 안 보려면 </a:t>
            </a:r>
            <a:r>
              <a:rPr lang="en-US" altLang="ko-KR" sz="1050" dirty="0"/>
              <a:t>1</a:t>
            </a:r>
            <a:r>
              <a:rPr lang="ko-KR" altLang="en-US" sz="1050" dirty="0"/>
              <a:t>원미만 금액이 생기면 무조건 </a:t>
            </a:r>
            <a:r>
              <a:rPr lang="en-US" altLang="ko-KR" sz="1050" dirty="0"/>
              <a:t>1</a:t>
            </a:r>
            <a:r>
              <a:rPr lang="ko-KR" altLang="en-US" sz="1050" dirty="0"/>
              <a:t>원 더 받을 것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함수를 한번 사용해 봤다</a:t>
            </a:r>
            <a:r>
              <a:rPr lang="en-US" altLang="ko-KR" sz="1050" dirty="0"/>
              <a:t>. (c</a:t>
            </a:r>
            <a:r>
              <a:rPr lang="ko-KR" altLang="en-US" sz="1050" dirty="0"/>
              <a:t>에서 한 것으로 알고 있음</a:t>
            </a:r>
            <a:r>
              <a:rPr lang="en-US" altLang="ko-KR" sz="1050" dirty="0"/>
              <a:t>,</a:t>
            </a:r>
            <a:r>
              <a:rPr lang="ko-KR" altLang="en-US" sz="1050" dirty="0"/>
              <a:t>거의 유사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함수 </a:t>
            </a:r>
            <a:r>
              <a:rPr lang="en-US" altLang="ko-KR" sz="1050" dirty="0"/>
              <a:t>: </a:t>
            </a:r>
            <a:r>
              <a:rPr lang="ko-KR" altLang="en-US" sz="1050" dirty="0"/>
              <a:t>다른 곳에서 유용이 호출 사용</a:t>
            </a:r>
            <a:r>
              <a:rPr lang="en-US" altLang="ko-KR" sz="1050" dirty="0"/>
              <a:t>. </a:t>
            </a:r>
            <a:r>
              <a:rPr lang="ko-KR" altLang="en-US" sz="1050" dirty="0"/>
              <a:t>추후</a:t>
            </a:r>
            <a:r>
              <a:rPr lang="en-US" altLang="ko-KR" sz="1050" dirty="0"/>
              <a:t> </a:t>
            </a:r>
            <a:r>
              <a:rPr lang="ko-KR" altLang="en-US" sz="1050" dirty="0"/>
              <a:t>더 자세히 배움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public&lt;-&gt;private : </a:t>
            </a:r>
            <a:r>
              <a:rPr lang="ko-KR" altLang="en-US" sz="1050" dirty="0"/>
              <a:t>다른 클래스에서 호출 가능 유무 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Static&lt;-&gt;dynamic : </a:t>
            </a:r>
            <a:r>
              <a:rPr lang="ko-KR" altLang="en-US" sz="1050" dirty="0"/>
              <a:t>기존 자리를 차지</a:t>
            </a:r>
            <a:r>
              <a:rPr lang="en-US" altLang="ko-KR" sz="1050" dirty="0"/>
              <a:t>, </a:t>
            </a:r>
            <a:r>
              <a:rPr lang="ko-KR" altLang="en-US" sz="1050" dirty="0" err="1"/>
              <a:t>호출시</a:t>
            </a:r>
            <a:r>
              <a:rPr lang="ko-KR" altLang="en-US" sz="1050" dirty="0"/>
              <a:t> 자리 차지 </a:t>
            </a:r>
            <a:r>
              <a:rPr lang="en-US" altLang="ko-KR" sz="1050" dirty="0"/>
              <a:t>(</a:t>
            </a:r>
            <a:r>
              <a:rPr lang="ko-KR" altLang="en-US" sz="1050" dirty="0" err="1"/>
              <a:t>다이나믹은</a:t>
            </a:r>
            <a:r>
              <a:rPr lang="en-US" altLang="ko-KR" sz="1050" dirty="0"/>
              <a:t> </a:t>
            </a:r>
            <a:r>
              <a:rPr lang="ko-KR" altLang="en-US" sz="1050" dirty="0"/>
              <a:t>기본이라 선언하지 않는다</a:t>
            </a:r>
            <a:r>
              <a:rPr lang="en-US" altLang="ko-KR" sz="1050" dirty="0"/>
              <a:t>) </a:t>
            </a:r>
            <a:r>
              <a:rPr lang="ko-KR" altLang="en-US" sz="1050" dirty="0"/>
              <a:t>호출 시</a:t>
            </a:r>
            <a:r>
              <a:rPr lang="en-US" altLang="ko-KR" sz="1050" dirty="0"/>
              <a:t> </a:t>
            </a:r>
            <a:r>
              <a:rPr lang="ko-KR" altLang="en-US" sz="1050" dirty="0"/>
              <a:t>생성하려면 </a:t>
            </a:r>
            <a:r>
              <a:rPr lang="en-US" altLang="ko-KR" sz="1050" dirty="0"/>
              <a:t>new</a:t>
            </a:r>
            <a:r>
              <a:rPr lang="ko-KR" altLang="en-US" sz="1050" dirty="0" err="1"/>
              <a:t>생성자로</a:t>
            </a:r>
            <a:r>
              <a:rPr lang="ko-KR" altLang="en-US" sz="1050" dirty="0"/>
              <a:t> 생성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 err="1"/>
              <a:t>int</a:t>
            </a:r>
            <a:r>
              <a:rPr lang="ko-KR" altLang="en-US" sz="1050" dirty="0"/>
              <a:t>는 함수 반환형</a:t>
            </a: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17" y="800777"/>
            <a:ext cx="6886575" cy="53625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" y="1054777"/>
            <a:ext cx="6465580" cy="222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417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80512" y="927543"/>
            <a:ext cx="9047229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간단한 방정식 </a:t>
            </a:r>
            <a:r>
              <a:rPr lang="en-US" altLang="ko-KR" sz="1600" dirty="0"/>
              <a:t>(</a:t>
            </a:r>
            <a:r>
              <a:rPr lang="ko-KR" altLang="en-US" sz="1600" dirty="0"/>
              <a:t>소비자가 세금 계산</a:t>
            </a:r>
            <a:r>
              <a:rPr lang="en-US" altLang="ko-KR" sz="16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u="sng" dirty="0"/>
              <a:t>일반적으로 소비자 가격은 세금이 포함된 가격으로 책정된다</a:t>
            </a:r>
            <a:r>
              <a:rPr lang="en-US" altLang="ko-KR" sz="1200" u="sng" dirty="0"/>
              <a:t>.  (</a:t>
            </a:r>
            <a:r>
              <a:rPr lang="ko-KR" altLang="en-US" sz="1200" u="sng" dirty="0"/>
              <a:t>칠판에 써서 설명</a:t>
            </a:r>
            <a:r>
              <a:rPr lang="en-US" altLang="ko-KR" sz="1200" u="sng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쿠팡에서</a:t>
            </a:r>
            <a:r>
              <a:rPr lang="ko-KR" altLang="en-US" sz="1200" dirty="0"/>
              <a:t> 맛동산을 소비자가 </a:t>
            </a:r>
            <a:r>
              <a:rPr lang="en-US" altLang="ko-KR" sz="1200" dirty="0"/>
              <a:t>1234</a:t>
            </a:r>
            <a:r>
              <a:rPr lang="ko-KR" altLang="en-US" sz="1200" dirty="0"/>
              <a:t>원에 판매하기로 했다</a:t>
            </a:r>
            <a:r>
              <a:rPr lang="en-US" altLang="ko-KR" sz="1200" dirty="0"/>
              <a:t>. </a:t>
            </a:r>
            <a:r>
              <a:rPr lang="ko-KR" altLang="en-US" sz="1200" dirty="0"/>
              <a:t>부가가치세율은 </a:t>
            </a:r>
            <a:r>
              <a:rPr lang="en-US" altLang="ko-KR" sz="1200" dirty="0"/>
              <a:t>10%</a:t>
            </a:r>
            <a:r>
              <a:rPr lang="ko-KR" altLang="en-US" sz="1200" dirty="0"/>
              <a:t>이다</a:t>
            </a:r>
            <a:r>
              <a:rPr lang="en-US" altLang="ko-KR" sz="1200" dirty="0"/>
              <a:t>. </a:t>
            </a:r>
            <a:r>
              <a:rPr lang="ko-KR" altLang="en-US" sz="1200" dirty="0"/>
              <a:t>세금과 </a:t>
            </a:r>
            <a:r>
              <a:rPr lang="ko-KR" altLang="en-US" sz="1200" dirty="0" err="1"/>
              <a:t>세전가격은</a:t>
            </a:r>
            <a:r>
              <a:rPr lang="ko-KR" altLang="en-US" sz="1200" dirty="0"/>
              <a:t> 얼마인가</a:t>
            </a:r>
            <a:r>
              <a:rPr lang="en-US" altLang="ko-KR" sz="1200" dirty="0"/>
              <a:t>?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1) </a:t>
            </a:r>
            <a:r>
              <a:rPr lang="ko-KR" altLang="en-US" sz="1200" dirty="0"/>
              <a:t>소비자가격 </a:t>
            </a:r>
            <a:r>
              <a:rPr lang="en-US" altLang="ko-KR" sz="1200" dirty="0"/>
              <a:t>= </a:t>
            </a:r>
            <a:r>
              <a:rPr lang="ko-KR" altLang="en-US" sz="1200" dirty="0" err="1"/>
              <a:t>세전가격</a:t>
            </a:r>
            <a:r>
              <a:rPr lang="ko-KR" altLang="en-US" sz="1200" dirty="0"/>
              <a:t> </a:t>
            </a:r>
            <a:r>
              <a:rPr lang="en-US" altLang="ko-KR" sz="1200" dirty="0"/>
              <a:t>+ </a:t>
            </a:r>
            <a:r>
              <a:rPr lang="ko-KR" altLang="en-US" sz="1200" dirty="0"/>
              <a:t>세금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2) </a:t>
            </a:r>
            <a:r>
              <a:rPr lang="ko-KR" altLang="en-US" sz="1200" dirty="0"/>
              <a:t>소비자가격 </a:t>
            </a:r>
            <a:r>
              <a:rPr lang="en-US" altLang="ko-KR" sz="1200" dirty="0"/>
              <a:t>= </a:t>
            </a:r>
            <a:r>
              <a:rPr lang="ko-KR" altLang="en-US" sz="1200" dirty="0" err="1"/>
              <a:t>세전가격</a:t>
            </a:r>
            <a:r>
              <a:rPr lang="ko-KR" altLang="en-US" sz="1200" dirty="0"/>
              <a:t> </a:t>
            </a:r>
            <a:r>
              <a:rPr lang="en-US" altLang="ko-KR" sz="1200" dirty="0"/>
              <a:t>+ (</a:t>
            </a:r>
            <a:r>
              <a:rPr lang="ko-KR" altLang="en-US" sz="1200" dirty="0" err="1"/>
              <a:t>세전가격</a:t>
            </a:r>
            <a:r>
              <a:rPr lang="en-US" altLang="ko-KR" sz="1200" dirty="0"/>
              <a:t>*</a:t>
            </a:r>
            <a:r>
              <a:rPr lang="ko-KR" altLang="en-US" sz="1200" dirty="0"/>
              <a:t>세율</a:t>
            </a:r>
            <a:r>
              <a:rPr lang="en-US" altLang="ko-KR" sz="12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3) </a:t>
            </a:r>
            <a:r>
              <a:rPr lang="ko-KR" altLang="en-US" sz="1200" dirty="0"/>
              <a:t>소비자가격 </a:t>
            </a:r>
            <a:r>
              <a:rPr lang="en-US" altLang="ko-KR" sz="1200" dirty="0"/>
              <a:t>= </a:t>
            </a:r>
            <a:r>
              <a:rPr lang="ko-KR" altLang="en-US" sz="1200" dirty="0" err="1"/>
              <a:t>세전가격</a:t>
            </a:r>
            <a:r>
              <a:rPr lang="en-US" altLang="ko-KR" sz="1200" dirty="0"/>
              <a:t>*(1+</a:t>
            </a:r>
            <a:r>
              <a:rPr lang="ko-KR" altLang="en-US" sz="1200" dirty="0"/>
              <a:t>세율</a:t>
            </a:r>
            <a:r>
              <a:rPr lang="en-US" altLang="ko-KR" sz="12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4) </a:t>
            </a:r>
            <a:r>
              <a:rPr lang="ko-KR" altLang="en-US" sz="1200" dirty="0" err="1"/>
              <a:t>세전가격</a:t>
            </a:r>
            <a:r>
              <a:rPr lang="ko-KR" altLang="en-US" sz="1200" dirty="0"/>
              <a:t> </a:t>
            </a:r>
            <a:r>
              <a:rPr lang="en-US" altLang="ko-KR" sz="1200" dirty="0"/>
              <a:t>= </a:t>
            </a:r>
            <a:r>
              <a:rPr lang="ko-KR" altLang="en-US" sz="1200" dirty="0"/>
              <a:t>소비자가격 </a:t>
            </a:r>
            <a:r>
              <a:rPr lang="en-US" altLang="ko-KR" sz="1200" dirty="0"/>
              <a:t>/ ( 1+</a:t>
            </a:r>
            <a:r>
              <a:rPr lang="ko-KR" altLang="en-US" sz="1200" dirty="0"/>
              <a:t>세율</a:t>
            </a:r>
            <a:r>
              <a:rPr lang="en-US" altLang="ko-KR" sz="1200" dirty="0"/>
              <a:t>)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이때 </a:t>
            </a:r>
            <a:r>
              <a:rPr lang="en-US" altLang="ko-KR" sz="1200" dirty="0"/>
              <a:t>4</a:t>
            </a:r>
            <a:r>
              <a:rPr lang="ko-KR" altLang="en-US" sz="1200" dirty="0"/>
              <a:t>번 식을 </a:t>
            </a:r>
            <a:r>
              <a:rPr lang="en-US" altLang="ko-KR" sz="1200" dirty="0" err="1"/>
              <a:t>int</a:t>
            </a:r>
            <a:r>
              <a:rPr lang="ko-KR" altLang="en-US" sz="1200" dirty="0"/>
              <a:t>로 계산한다면 </a:t>
            </a:r>
            <a:r>
              <a:rPr lang="ko-KR" altLang="en-US" sz="1200" dirty="0" err="1"/>
              <a:t>세전가격은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버림가격이</a:t>
            </a:r>
            <a:r>
              <a:rPr lang="ko-KR" altLang="en-US" sz="1200" dirty="0"/>
              <a:t> 된다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세전가격을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버림가격을</a:t>
            </a:r>
            <a:r>
              <a:rPr lang="ko-KR" altLang="en-US" sz="1200" dirty="0"/>
              <a:t> 쓴다면</a:t>
            </a:r>
            <a:r>
              <a:rPr lang="en-US" altLang="ko-KR" sz="1200" dirty="0"/>
              <a:t>….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5) </a:t>
            </a:r>
            <a:r>
              <a:rPr lang="ko-KR" altLang="en-US" sz="1200" dirty="0"/>
              <a:t>세금 </a:t>
            </a:r>
            <a:r>
              <a:rPr lang="en-US" altLang="ko-KR" sz="1200" dirty="0"/>
              <a:t>= </a:t>
            </a:r>
            <a:r>
              <a:rPr lang="ko-KR" altLang="en-US" sz="1200" dirty="0"/>
              <a:t>소비자가격 </a:t>
            </a:r>
            <a:r>
              <a:rPr lang="en-US" altLang="ko-KR" sz="1200" dirty="0"/>
              <a:t>– </a:t>
            </a:r>
            <a:r>
              <a:rPr lang="ko-KR" altLang="en-US" sz="1200" dirty="0" err="1"/>
              <a:t>세전가격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이 가격에서 </a:t>
            </a:r>
            <a:r>
              <a:rPr lang="ko-KR" altLang="en-US" sz="1200" dirty="0" err="1"/>
              <a:t>세전가격이</a:t>
            </a:r>
            <a:r>
              <a:rPr lang="ko-KR" altLang="en-US" sz="1200" dirty="0"/>
              <a:t> 버려졌기 때문에 세금은 올림이 된다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그럼 예를 들어 계산해 보자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1) </a:t>
            </a:r>
            <a:r>
              <a:rPr lang="ko-KR" altLang="en-US" sz="1200" dirty="0" err="1"/>
              <a:t>세전가격</a:t>
            </a:r>
            <a:r>
              <a:rPr lang="ko-KR" altLang="en-US" sz="1200" dirty="0"/>
              <a:t> </a:t>
            </a:r>
            <a:r>
              <a:rPr lang="en-US" altLang="ko-KR" sz="1200" dirty="0"/>
              <a:t>= 1234/1.1 = 1121.818181… =&gt; 1121</a:t>
            </a:r>
            <a:r>
              <a:rPr lang="ko-KR" altLang="en-US" sz="1200" dirty="0"/>
              <a:t>원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2) </a:t>
            </a:r>
            <a:r>
              <a:rPr lang="ko-KR" altLang="en-US" sz="1200" dirty="0"/>
              <a:t>세금 </a:t>
            </a:r>
            <a:r>
              <a:rPr lang="en-US" altLang="ko-KR" sz="1200" dirty="0"/>
              <a:t>= 1234- 1121 = 113</a:t>
            </a:r>
            <a:r>
              <a:rPr lang="ko-KR" altLang="en-US" sz="1200" dirty="0"/>
              <a:t>원  </a:t>
            </a:r>
            <a:r>
              <a:rPr lang="en-US" altLang="ko-KR" sz="1200" dirty="0"/>
              <a:t>// 112.18181</a:t>
            </a:r>
            <a:r>
              <a:rPr lang="ko-KR" altLang="en-US" sz="1200" dirty="0"/>
              <a:t>으로 세금을 걷을 수 없으니 </a:t>
            </a:r>
            <a:r>
              <a:rPr lang="en-US" altLang="ko-KR" sz="1200" dirty="0"/>
              <a:t>1</a:t>
            </a:r>
            <a:r>
              <a:rPr lang="ko-KR" altLang="en-US" sz="1200" dirty="0"/>
              <a:t>원미만은 올려서 받는다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4627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776425" y="927542"/>
            <a:ext cx="2999289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소비자가 세금 계산 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세금은 내가 손해 안 보려면 </a:t>
            </a:r>
            <a:r>
              <a:rPr lang="en-US" altLang="ko-KR" sz="1050" dirty="0"/>
              <a:t>1</a:t>
            </a:r>
            <a:r>
              <a:rPr lang="ko-KR" altLang="en-US" sz="1050" dirty="0"/>
              <a:t>원미만 금액이 생기면 무조건 </a:t>
            </a:r>
            <a:r>
              <a:rPr lang="en-US" altLang="ko-KR" sz="1050" dirty="0"/>
              <a:t>1</a:t>
            </a:r>
            <a:r>
              <a:rPr lang="ko-KR" altLang="en-US" sz="1050" dirty="0"/>
              <a:t>원 더 받을 것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함수</a:t>
            </a:r>
            <a:r>
              <a:rPr lang="en-US" altLang="ko-KR" sz="1050" dirty="0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, </a:t>
            </a:r>
            <a:r>
              <a:rPr lang="ko-KR" altLang="en-US" sz="1050" dirty="0" err="1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인티저</a:t>
            </a:r>
            <a:r>
              <a:rPr lang="en-US" altLang="ko-KR" sz="1050" dirty="0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-</a:t>
            </a:r>
            <a:r>
              <a:rPr lang="ko-KR" altLang="en-US" sz="1050" dirty="0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더블연산으로 </a:t>
            </a:r>
            <a:r>
              <a:rPr lang="ko-KR" altLang="en-US" sz="1050" dirty="0" err="1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올림버림</a:t>
            </a:r>
            <a:r>
              <a:rPr lang="en-US" altLang="ko-KR" sz="1050" dirty="0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, </a:t>
            </a:r>
            <a:r>
              <a:rPr lang="ko-KR" altLang="en-US" sz="1050" dirty="0" err="1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형변환등</a:t>
            </a:r>
            <a:r>
              <a:rPr lang="ko-KR" altLang="en-US" sz="1050" dirty="0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 연습</a:t>
            </a:r>
            <a:r>
              <a:rPr lang="en-US" altLang="ko-KR" sz="1050" dirty="0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..</a:t>
            </a:r>
            <a:r>
              <a:rPr lang="ko-KR" altLang="en-US" sz="1050" dirty="0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연습</a:t>
            </a:r>
            <a:r>
              <a:rPr lang="en-US" altLang="ko-KR" sz="1050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>
              <a:solidFill>
                <a:srgbClr val="000000"/>
              </a:solidFill>
              <a:highlight>
                <a:srgbClr val="E8F2FE"/>
              </a:highlight>
              <a:latin typeface="Courier New" panose="02070309020205020404" pitchFamily="49" charset="0"/>
            </a:endParaRP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1" y="1020847"/>
            <a:ext cx="6567950" cy="430693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61911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776425" y="927542"/>
            <a:ext cx="2999289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소비자가 세금 계산 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세금은 내가 손해 안 보려면 </a:t>
            </a:r>
            <a:r>
              <a:rPr lang="en-US" altLang="ko-KR" sz="1050" dirty="0"/>
              <a:t>1</a:t>
            </a:r>
            <a:r>
              <a:rPr lang="ko-KR" altLang="en-US" sz="1050" dirty="0"/>
              <a:t>원미만 금액이 생기면 무조건 </a:t>
            </a:r>
            <a:r>
              <a:rPr lang="en-US" altLang="ko-KR" sz="1050" dirty="0"/>
              <a:t>1</a:t>
            </a:r>
            <a:r>
              <a:rPr lang="ko-KR" altLang="en-US" sz="1050" dirty="0"/>
              <a:t>원 더 받을 것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함수</a:t>
            </a:r>
            <a:r>
              <a:rPr lang="en-US" altLang="ko-KR" sz="1050" dirty="0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, </a:t>
            </a:r>
            <a:r>
              <a:rPr lang="ko-KR" altLang="en-US" sz="1050" dirty="0" err="1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인티저</a:t>
            </a:r>
            <a:r>
              <a:rPr lang="en-US" altLang="ko-KR" sz="1050" dirty="0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-</a:t>
            </a:r>
            <a:r>
              <a:rPr lang="ko-KR" altLang="en-US" sz="1050" dirty="0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더블연산으로 </a:t>
            </a:r>
            <a:r>
              <a:rPr lang="ko-KR" altLang="en-US" sz="1050" dirty="0" err="1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올림버림</a:t>
            </a:r>
            <a:r>
              <a:rPr lang="en-US" altLang="ko-KR" sz="1050" dirty="0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, </a:t>
            </a:r>
            <a:r>
              <a:rPr lang="ko-KR" altLang="en-US" sz="1050" dirty="0" err="1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형변환등</a:t>
            </a:r>
            <a:r>
              <a:rPr lang="ko-KR" altLang="en-US" sz="1050" dirty="0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 연습</a:t>
            </a:r>
            <a:r>
              <a:rPr lang="en-US" altLang="ko-KR" sz="1050" dirty="0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..</a:t>
            </a:r>
            <a:r>
              <a:rPr lang="ko-KR" altLang="en-US" sz="1050" dirty="0">
                <a:solidFill>
                  <a:srgbClr val="6A3E3E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연습</a:t>
            </a:r>
            <a:r>
              <a:rPr lang="en-US" altLang="ko-KR" sz="1050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자 항목이 여러 개를 계산해보자</a:t>
            </a:r>
            <a:r>
              <a:rPr lang="en-US" altLang="ko-KR" sz="1050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>
              <a:solidFill>
                <a:srgbClr val="000000"/>
              </a:solidFill>
              <a:highlight>
                <a:srgbClr val="E8F2FE"/>
              </a:highlight>
              <a:latin typeface="Courier New" panose="02070309020205020404" pitchFamily="49" charset="0"/>
            </a:endParaRP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근데 아마 출력이 </a:t>
            </a:r>
            <a:r>
              <a:rPr lang="ko-KR" altLang="en-US" sz="1050" dirty="0" err="1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삐뚤빼뚤</a:t>
            </a:r>
            <a:r>
              <a:rPr lang="en-US" altLang="ko-KR" sz="1050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… </a:t>
            </a:r>
            <a:r>
              <a:rPr lang="ko-KR" altLang="en-US" sz="1050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노가다로 칸을 맞춰보자</a:t>
            </a:r>
            <a:r>
              <a:rPr lang="en-US" altLang="ko-KR" sz="1050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26" y="1286467"/>
            <a:ext cx="6043158" cy="392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39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03039" y="1053667"/>
            <a:ext cx="9047229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환전 문제</a:t>
            </a:r>
            <a:r>
              <a:rPr lang="en-US" altLang="ko-KR" sz="1600" dirty="0"/>
              <a:t>(</a:t>
            </a:r>
            <a:r>
              <a:rPr lang="ko-KR" altLang="en-US" sz="1600" dirty="0"/>
              <a:t>정수형 </a:t>
            </a:r>
            <a:r>
              <a:rPr lang="ko-KR" altLang="en-US" sz="1600" dirty="0" err="1"/>
              <a:t>실수형을</a:t>
            </a:r>
            <a:r>
              <a:rPr lang="ko-KR" altLang="en-US" sz="1600" dirty="0"/>
              <a:t> 넘나드는 계산</a:t>
            </a:r>
            <a:r>
              <a:rPr lang="en-US" altLang="ko-KR" sz="16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만일 </a:t>
            </a:r>
            <a:r>
              <a:rPr lang="en-US" altLang="ko-KR" sz="1200" dirty="0"/>
              <a:t>100</a:t>
            </a:r>
            <a:r>
              <a:rPr lang="ko-KR" altLang="en-US" sz="1200" dirty="0"/>
              <a:t>만원 </a:t>
            </a:r>
            <a:r>
              <a:rPr lang="en-US" altLang="ko-KR" sz="1200" dirty="0"/>
              <a:t>(1000000</a:t>
            </a:r>
            <a:r>
              <a:rPr lang="ko-KR" altLang="en-US" sz="1200" dirty="0"/>
              <a:t>원</a:t>
            </a:r>
            <a:r>
              <a:rPr lang="en-US" altLang="ko-KR" sz="1200" dirty="0"/>
              <a:t>)</a:t>
            </a:r>
            <a:r>
              <a:rPr lang="ko-KR" altLang="en-US" sz="1200" dirty="0"/>
              <a:t>을 들고 </a:t>
            </a:r>
            <a:r>
              <a:rPr lang="ko-KR" altLang="en-US" sz="1200" dirty="0" err="1"/>
              <a:t>폴리은행에</a:t>
            </a:r>
            <a:r>
              <a:rPr lang="ko-KR" altLang="en-US" sz="1200" dirty="0"/>
              <a:t> 가서 달러로 바꾼다면</a:t>
            </a:r>
            <a:r>
              <a:rPr lang="en-US" altLang="ko-KR" sz="1200" dirty="0"/>
              <a:t>? </a:t>
            </a:r>
            <a:r>
              <a:rPr lang="ko-KR" altLang="en-US" sz="1200" dirty="0"/>
              <a:t>난 딸랑 </a:t>
            </a:r>
            <a:r>
              <a:rPr lang="en-US" altLang="ko-KR" sz="1200" dirty="0"/>
              <a:t>100</a:t>
            </a:r>
            <a:r>
              <a:rPr lang="ko-KR" altLang="en-US" sz="1200" dirty="0"/>
              <a:t>만원만 가지고 있다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현재 환율이 </a:t>
            </a:r>
            <a:r>
              <a:rPr lang="en-US" altLang="ko-KR" sz="1200" dirty="0"/>
              <a:t>1238.21 </a:t>
            </a:r>
            <a:r>
              <a:rPr lang="ko-KR" altLang="en-US" sz="1200" dirty="0"/>
              <a:t>이면</a:t>
            </a:r>
            <a:r>
              <a:rPr lang="en-US" altLang="ko-KR" sz="1200" dirty="0"/>
              <a:t> </a:t>
            </a:r>
            <a:r>
              <a:rPr lang="ko-KR" altLang="en-US" sz="1200" dirty="0"/>
              <a:t>어떻게 바꿔줄까</a:t>
            </a:r>
            <a:r>
              <a:rPr lang="en-US" altLang="ko-KR" sz="1200" dirty="0"/>
              <a:t>? – </a:t>
            </a:r>
            <a:r>
              <a:rPr lang="ko-KR" altLang="en-US" sz="1200" dirty="0"/>
              <a:t>아씨 </a:t>
            </a:r>
            <a:r>
              <a:rPr lang="en-US" altLang="ko-KR" sz="1200" dirty="0"/>
              <a:t>1500</a:t>
            </a:r>
            <a:r>
              <a:rPr lang="ko-KR" altLang="en-US" sz="1200" dirty="0"/>
              <a:t>원을 향해 달려가고 있다</a:t>
            </a:r>
            <a:r>
              <a:rPr lang="en-US" altLang="ko-KR" sz="1200" dirty="0"/>
              <a:t>.. </a:t>
            </a:r>
            <a:r>
              <a:rPr lang="ko-KR" altLang="en-US" sz="1200" dirty="0" err="1"/>
              <a:t>잰장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은행도 먹고 살아야 하니 환전 수수료가 있다 </a:t>
            </a:r>
            <a:r>
              <a:rPr lang="en-US" altLang="ko-KR" sz="1200" dirty="0"/>
              <a:t>0.3%</a:t>
            </a:r>
            <a:r>
              <a:rPr lang="ko-KR" altLang="en-US" sz="1200" dirty="0"/>
              <a:t>라 가정해보자</a:t>
            </a:r>
            <a:r>
              <a:rPr lang="en-US" altLang="ko-KR" sz="1200" dirty="0"/>
              <a:t>. (</a:t>
            </a:r>
            <a:r>
              <a:rPr lang="en-US" altLang="ko-KR" sz="1200" u="sng" dirty="0"/>
              <a:t>0.1%</a:t>
            </a:r>
            <a:r>
              <a:rPr lang="ko-KR" altLang="en-US" sz="1200" u="sng" dirty="0"/>
              <a:t>등은 이진수에서 유효숫자 문제가 있다</a:t>
            </a:r>
            <a:r>
              <a:rPr lang="en-US" altLang="ko-KR" sz="1200" u="sng" dirty="0"/>
              <a:t>. </a:t>
            </a:r>
            <a:r>
              <a:rPr lang="ko-KR" altLang="en-US" sz="1200" u="sng" dirty="0"/>
              <a:t>유의하여 계산 및 표현에 유의하자</a:t>
            </a:r>
            <a:r>
              <a:rPr lang="en-US" altLang="ko-KR" sz="1200" dirty="0"/>
              <a:t>.)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그럼 몇 달러를 받고</a:t>
            </a:r>
            <a:r>
              <a:rPr lang="en-US" altLang="ko-KR" sz="1200" dirty="0"/>
              <a:t>, </a:t>
            </a:r>
            <a:r>
              <a:rPr lang="ko-KR" altLang="en-US" sz="1200" dirty="0"/>
              <a:t>환전수수료 얼마 주고</a:t>
            </a:r>
            <a:r>
              <a:rPr lang="en-US" altLang="ko-KR" sz="1200" dirty="0"/>
              <a:t>, </a:t>
            </a:r>
            <a:r>
              <a:rPr lang="ko-KR" altLang="en-US" sz="1200" dirty="0"/>
              <a:t>그리고 얼마의 원화 잔돈을 받아올까</a:t>
            </a:r>
            <a:r>
              <a:rPr lang="en-US" altLang="ko-KR" sz="1200" dirty="0"/>
              <a:t>?</a:t>
            </a:r>
          </a:p>
        </p:txBody>
      </p:sp>
      <p:sp>
        <p:nvSpPr>
          <p:cNvPr id="2" name="직사각형 1"/>
          <p:cNvSpPr/>
          <p:nvPr/>
        </p:nvSpPr>
        <p:spPr bwMode="auto">
          <a:xfrm>
            <a:off x="668433" y="3269358"/>
            <a:ext cx="8204400" cy="2556727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가는각진제목체" pitchFamily="18" charset="-127"/>
              </a:rPr>
              <a:t>환전 문제는 </a:t>
            </a:r>
            <a:r>
              <a:rPr lang="ko-KR" altLang="en-US" sz="2000" dirty="0">
                <a:solidFill>
                  <a:srgbClr val="FF0000"/>
                </a:solidFill>
                <a:latin typeface="Arial" charset="0"/>
                <a:ea typeface="가는각진제목체" pitchFamily="18" charset="-127"/>
              </a:rPr>
              <a:t>지금 좀 이해 안되면 천천히 하자</a:t>
            </a:r>
            <a:endParaRPr lang="en-US" altLang="ko-KR" sz="2000" dirty="0">
              <a:solidFill>
                <a:srgbClr val="FF0000"/>
              </a:solidFill>
              <a:latin typeface="Arial" charset="0"/>
              <a:ea typeface="가는각진제목체" pitchFamily="18" charset="-127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endParaRPr kumimoji="0" lang="en-US" altLang="ko-KR" sz="20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가는각진제목체" pitchFamily="18" charset="-127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ko-KR" altLang="en-US" sz="2000" dirty="0">
                <a:solidFill>
                  <a:srgbClr val="FF0000"/>
                </a:solidFill>
                <a:latin typeface="Arial" charset="0"/>
                <a:ea typeface="가는각진제목체" pitchFamily="18" charset="-127"/>
              </a:rPr>
              <a:t>하지만 이해되고 </a:t>
            </a: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가는각진제목체" pitchFamily="18" charset="-127"/>
              </a:rPr>
              <a:t>진도 빠른 사람은 반드시 하자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가는각진제목체" pitchFamily="18" charset="-127"/>
              </a:rPr>
              <a:t>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가는각진제목체" pitchFamily="18" charset="-127"/>
              </a:rPr>
              <a:t>전부 하고 과제 검사 때 제출하면 교수님의 사랑을 듬뿍 받는다</a:t>
            </a:r>
            <a:endParaRPr kumimoji="0" lang="en-US" altLang="ko-KR" sz="20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가는각진제목체" pitchFamily="18" charset="-127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endParaRPr lang="en-US" altLang="ko-KR" sz="2000" dirty="0">
              <a:solidFill>
                <a:srgbClr val="FF0000"/>
              </a:solidFill>
              <a:latin typeface="Arial" charset="0"/>
              <a:ea typeface="가는각진제목체" pitchFamily="18" charset="-127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가는각진제목체" pitchFamily="18" charset="-127"/>
              </a:rPr>
              <a:t>- </a:t>
            </a: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가는각진제목체" pitchFamily="18" charset="-127"/>
              </a:rPr>
              <a:t>단 뒤에 콤마 찍기 시간 찍기는 필수 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가는각진제목체" pitchFamily="18" charset="-127"/>
              </a:rPr>
              <a:t>-&gt; </a:t>
            </a: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가는각진제목체" pitchFamily="18" charset="-127"/>
              </a:rPr>
              <a:t>환전 건너뛴 경우 앞에 영수증을 콤마와 시간을 찍는다</a:t>
            </a:r>
          </a:p>
        </p:txBody>
      </p:sp>
    </p:spTree>
    <p:extLst>
      <p:ext uri="{BB962C8B-B14F-4D97-AF65-F5344CB8AC3E}">
        <p14:creationId xmlns:p14="http://schemas.microsoft.com/office/powerpoint/2010/main" val="4015569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462891" y="927542"/>
            <a:ext cx="9312823" cy="104923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단순 환전 계산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은행은 손해 보면  안 된다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48" y="2107535"/>
            <a:ext cx="8915400" cy="28289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371" y="5576373"/>
            <a:ext cx="3448050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781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462891" y="927542"/>
            <a:ext cx="9312823" cy="104923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수수료 포함 환전 계산</a:t>
            </a:r>
            <a:r>
              <a:rPr lang="en-US" altLang="ko-KR" sz="1600" dirty="0"/>
              <a:t>(1)</a:t>
            </a:r>
            <a:endParaRPr lang="ko-KR" altLang="en-US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은행은 손해 보면  안 된다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27" y="2270587"/>
            <a:ext cx="8582025" cy="24003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33" y="5015406"/>
            <a:ext cx="4400550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237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462891" y="927542"/>
            <a:ext cx="9312823" cy="16335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수수료 포함 환전 계산</a:t>
            </a:r>
            <a:r>
              <a:rPr lang="en-US" altLang="ko-KR" sz="1600" dirty="0"/>
              <a:t>(2)</a:t>
            </a:r>
            <a:endParaRPr lang="ko-KR" altLang="en-US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은행은 수수료를 고려해서 달러를 바꿔줘야 한다</a:t>
            </a:r>
            <a:r>
              <a:rPr lang="en-US" altLang="ko-KR" sz="1050" dirty="0"/>
              <a:t>.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먼저 달러를 다 계산하고 수수료를 </a:t>
            </a:r>
            <a:r>
              <a:rPr lang="ko-KR" altLang="en-US" sz="1050" dirty="0" err="1"/>
              <a:t>빼버릴려면</a:t>
            </a:r>
            <a:r>
              <a:rPr lang="ko-KR" altLang="en-US" sz="1050" dirty="0"/>
              <a:t> 어마어마한 오차가 생긴다 </a:t>
            </a:r>
            <a:r>
              <a:rPr lang="en-US" altLang="ko-KR" sz="1050" dirty="0"/>
              <a:t>(</a:t>
            </a:r>
            <a:r>
              <a:rPr lang="ko-KR" altLang="en-US" sz="1050" dirty="0"/>
              <a:t>수수료 </a:t>
            </a:r>
            <a:r>
              <a:rPr lang="en-US" altLang="ko-KR" sz="1050" dirty="0"/>
              <a:t>0.003</a:t>
            </a:r>
            <a:r>
              <a:rPr lang="ko-KR" altLang="en-US" sz="1050" dirty="0"/>
              <a:t>이 적은 돈이 아니다</a:t>
            </a:r>
            <a:r>
              <a:rPr lang="en-US" altLang="ko-KR" sz="1050" dirty="0"/>
              <a:t>.)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즉  </a:t>
            </a:r>
            <a:r>
              <a:rPr lang="en-US" altLang="ko-KR" sz="1050" dirty="0"/>
              <a:t>(1</a:t>
            </a:r>
            <a:r>
              <a:rPr lang="ko-KR" altLang="en-US" sz="1050" dirty="0"/>
              <a:t>달러당 원화금액</a:t>
            </a:r>
            <a:r>
              <a:rPr lang="en-US" altLang="ko-KR" sz="1050" dirty="0"/>
              <a:t>+1</a:t>
            </a:r>
            <a:r>
              <a:rPr lang="ko-KR" altLang="en-US" sz="1050" dirty="0"/>
              <a:t>달러당 수수료</a:t>
            </a:r>
            <a:r>
              <a:rPr lang="en-US" altLang="ko-KR" sz="1050" dirty="0"/>
              <a:t>)</a:t>
            </a:r>
            <a:r>
              <a:rPr lang="ko-KR" altLang="en-US" sz="1050" dirty="0"/>
              <a:t>를 가지고 </a:t>
            </a:r>
            <a:r>
              <a:rPr lang="ko-KR" altLang="en-US" sz="1050" dirty="0" err="1"/>
              <a:t>실수형</a:t>
            </a:r>
            <a:r>
              <a:rPr lang="ko-KR" altLang="en-US" sz="1050" dirty="0"/>
              <a:t> 계산을 해야 한다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" y="2726877"/>
            <a:ext cx="8982075" cy="2895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33" y="5714347"/>
            <a:ext cx="493395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00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462891" y="608832"/>
            <a:ext cx="9312823" cy="78743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수수료 포함 환전 계산</a:t>
            </a:r>
            <a:r>
              <a:rPr lang="en-US" altLang="ko-KR" sz="1600" dirty="0"/>
              <a:t>(3)</a:t>
            </a:r>
            <a:endParaRPr lang="ko-KR" altLang="en-US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 ,</a:t>
            </a:r>
            <a:r>
              <a:rPr lang="ko-KR" altLang="en-US" sz="1050" dirty="0"/>
              <a:t>즉  </a:t>
            </a:r>
            <a:r>
              <a:rPr lang="en-US" altLang="ko-KR" sz="1050" dirty="0"/>
              <a:t>(1</a:t>
            </a:r>
            <a:r>
              <a:rPr lang="ko-KR" altLang="en-US" sz="1050" dirty="0"/>
              <a:t>달러당 원화금액</a:t>
            </a:r>
            <a:r>
              <a:rPr lang="en-US" altLang="ko-KR" sz="1050" dirty="0"/>
              <a:t>+1</a:t>
            </a:r>
            <a:r>
              <a:rPr lang="ko-KR" altLang="en-US" sz="1050" dirty="0"/>
              <a:t>달러당 수수료</a:t>
            </a:r>
            <a:r>
              <a:rPr lang="en-US" altLang="ko-KR" sz="1050" dirty="0"/>
              <a:t>)</a:t>
            </a:r>
            <a:r>
              <a:rPr lang="ko-KR" altLang="en-US" sz="1050" dirty="0"/>
              <a:t>를 가지고 </a:t>
            </a:r>
            <a:r>
              <a:rPr lang="ko-KR" altLang="en-US" sz="1050" dirty="0" err="1"/>
              <a:t>실수형</a:t>
            </a:r>
            <a:r>
              <a:rPr lang="ko-KR" altLang="en-US" sz="1050" dirty="0"/>
              <a:t> 계산을 해야 한다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91" y="1439714"/>
            <a:ext cx="8858250" cy="43719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23" y="5855139"/>
            <a:ext cx="463867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20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80512" y="927543"/>
            <a:ext cx="9047229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자바 </a:t>
            </a:r>
            <a:r>
              <a:rPr lang="en-US" altLang="ko-KR" sz="1600" dirty="0"/>
              <a:t>SE-library </a:t>
            </a:r>
            <a:r>
              <a:rPr lang="ko-KR" altLang="en-US" sz="1600" dirty="0"/>
              <a:t>가지고 오기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Java </a:t>
            </a:r>
            <a:r>
              <a:rPr lang="ko-KR" altLang="en-US" sz="1200" dirty="0"/>
              <a:t>내에 유용한 라이브러리</a:t>
            </a:r>
            <a:r>
              <a:rPr lang="en-US" altLang="ko-KR" sz="1200" dirty="0"/>
              <a:t> </a:t>
            </a:r>
            <a:r>
              <a:rPr lang="ko-KR" altLang="en-US" sz="1200" dirty="0"/>
              <a:t>클래스를 가져다 사용하면서 프로그램을 구현하는 것이다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환율계산서를 보니 이제 그럴듯한 프로그래머가 된 것 같은데 뭔가 </a:t>
            </a:r>
            <a:r>
              <a:rPr lang="en-US" altLang="ko-KR" sz="1200" dirty="0"/>
              <a:t>2% </a:t>
            </a:r>
            <a:r>
              <a:rPr lang="ko-KR" altLang="en-US" sz="1200" dirty="0"/>
              <a:t>부족하다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숫자인데 콤마도 찍어보고</a:t>
            </a:r>
            <a:r>
              <a:rPr lang="en-US" altLang="ko-KR" sz="1200" dirty="0"/>
              <a:t>, </a:t>
            </a:r>
            <a:r>
              <a:rPr lang="ko-KR" altLang="en-US" sz="1200" dirty="0"/>
              <a:t>출력한 시간도 찍어보자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먼저 </a:t>
            </a:r>
            <a:r>
              <a:rPr lang="en-US" altLang="ko-KR" sz="1200" dirty="0"/>
              <a:t>java SE</a:t>
            </a:r>
            <a:r>
              <a:rPr lang="ko-KR" altLang="en-US" sz="1200" dirty="0"/>
              <a:t>에서 제공하는 주요</a:t>
            </a:r>
            <a:r>
              <a:rPr lang="en-US" altLang="ko-KR" sz="1200" dirty="0"/>
              <a:t> </a:t>
            </a:r>
            <a:r>
              <a:rPr lang="ko-KR" altLang="en-US" sz="1200" dirty="0"/>
              <a:t>클래스를 살펴보자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>
                <a:hlinkClick r:id="rId3"/>
              </a:rPr>
              <a:t>http://docs.oracle.com/javase/8/docs/api/index.html</a:t>
            </a:r>
            <a:r>
              <a:rPr lang="en-US" altLang="ko-KR" sz="1200" dirty="0"/>
              <a:t>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자료실에 있는 </a:t>
            </a:r>
            <a:r>
              <a:rPr lang="en-US" altLang="ko-KR" sz="1200" dirty="0"/>
              <a:t>javaSE1.6</a:t>
            </a:r>
            <a:r>
              <a:rPr lang="ko-KR" altLang="en-US" sz="1200" dirty="0"/>
              <a:t>이 마지막 한글 </a:t>
            </a:r>
            <a:r>
              <a:rPr lang="en-US" altLang="ko-KR" sz="1200" dirty="0"/>
              <a:t>Javadoc : </a:t>
            </a:r>
            <a:r>
              <a:rPr lang="ko-KR" altLang="en-US" sz="1200" dirty="0"/>
              <a:t>이거 많이 참고</a:t>
            </a:r>
            <a:r>
              <a:rPr lang="en-US" altLang="ko-KR" sz="1200" dirty="0"/>
              <a:t>. </a:t>
            </a:r>
            <a:r>
              <a:rPr lang="ko-KR" altLang="en-US" sz="1200" dirty="0"/>
              <a:t>근데 별로 도움이 되려나</a:t>
            </a:r>
            <a:r>
              <a:rPr lang="en-US" altLang="ko-KR" sz="1200" dirty="0"/>
              <a:t>..</a:t>
            </a:r>
            <a:r>
              <a:rPr lang="ko-KR" altLang="en-US" sz="1200" dirty="0"/>
              <a:t>구글이 짱</a:t>
            </a:r>
            <a:r>
              <a:rPr lang="en-US" altLang="ko-KR" sz="1200" dirty="0"/>
              <a:t>..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824791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462891" y="927542"/>
            <a:ext cx="9312823" cy="16335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콤마 찍기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 err="1"/>
              <a:t>DecimalFormat</a:t>
            </a:r>
            <a:r>
              <a:rPr lang="en-US" altLang="ko-KR" sz="1050" dirty="0"/>
              <a:t> </a:t>
            </a:r>
            <a:r>
              <a:rPr lang="ko-KR" altLang="en-US" sz="1050" dirty="0"/>
              <a:t>클래스를 이용함 </a:t>
            </a:r>
            <a:r>
              <a:rPr lang="en-US" altLang="ko-KR" sz="1050" dirty="0"/>
              <a:t>(</a:t>
            </a:r>
            <a:r>
              <a:rPr lang="ko-KR" altLang="en-US" sz="1050" dirty="0"/>
              <a:t>교수님이 </a:t>
            </a:r>
            <a:r>
              <a:rPr lang="ko-KR" altLang="en-US" sz="1050" dirty="0" err="1"/>
              <a:t>코딩하는</a:t>
            </a:r>
            <a:r>
              <a:rPr lang="ko-KR" altLang="en-US" sz="1050" dirty="0"/>
              <a:t> 방법을 잘 보시오</a:t>
            </a:r>
            <a:r>
              <a:rPr lang="en-US" altLang="ko-KR" sz="1050" dirty="0"/>
              <a:t>.. </a:t>
            </a:r>
            <a:r>
              <a:rPr lang="ko-KR" altLang="en-US" sz="1050" dirty="0" err="1"/>
              <a:t>이클립스에서</a:t>
            </a:r>
            <a:r>
              <a:rPr lang="ko-KR" altLang="en-US" sz="1050" dirty="0"/>
              <a:t> 자동으로 </a:t>
            </a:r>
            <a:r>
              <a:rPr lang="en-US" altLang="ko-KR" sz="1050" dirty="0"/>
              <a:t>import </a:t>
            </a:r>
            <a:r>
              <a:rPr lang="ko-KR" altLang="en-US" sz="1050" dirty="0"/>
              <a:t>가져오기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아렴풋이 그거 어디서 해봤는데 하고</a:t>
            </a:r>
            <a:r>
              <a:rPr lang="en-US" altLang="ko-KR" sz="1050" dirty="0"/>
              <a:t>, Javadoc </a:t>
            </a:r>
            <a:r>
              <a:rPr lang="ko-KR" altLang="en-US" sz="1050" dirty="0"/>
              <a:t>을 찾던지</a:t>
            </a:r>
            <a:r>
              <a:rPr lang="en-US" altLang="ko-KR" sz="1050" dirty="0"/>
              <a:t>, </a:t>
            </a:r>
            <a:r>
              <a:rPr lang="ko-KR" altLang="en-US" sz="1050" dirty="0"/>
              <a:t>인터넷을 찾던지 하면서 가져다 씀</a:t>
            </a:r>
            <a:r>
              <a:rPr lang="en-US" altLang="ko-KR" sz="1050" dirty="0"/>
              <a:t>.. (</a:t>
            </a:r>
            <a:r>
              <a:rPr lang="ko-KR" altLang="en-US" sz="1050" dirty="0"/>
              <a:t>인터넷에 장 안올려서 </a:t>
            </a:r>
            <a:r>
              <a:rPr lang="en-US" altLang="ko-KR" sz="1050" dirty="0"/>
              <a:t>.. </a:t>
            </a:r>
            <a:r>
              <a:rPr lang="ko-KR" altLang="en-US" sz="1050" dirty="0" err="1"/>
              <a:t>자바독을</a:t>
            </a:r>
            <a:r>
              <a:rPr lang="ko-KR" altLang="en-US" sz="1050" dirty="0"/>
              <a:t> 뒤지는 수밖에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그래도 찾는 기능이 없다면 함수나 클래스 만들어 써야 하지요</a:t>
            </a:r>
            <a:r>
              <a:rPr lang="en-US" altLang="ko-KR" sz="1050" dirty="0"/>
              <a:t>..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81" y="2635106"/>
            <a:ext cx="7524750" cy="3181350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57" y="5859732"/>
            <a:ext cx="49530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85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462891" y="927542"/>
            <a:ext cx="9312823" cy="139829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현재 날짜</a:t>
            </a:r>
            <a:r>
              <a:rPr lang="en-US" altLang="ko-KR" sz="1600" dirty="0"/>
              <a:t>, </a:t>
            </a:r>
            <a:r>
              <a:rPr lang="ko-KR" altLang="en-US" sz="1600" dirty="0"/>
              <a:t>시간 찍기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Calendar </a:t>
            </a:r>
            <a:r>
              <a:rPr lang="ko-KR" altLang="en-US" sz="1050" dirty="0"/>
              <a:t>클래스로 현재 시간을 가져옴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 err="1"/>
              <a:t>SimpleDateFormat</a:t>
            </a:r>
            <a:r>
              <a:rPr lang="ko-KR" altLang="en-US" sz="1050" dirty="0"/>
              <a:t>클래스로 출력형식을 지정</a:t>
            </a: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57" y="2598131"/>
            <a:ext cx="5410200" cy="13430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9" y="4315753"/>
            <a:ext cx="5345088" cy="102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742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23174" y="1078930"/>
            <a:ext cx="9061444" cy="50769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384560" y="779074"/>
            <a:ext cx="9498013" cy="28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dirty="0"/>
              <a:t>다음 제시된 내용을 자필로 작성하여 제출 하시오 </a:t>
            </a:r>
            <a:r>
              <a:rPr lang="en-US" altLang="ko-KR" dirty="0"/>
              <a:t>(</a:t>
            </a:r>
            <a:r>
              <a:rPr lang="ko-KR" altLang="en-US" dirty="0"/>
              <a:t>상단 학번</a:t>
            </a:r>
            <a:r>
              <a:rPr lang="en-US" altLang="ko-KR" dirty="0"/>
              <a:t>, </a:t>
            </a:r>
            <a:r>
              <a:rPr lang="ko-KR" altLang="en-US" dirty="0"/>
              <a:t>이름 기입</a:t>
            </a:r>
            <a:r>
              <a:rPr lang="en-US" altLang="ko-KR" dirty="0"/>
              <a:t>)</a:t>
            </a: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25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6. </a:t>
            </a:r>
            <a:r>
              <a:rPr lang="ko-KR" altLang="en-US" sz="1800" dirty="0"/>
              <a:t>정리하기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>
          <a:xfrm>
            <a:off x="603094" y="1283413"/>
            <a:ext cx="8370167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지금까지 설명한 것은 별이 세 개</a:t>
            </a:r>
            <a:r>
              <a:rPr lang="en-US" altLang="ko-KR" sz="1100" dirty="0"/>
              <a:t>(</a:t>
            </a:r>
            <a:r>
              <a:rPr lang="ko-KR" altLang="en-US" sz="1100" dirty="0"/>
              <a:t>★★★</a:t>
            </a:r>
            <a:r>
              <a:rPr lang="en-US" altLang="ko-KR" sz="1100" dirty="0"/>
              <a:t>)</a:t>
            </a:r>
            <a:r>
              <a:rPr lang="ko-KR" altLang="en-US" sz="1100" dirty="0"/>
              <a:t> 다</a:t>
            </a:r>
            <a:r>
              <a:rPr lang="en-US" altLang="ko-KR" sz="1100" dirty="0"/>
              <a:t>.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전부 설명을 달아서 프로그램 구현 실습을 한다</a:t>
            </a: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그리고 해당 소스부분</a:t>
            </a:r>
            <a:r>
              <a:rPr lang="en-US" altLang="ko-KR" sz="1100" dirty="0"/>
              <a:t>(</a:t>
            </a:r>
            <a:r>
              <a:rPr lang="ko-KR" altLang="en-US" sz="1100" dirty="0" err="1"/>
              <a:t>클래스선언부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메인부분</a:t>
            </a:r>
            <a:r>
              <a:rPr lang="ko-KR" altLang="en-US" sz="1100" dirty="0"/>
              <a:t> 생략</a:t>
            </a:r>
            <a:r>
              <a:rPr lang="en-US" altLang="ko-KR" sz="1100" dirty="0"/>
              <a:t>)</a:t>
            </a:r>
            <a:r>
              <a:rPr lang="ko-KR" altLang="en-US" sz="1100" dirty="0"/>
              <a:t>을 </a:t>
            </a:r>
            <a:r>
              <a:rPr lang="ko-KR" altLang="en-US" sz="1100" dirty="0" err="1"/>
              <a:t>필기하시요</a:t>
            </a: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ko-KR" altLang="en-US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12. </a:t>
            </a:r>
            <a:r>
              <a:rPr lang="ko-KR" altLang="en-US" sz="1100" dirty="0"/>
              <a:t>세금계산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1) </a:t>
            </a:r>
            <a:r>
              <a:rPr lang="ko-KR" altLang="en-US" sz="1100" dirty="0"/>
              <a:t>단순 세금 계산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2) </a:t>
            </a:r>
            <a:r>
              <a:rPr lang="ko-KR" altLang="en-US" sz="1100" dirty="0"/>
              <a:t>소비자가 세금 계산</a:t>
            </a: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3. </a:t>
            </a:r>
            <a:r>
              <a:rPr lang="ko-KR" altLang="en-US" sz="1100" dirty="0"/>
              <a:t>환율계산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1) </a:t>
            </a:r>
            <a:r>
              <a:rPr lang="ko-KR" altLang="en-US" sz="1100" dirty="0"/>
              <a:t>단순 환전 계산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2) </a:t>
            </a:r>
            <a:r>
              <a:rPr lang="ko-KR" altLang="en-US" sz="1100" dirty="0"/>
              <a:t>수수료 포함 환전 계산</a:t>
            </a: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4. </a:t>
            </a:r>
            <a:r>
              <a:rPr lang="ko-KR" altLang="en-US" sz="1100" dirty="0"/>
              <a:t>유용한 것 한 </a:t>
            </a:r>
            <a:r>
              <a:rPr lang="ko-KR" altLang="en-US" sz="1100" dirty="0" err="1"/>
              <a:t>두개씩</a:t>
            </a:r>
            <a:endParaRPr lang="ko-KR" altLang="en-US" sz="11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100" dirty="0"/>
              <a:t>자바 </a:t>
            </a:r>
            <a:r>
              <a:rPr lang="en-US" altLang="ko-KR" sz="1100" dirty="0"/>
              <a:t>SE-library </a:t>
            </a:r>
            <a:r>
              <a:rPr lang="ko-KR" altLang="en-US" sz="1100" dirty="0"/>
              <a:t>가지고 오기 </a:t>
            </a:r>
            <a:r>
              <a:rPr lang="en-US" altLang="ko-KR" sz="1100" dirty="0"/>
              <a:t>(</a:t>
            </a:r>
            <a:r>
              <a:rPr lang="ko-KR" altLang="en-US" sz="1100" dirty="0"/>
              <a:t>이것만 실습 코딩 없음</a:t>
            </a:r>
            <a:r>
              <a:rPr lang="en-US" altLang="ko-KR" sz="1100" dirty="0"/>
              <a:t>)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100" dirty="0"/>
              <a:t>콤마 찍기 </a:t>
            </a:r>
            <a:r>
              <a:rPr lang="en-US" altLang="ko-KR" sz="1100" dirty="0"/>
              <a:t>(</a:t>
            </a:r>
            <a:r>
              <a:rPr lang="en-US" altLang="ko-KR" sz="1100" dirty="0" err="1"/>
              <a:t>DecimalFormat</a:t>
            </a:r>
            <a:r>
              <a:rPr lang="en-US" altLang="ko-KR" sz="1100" dirty="0"/>
              <a:t>)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100" dirty="0"/>
              <a:t>현재일자</a:t>
            </a:r>
            <a:r>
              <a:rPr lang="en-US" altLang="ko-KR" sz="1100" dirty="0"/>
              <a:t> </a:t>
            </a:r>
            <a:r>
              <a:rPr lang="ko-KR" altLang="en-US" sz="1100" dirty="0"/>
              <a:t>시간 </a:t>
            </a:r>
            <a:r>
              <a:rPr lang="en-US" altLang="ko-KR" sz="1100" dirty="0"/>
              <a:t>(Calendar)</a:t>
            </a:r>
            <a:endParaRPr lang="ko-KR" altLang="en-US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- </a:t>
            </a:r>
            <a:r>
              <a:rPr lang="ko-KR" altLang="en-US" sz="1100" dirty="0"/>
              <a:t>충분한 시간을 주기 </a:t>
            </a:r>
            <a:r>
              <a:rPr lang="en-US" altLang="ko-KR" sz="1100" dirty="0"/>
              <a:t>(</a:t>
            </a:r>
            <a:r>
              <a:rPr lang="ko-KR" altLang="en-US" sz="1100" dirty="0"/>
              <a:t>진도보다</a:t>
            </a:r>
            <a:r>
              <a:rPr lang="en-US" altLang="ko-KR" sz="1100" dirty="0"/>
              <a:t>, </a:t>
            </a:r>
            <a:r>
              <a:rPr lang="ko-KR" altLang="en-US" sz="1100" dirty="0"/>
              <a:t>확실한 이해</a:t>
            </a:r>
            <a:r>
              <a:rPr lang="en-US" altLang="ko-KR" sz="1100" dirty="0"/>
              <a:t>.. </a:t>
            </a:r>
            <a:r>
              <a:rPr lang="ko-KR" altLang="en-US" sz="1100" dirty="0" err="1"/>
              <a:t>이부분</a:t>
            </a:r>
            <a:r>
              <a:rPr lang="ko-KR" altLang="en-US" sz="1100" dirty="0"/>
              <a:t> 까지 스스로 이해해야 다음 진행이 가능</a:t>
            </a:r>
            <a:r>
              <a:rPr lang="en-US" altLang="ko-KR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99394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26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7. </a:t>
            </a:r>
            <a:r>
              <a:rPr lang="ko-KR" altLang="en-US" sz="1800" dirty="0" err="1"/>
              <a:t>차시</a:t>
            </a:r>
            <a:r>
              <a:rPr lang="ko-KR" altLang="en-US" sz="1800" dirty="0"/>
              <a:t> 예고</a:t>
            </a:r>
            <a:endParaRPr lang="en-US" altLang="ko-KR" dirty="0"/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653608" y="995898"/>
            <a:ext cx="7450138" cy="78308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sp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차시</a:t>
            </a:r>
            <a:r>
              <a:rPr lang="ko-KR" altLang="en-US" sz="1600" dirty="0"/>
              <a:t> 준비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차시는 비교 반복</a:t>
            </a:r>
            <a:r>
              <a:rPr lang="en-US" altLang="ko-KR" sz="1200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91224238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1_Default Design">
      <a:majorFont>
        <a:latin typeface="가는각진제목체"/>
        <a:ea typeface="가는각진제목체"/>
        <a:cs typeface=""/>
      </a:majorFont>
      <a:minorFont>
        <a:latin typeface="가는각진제목체"/>
        <a:ea typeface="가는각진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돋움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Default Design">
  <a:themeElements>
    <a:clrScheme name="3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3_Default Design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47035</TotalTime>
  <Words>5571</Words>
  <Application>Microsoft Office PowerPoint</Application>
  <PresentationFormat>A4 용지(210x297mm)</PresentationFormat>
  <Paragraphs>710</Paragraphs>
  <Slides>27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27</vt:i4>
      </vt:variant>
    </vt:vector>
  </HeadingPairs>
  <TitlesOfParts>
    <vt:vector size="39" baseType="lpstr">
      <vt:lpstr>가는각진제목체</vt:lpstr>
      <vt:lpstr>견명조</vt:lpstr>
      <vt:lpstr>굴림</vt:lpstr>
      <vt:lpstr>돋움</vt:lpstr>
      <vt:lpstr>맑은 고딕</vt:lpstr>
      <vt:lpstr>Arial</vt:lpstr>
      <vt:lpstr>Cambria Math</vt:lpstr>
      <vt:lpstr>Courier New</vt:lpstr>
      <vt:lpstr>Wingdings</vt:lpstr>
      <vt:lpstr>1_Default Design</vt:lpstr>
      <vt:lpstr>기본 디자인</vt:lpstr>
      <vt:lpstr>3_Default Design</vt:lpstr>
      <vt:lpstr>3. 연산을 해보자(숫자계산, 세금계산)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메리츠화재 IT본부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Logo &amp; Slogan</dc:title>
  <dc:creator>홍필두</dc:creator>
  <cp:lastModifiedBy>필두2 홍</cp:lastModifiedBy>
  <cp:revision>2902</cp:revision>
  <cp:lastPrinted>2015-10-28T04:44:44Z</cp:lastPrinted>
  <dcterms:created xsi:type="dcterms:W3CDTF">2003-10-22T07:02:37Z</dcterms:created>
  <dcterms:modified xsi:type="dcterms:W3CDTF">2025-01-03T05:09:00Z</dcterms:modified>
</cp:coreProperties>
</file>